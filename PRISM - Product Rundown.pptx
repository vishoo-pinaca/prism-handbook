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embeddedFontLst>
    <p:embeddedFont>
      <p:font typeface="Manrope" pitchFamily="34" charset="0"/>
      <p:regular r:id="rId34"/>
      <p:bold r:id="rId35"/>
    </p:embeddedFont>
    <p:embeddedFont>
      <p:font typeface="Archivo" pitchFamily="34" charset="0"/>
      <p:regular r:id="rId36"/>
      <p:bold r:id="rId3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 view of PRISM, and it runs from why to how. Part 1 is the business case: the problem we solve, who we serve, the promises we keep and the four choices we made to keep them. Part 2 is the system at one level of detail, the way an engineer would draw it on a whiteboard. Part 3 explains why it is built that way, and ties every design choice back to a promise. Part 4 walks the services one group at a time: what each gives the customer, the one specific that matters, and the risk to watch. Part 5 closes with the numbers that bound what we can promise and the decisions we still owe. The full engineering detail lives in a separate deck, PRISM — High-Level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is deliberate. We start with why, because every technical choice later in the deck only makes sense against the promises we make to customers. Parts 2 and 3 are the system and the reasoning behind it. Part 4 is the reference a product owner needs when a customer asks what a specific service does or where its limits are. Part 5 closes with the numbers that bound what we can promise. For a short session, cover Part 1 and the three ideas on slide 12, then go straight to the numbers on slide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customer’s day, not the technology. A site’s cameras record around the clock, and a few people watch them. Four gaps follow. Most of what happens is never seen live. When something does happen, finding it in the recording is manual and slow. The recorders already raise alarms, but on every motion and tripwire, so the real ones get lost. And the data itself, faces, plates and the passwords to the cameras, is sensitive enough that it has to stay on the customer’s premises. PRISM is our answer to all four at once: a single box on site that watches every camera, remembers what it saw in a searchable form, and puts AI between a recorder’s alarm and the operator. Every promise and every design choice in the rest of the deck traces back to these four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capabilities, in the order a customer meets them. Ingest and detect are table stakes; the value a customer pays for is in the last four: a name on a face, a plate on a vehicle, search across everything that was seen, alerts that matter, and investigation after the fact. Two deployment shapes: a single GPU machine on site, which is the main product, and a Jetson Orin NX for smaller edge sites. Everything in the rest of the deck is about delivering these six on one box without letting one failure take the cameras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groups, four different definitions of success. Operators judge PRISM by what they see on screen in the first second and by how fast they can find something afterwards. Site owners judge it by coverage and by cost: they want every camera recorded, AI only where it earns its keep, and their data on their premises. Integrators need a surface that does not move under them, which is why the API and the data models ship open and readable. And our own team needs one product that ships to two very different device classes without forking. One more constraint shapes the dashboard: the same operators run ASTRA, so camera onboarding, the sidebar and the status indicators have to behave the same way in both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nine promises are the contract between the product and every design decision. A change that would break one has to come back to the product owner first. Read them in three groups. P1 to P5 are what the operator sees: recognition on the camera’s best pixels, because accuracy depends on them; an instant box, because a screen that reacts at once earns trust; cameras that never lose to background work, because a missing camera is a blind spot; a picture that never goes black, because a black tile reads as an outage; and liveness that never accuses a real person. P6 and P7 are how we behave as a vendor: we protect our tuned logic but keep the integration surface open, and we never change a customer’s recorder. P8 and P9 are trust and continuity: faces, plates, credentials and licence keys stay on the box, and the operator’s way of working matches ASTRA. Four of these the user has stated as product rules. The other five are held by the code and the documents today and still need a formal yes from the product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product is a set of bets. These are ours, and each one has a price we pay knowingly. One box with one GPU keeps the data on site and the cost predictable, but GPU memory becomes the hard limit on cameras and features. Since 20 October a camera is a plain recording camera until someone switches AI on for it, which means customers only pay for AI where it is useful; the price is that every change has to be checked against capacity first. We let the system enrol and group unknown faces, but a person decides identity; that keeps us honest and out of trouble, at the cost of review work. And we compile the logic that makes us better while keeping the API open; that protects the business, but it makes field debugging harder and it is not a defence against someone with root on the box. When a customer asks why PRISM behaves a certain way, the answer is almost always one of these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vocabulary for the rest of the deck. Every camera feed moves through four stages. Connect gets the camera in and decodes each frame exactly once. Detect answers where something is. Recognize answers who or what it is. Understand turns that into something a customer can search, alert on and investigate. The product point to land here: only Stage 1 sits on the path the live video takes. Stages 2 to 4 sit beside it. That is why an AI failure costs us boxes and names on screen, never the picture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picture of the whole product. The left column is the video path, and it only moves pictures: the camera comes in, npipe decodes each frame once into shared memory, and the stream sink sends the live view out. The teal area is the intelligence, and it sits outside that path: the detectors, recognition and search read the shared frames and send back only findings. Two product consequences follow. A camera without AI switched on never enters the left column at all; MediaMTX relays and records it, at no GPU cost. And the one thing on the whiteboard we have not built is the fusion model that would link a face, a vehicle and a plate; today plates attach to vehicle tracks, and nothing links a face to a vehicle. That is still an open product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four stages, now with the services that run them. This is the slide to keep in mind when a customer asks what a box actually runs. About two dozen containers on one machine, each with one job. The names matter less than the shape: one service per responsibility, so a fault stays contained, and a stage can be improved or replaced without touching the others. Part 4 takes these groups one at a time and says, for each service, what it gives the customer and where its limits are. The footer lists the shared infrastructure every stage relies on, and the forensics option, which adds six services of its own for investigating recorded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frame through the product in eight steps. The first four are plumbing: the camera comes in, each frame is decoded once on the GPU and stamped with an ID, it goes into a shared memory pool that holds about four seconds, and fast cameras are thinned to a rate the AI can use. Steps five and six, in teal, are the intelligence: the face detector draws a box and cuts a full-resolution crop, and recognition matches faces and fuses plate reads. Step seven records the events for the database, the alerts and the dashboard, and step eight draws the boxes on the live view. The point for a product owner is that the teal steps sit outside the video path. If they stop, the operator loses boxes and names for a while, but the picture keeps moving. That is promise P4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room remembers one slide from Part 3, make it this one. These three ideas are the architecture’s answer to promises P3 and P4. Keeping AI out of the video path means a model can crash, be upgraded or be replaced without touching a single camera; the worst case is a picture with no boxes, not a black tile. Decoding once and sharing the frame is what makes AI cheap to add: a new capability reads the same frame instead of paying for its own copy of the stream. And because only findings cross back, every capability we add later plugs into the same seam. When an engineer proposes putting one small model back inside the video path, this is the slide to point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commercial heart of the design, and it changed on 20 October 2026. A camera costs no GPU until someone asks for AI on it. Every camera is still relayed and recorded, so the customer loses nothing by leaving AI off; they simply choose where intelligence is worth paying for. AI is a set of plugins per camera: Faces, Objects and Embeddings today, with Plates and cascades still to come. Before any change is applied, the system prices it against the box’s real limits, GPU memory, the face engine’s camera ceiling, encoder sessions, frame memory and licence seats, and refuses what would not fit. That turns a support call (“why did camera nine lose its boxes?”) into an answer at the moment of configuration. One constraint to know: while every AI camera is admitted to face detection, Faces must stay on whenever another plugin is. API callers that send no plugins keep AI, as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single-GPU product, memory on the graphics card is the scarcest thing we sell, and it is shared between cameras and everything else. That is why P3 exists. Read the left side as the budget. One face-detection engine serves every camera, so a new camera costs a slot, not a whole engine; the price is a hard ceiling, eight cameras at today’s default, beyond which a camera keeps its video but loses its boxes. Each camera lane costs roughly 150 MB for decoding and encoding, an estimate rather than a measurement. Each recognition worker holds about 480 MiB, and the box must keep at least 300 MiB free or new cameras are refused. Read the right side as the rules. Recognition scales inside a single worker instead of adding workers, and doing it this way cut latency from 2.7 seconds to 17 milliseconds with no new memory. The warning at the bottom is the trap we avoid: an automatic scaler that takes memory from a camera will see the backlog fall and think it succeeded.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 operator, a black tile means the system is down, even when only the AI has paused. So the live path is built to keep a picture moving whatever happens upstream. Follow the line: the camera comes in through the relay, npipe draws the boxes and encodes the video, and the stream sink, highlighted, is the piece that keeps the promise. It passes the encoded video through untouched, which keeps latency low and CPU cheap; the price is that it cannot draw anything itself, so boxes are drawn before it. When a camera stalls or disconnects, the sink fills the gap with a placeholder until real video returns, and every camera has its own pipeline, so one bad camera cannot take the others with it. MediaMTX then serves the browser and records. Services also heal themselves, and they are tuned to tell a quiet scene from a broken one: an empty corridor at night must not trigger restarts. One honest limit: a camera over the encoder-session cap shows the placeholder even while detection still runs, which is one of the silent ceilings we still need a product decision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product takes a position on responsibility. The system does the legwork: it recognises known faces across every camera, enrols unknown faces into an anonymous watchlist, groups the ones that look alike, and keeps improving each person’s gallery with better pictures. But it never decides on its own who someone is: an operator names, merges or dismisses. Two boundaries matter when customers ask for more. Identity across cameras comes only from faces; people and vehicles are tracked per camera, and their vision vectors are used to search, not to claim that the person on camera three is the person on camera one. And liveness, the check for a printed photo or a screen, has three answers, not two: any time the system cannot judge, it says so, rather than accusing a real person. The cost of this stance is review work for operators, and it is a cost we choose to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work on equipment we do not own, and the design reflects that. Many cameras lock an account after a few failed logins, so onboarding tries the password that worked last time first, then at most three new ones, and if a known password is refused it stops and tells the operator the camera is busy rather than hammering it. Recorders belong to the customer: PRISM reads an NVR’s configuration to explain what to change, and never changes it itself. The data never leaves the box, and even inside the box we store which credential worked, not the credential. And because a PTZ command physically moves hardware, every continuous move has a timeout, so a dropped connection or a closed browser tab cannot leave a camera spinning. None of these is a feature a customer will ask for in a demo; every one of them is a reason a customer keeps us after the first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protect the business without closing the product. Read the layers from the outside in. The outer layer is open: everything a customer or integrator builds against, the API, the data models, configuration, metrics and the entire dashboard, ships readable. The middle layer is protected: the tuned judgement, the matcher, the search planner, plate grammar and the quality gates, ships as compiled modules, because that tuning is what makes us better than a competitor running the same open models. The core is sealed: the model weights are only ever opened in memory. The boundary is a line in each service’s build list, called protect.list, checked automatically in both directions, so we never ship plaintext by accident and never close something integrators rely on. Be straight with customers about the limit: this turns copying the product from “copy a folder” into “reverse-engineer stripped binaries and defeat hardware-bound keys”, but it does not stop someone who has root on a licensed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takes the service map one group at a time. For each service: what it gives the customer, the one specific a product owner should know, and the risk to watch. The video path is three services. npipe is the hub: it takes each AI camera in, decodes every frame once, and shares it with all the intelligence; it keeps only a few seconds of frames, at the camera’s full resolution, which is why faces and plates are cut out immediately. The stream sink is what keeps the promise that live video never goes dark: it fills any stall with a placeholder and passes video through without re-encoding. MediaMTX is the media server customers actually see: it relays and records every camera, AI or not, and serves the browser. The watch-outs are real limits. A box has a fixed number of hardware encoder sessions, and a camera beyond it shows the placeholder even though detection still works. And because cameras limit how many sessions they accept, everything reads the relay rather than the camera. Code: prism-pipeline/prism-realtime and prism-pipeline/prism-stream-sink.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answers one question: where is something. Two services do it. prism-fdet is the face detector. It runs one engine for every camera, finds faces on every frame and gives each one a box straight away, then cuts a full-resolution crop for recognition. The product limit to know is its batch size: at today’s default it serves eight cameras, and a ninth keeps its video but gets no boxes and raises no error. That silent behaviour still needs a product decision. prism-perception does everything else. It watches for motion first and only runs the heavier people and vehicle detection where something is moving, which is how we spend the GPU where it matters. It also collects plate crops while a vehicle is in view, because the frames it needs are only kept for a few seconds, and it hands them to the plate reader rather than guessing the plate itself. Code: prism-pipeline/prism-realtime (fdet) and prism-ai-stack/prism-perception.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Recognition answers who or what it is, and four services share the work. prism-recognition turns each face crop into a signature and asks for a match, and it runs the liveness check alongside on the CPU. It is deliberately a single worker that scales internally, because each extra worker would hold GPU memory that cameras need. prism-vector is the face search index; it is fast because it searches a whole batch of faces in one call. prism-auto-register is what makes the product get better with use: unknown faces are enrolled anonymously for review, and known people collect better pictures over time, up to ten each. prism-lpr reads number plates once per vehicle passage, with grammar rules tuned for Indian plates, and only commits a read when enough frames agree. Its watch-out is a product setting: the region decides the plate grammar, and the wrong region produces confident wrong plates. Code: prism-ai-stack/prism-recognition, prism-vector, prism-auto-register and prism-lpr.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group is where the customer gets value from video nobody watched. The embedder turns the best few frames of every tracked person and vehicle into searchable vectors, so an operator can type “man in a red shirt” or point at an example and find it across cameras. One product rule matters for the UI: these scores only make sense relative to each other, so we never show them as a percentage. Activity Layers let an operator teach the system by example, marking what is expected and what should be flagged; a flag has to clearly beat the closest expected example, and cooldowns stop looping footage from firing again and again. Every kind of alert lands in one inbox, and an alert is always recorded before it is announced, so nothing appears on screen that is not stored. Alert workflows put AI between a recorder’s noisy alarm and the operator: up to eight steps, such as checking for a known face or a hotlisted plate, before anything is raised. Code: prism-ai-stack/prism-embedder and prism-platform/prism-core (search, alerts, alert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is what holds the product together. prism-core is the brain: it serves the API and the dashboard’s data, and one supervised process inside it runs everything that must happen exactly once, consuming events, tracking appearances and evaluating every alert. Integrators build on its API, which is why we treat changes to it with care. Since September, prism-core also turns AI-capable NVRs into an alarm source: one subscription per recorder, every message written down before it is judged, and never a change to the recorder’s own configuration. Recorders lock an account after five failed logins, so PRISM backs off for fifteen minutes when a login is refused. prism-maintainer is the one service that deletes; when disk pressure forces it to remove old footage, it says so on screen, because silent deletion looks like data loss. The gateway, the licence library and the dashboard complete the front door; one gap to close is that the licence library has no documentation of its own. Code: prism-platform/prism-core, prism-maintainer, prism-gateway, prism-auth and prism-apps/prism-web.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is the customer’s first experience of the product, so it is designed to be forgiving. Network Setup scans the site, finds cameras by ONVIF, and falls back to known RTSP paths when ONVIF is switched off. The discovery service that does the network work holds no data of its own and is never exposed to the browser; prism-core keeps the state and remembers which credential worked, never the credential itself. It tries at most three new passwords per camera, because many cameras lock an account after a few failures. Every camera, however it was found, starts in one place, the source manager, and only gets an AI adapter when a plugin is switched on. Cameras that cannot be pulled can push to the RTMP relay, and a laptop webcam can join from the browser, with the caveat that it stops when the tab is closed. One security note for the room: the source manager checks no credentials itself, so it must only ever be reached through the gateway. Code: prism-connectors/prism-source-manager, prism-discovery and prism-rtmp-relay, plus the prism-core onboarding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that extend the product beyond the live view. Forensics lets an investigator upload evidence and search it as if it had been indexed live; each job runs on its own, and everything it produces belongs to the case and is kept until the case is deleted, never swept away by retention. It shares the GPU with live cameras by default; the faster mode that pauses live video exists but ships switched off. The Jetson Orin NX is our edge box: it runs the same product, and today carries four 4-megapixel cameras at ten frames a second with faces only, or two with search switched on; plate reading is not available there yet. And delivery is part of the product too: every release is rehearsed exactly as a customer would install it before it reaches a box, and because the customer package keeps its own copy of the configuration, a parity check stops it drifting from what we tested. Code: prism-pipeline/prism-forensics, prism-edge and prism-release; the delivery process is in AGENTS.md.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numbers that every sales conversation and every roadmap discussion runs into. Eight cameras is the face engine’s batch at today’s default; a larger box can run a larger engine, but it has to be built on that box’s GPU. Each recognition worker holds about 480 MiB of GPU memory, which is why we scale recognition inside one worker. Frames are kept for about four seconds, which is why every crop is cut immediately. 945 milliseconds was the worst case from face to name after the July fix, and “a name within one second” is a promise we have not yet formally made. Nine cameras on the 8 GB dev laptop was measured before the plugin cutover, so treat it as a floor, not today’s figure; a fresh capacity measurement is worth commissioning. And the Jetson edge box carries four 4-megapixel cameras at ten frames a second with faces only, or two with search on. Quote these with their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pointing people to the right depth. The engineering deck, PRISM — High-Level Design, covers every service in detail and is the companion to this one. In the repository, the knowledge base holds the promises with the code that enforces each one, the design rules in plain words, and the map of what PRISM stores. Each service’s own CLAUDE.md is the current source for its settings and traps, and MODELS_REFERENCE.md is the contract integrators build against. End on the three lines at the bottom of the slide: we decide from the promises, we keep intelligence beside the video and never in it, and we let people, not the system, decide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Slide-background-3-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0302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20"/>
            <a:ext cx="10566400" cy="335260"/>
          </a:xfrm>
          <a:prstGeom prst="rect">
            <a:avLst/>
          </a:prstGeom>
          <a:noFill/>
          <a:ln/>
        </p:spPr>
        <p:txBody>
          <a:bodyPr wrap="square" lIns="0" tIns="0" rIns="0" bIns="0" rtlCol="0" anchor="t"/>
          <a:lstStyle>
            <a:lvl1pPr algn="l" indent="0" marL="0">
              <a:lnSpc>
                <a:spcPct val="115000"/>
              </a:lnSpc>
              <a:buNone/>
              <a:defRPr lang="en-US" sz="2400" dirty="0">
                <a:solidFill>
                  <a:srgbClr val="F2F4F7"/>
                </a:solidFill>
                <a:latin typeface="Archivo" pitchFamily="34" charset="0"/>
                <a:ea typeface="Archivo" pitchFamily="34" charset="-122"/>
                <a:cs typeface="Archivo"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869380"/>
            <a:ext cx="10566400" cy="4175820"/>
          </a:xfrm>
          <a:prstGeom prst="rect">
            <a:avLst/>
          </a:prstGeom>
          <a:noFill/>
          <a:ln/>
        </p:spPr>
        <p:txBody>
          <a:bodyPr wrap="square" lIns="0" tIns="0" rIns="0" bIns="0" rtlCol="0" anchor="t"/>
          <a:lstStyle>
            <a:lvl1pPr algn="l" indent="0" marL="0">
              <a:lnSpc>
                <a:spcPct val="140000"/>
              </a:lnSpc>
              <a:buNone/>
              <a:defRPr lang="en-US" sz="1600" dirty="0">
                <a:solidFill>
                  <a:srgbClr val="7D8696"/>
                </a:solidFill>
                <a:latin typeface="Manrope" pitchFamily="34" charset="0"/>
                <a:ea typeface="Manrope" pitchFamily="34" charset="-122"/>
                <a:cs typeface="Manrope"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229320"/>
            <a:ext cx="10566400" cy="335260"/>
          </a:xfrm>
          <a:prstGeom prst="rect">
            <a:avLst/>
          </a:prstGeom>
          <a:noFill/>
          <a:ln/>
        </p:spPr>
        <p:txBody>
          <a:bodyPr wrap="square" lIns="0" tIns="0" rIns="0" bIns="0" rtlCol="0" anchor="t"/>
          <a:lstStyle>
            <a:lvl1pPr algn="l" indent="0" marL="0">
              <a:lnSpc>
                <a:spcPct val="115000"/>
              </a:lnSpc>
              <a:buNone/>
              <a:defRPr lang="en-US" sz="2400" dirty="0">
                <a:solidFill>
                  <a:srgbClr val="F2F4F7"/>
                </a:solidFill>
                <a:latin typeface="Archivo" pitchFamily="34" charset="0"/>
                <a:ea typeface="Archivo" pitchFamily="34" charset="-122"/>
                <a:cs typeface="Archivo"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869380"/>
            <a:ext cx="10566400" cy="4175820"/>
          </a:xfrm>
          <a:prstGeom prst="rect">
            <a:avLst/>
          </a:prstGeom>
          <a:noFill/>
          <a:ln/>
        </p:spPr>
        <p:txBody>
          <a:bodyPr wrap="square" lIns="0" tIns="0" rIns="0" bIns="0" rtlCol="0" anchor="t"/>
          <a:lstStyle>
            <a:lvl1pPr algn="l" indent="0" marL="0">
              <a:lnSpc>
                <a:spcPct val="140000"/>
              </a:lnSpc>
              <a:buNone/>
              <a:defRPr lang="en-US" sz="1600" dirty="0">
                <a:solidFill>
                  <a:srgbClr val="F2F4F7"/>
                </a:solidFill>
                <a:latin typeface="Manrope" pitchFamily="34" charset="0"/>
                <a:ea typeface="Manrope" pitchFamily="34" charset="-122"/>
                <a:cs typeface="Manrope"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229320"/>
            <a:ext cx="10566400" cy="335260"/>
          </a:xfrm>
          <a:prstGeom prst="rect">
            <a:avLst/>
          </a:prstGeom>
          <a:noFill/>
          <a:ln/>
        </p:spPr>
        <p:txBody>
          <a:bodyPr wrap="square" lIns="0" tIns="0" rIns="0" bIns="0" rtlCol="0" anchor="t"/>
          <a:lstStyle>
            <a:lvl1pPr algn="l" indent="0" marL="0">
              <a:lnSpc>
                <a:spcPct val="115000"/>
              </a:lnSpc>
              <a:buNone/>
              <a:defRPr lang="en-US" sz="2400" dirty="0">
                <a:solidFill>
                  <a:srgbClr val="F2F4F7"/>
                </a:solidFill>
                <a:latin typeface="Archivo" pitchFamily="34" charset="0"/>
                <a:ea typeface="Archivo" pitchFamily="34" charset="-122"/>
                <a:cs typeface="Archivo"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869380"/>
            <a:ext cx="10566400" cy="4175820"/>
          </a:xfrm>
          <a:prstGeom prst="rect">
            <a:avLst/>
          </a:prstGeom>
          <a:noFill/>
          <a:ln/>
        </p:spPr>
        <p:txBody>
          <a:bodyPr wrap="square" lIns="0" tIns="0" rIns="0" bIns="0" rtlCol="0" anchor="t"/>
          <a:lstStyle>
            <a:lvl1pPr algn="l" indent="0" marL="0">
              <a:lnSpc>
                <a:spcPct val="140000"/>
              </a:lnSpc>
              <a:buNone/>
              <a:defRPr lang="en-US" sz="1600" dirty="0">
                <a:solidFill>
                  <a:srgbClr val="7D8696"/>
                </a:solidFill>
                <a:latin typeface="Manrope" pitchFamily="34" charset="0"/>
                <a:ea typeface="Manrope" pitchFamily="34" charset="-122"/>
                <a:cs typeface="Manrope"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background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229320"/>
            <a:ext cx="10566400" cy="335260"/>
          </a:xfrm>
          <a:prstGeom prst="rect">
            <a:avLst/>
          </a:prstGeom>
          <a:noFill/>
          <a:ln/>
        </p:spPr>
        <p:txBody>
          <a:bodyPr wrap="square" lIns="0" tIns="0" rIns="0" bIns="0" rtlCol="0" anchor="t"/>
          <a:lstStyle>
            <a:lvl1pPr algn="l" indent="0" marL="0">
              <a:lnSpc>
                <a:spcPct val="115000"/>
              </a:lnSpc>
              <a:buNone/>
              <a:defRPr lang="en-US" sz="2400" dirty="0">
                <a:solidFill>
                  <a:srgbClr val="F2F4F7"/>
                </a:solidFill>
                <a:latin typeface="Archivo" pitchFamily="34" charset="0"/>
                <a:ea typeface="Archivo" pitchFamily="34" charset="-122"/>
                <a:cs typeface="Archivo"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869380"/>
            <a:ext cx="10566400" cy="4175820"/>
          </a:xfrm>
          <a:prstGeom prst="rect">
            <a:avLst/>
          </a:prstGeom>
          <a:noFill/>
          <a:ln/>
        </p:spPr>
        <p:txBody>
          <a:bodyPr wrap="square" lIns="0" tIns="0" rIns="0" bIns="0" rtlCol="0" anchor="t"/>
          <a:lstStyle>
            <a:lvl1pPr algn="l" indent="0" marL="0">
              <a:lnSpc>
                <a:spcPct val="140000"/>
              </a:lnSpc>
              <a:buNone/>
              <a:defRPr lang="en-US" sz="1600" dirty="0">
                <a:solidFill>
                  <a:srgbClr val="F2F4F7"/>
                </a:solidFill>
                <a:latin typeface="Manrope" pitchFamily="34" charset="0"/>
                <a:ea typeface="Manrope" pitchFamily="34" charset="-122"/>
                <a:cs typeface="Manrope"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0302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20"/>
            <a:ext cx="10566400" cy="335260"/>
          </a:xfrm>
          <a:prstGeom prst="rect">
            <a:avLst/>
          </a:prstGeom>
          <a:noFill/>
          <a:ln/>
        </p:spPr>
        <p:txBody>
          <a:bodyPr wrap="square" lIns="0" tIns="0" rIns="0" bIns="0" rtlCol="0" anchor="t"/>
          <a:lstStyle>
            <a:lvl1pPr algn="l" indent="0" marL="0">
              <a:lnSpc>
                <a:spcPct val="115000"/>
              </a:lnSpc>
              <a:buNone/>
              <a:defRPr lang="en-US" sz="2400" dirty="0">
                <a:solidFill>
                  <a:srgbClr val="F2F4F7"/>
                </a:solidFill>
                <a:latin typeface="Archivo" pitchFamily="34" charset="0"/>
                <a:ea typeface="Archivo" pitchFamily="34" charset="-122"/>
                <a:cs typeface="Archivo"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869380"/>
            <a:ext cx="10566400" cy="4175820"/>
          </a:xfrm>
          <a:prstGeom prst="rect">
            <a:avLst/>
          </a:prstGeom>
          <a:noFill/>
          <a:ln/>
        </p:spPr>
        <p:txBody>
          <a:bodyPr wrap="square" lIns="0" tIns="0" rIns="0" bIns="0" rtlCol="0" anchor="t"/>
          <a:lstStyle>
            <a:lvl1pPr algn="l" indent="0" marL="0">
              <a:lnSpc>
                <a:spcPct val="140000"/>
              </a:lnSpc>
              <a:buNone/>
              <a:defRPr lang="en-US" sz="1600" dirty="0">
                <a:solidFill>
                  <a:srgbClr val="7D8696"/>
                </a:solidFill>
                <a:latin typeface="Manrope" pitchFamily="34" charset="0"/>
                <a:ea typeface="Manrope" pitchFamily="34" charset="-122"/>
                <a:cs typeface="Manrope"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4.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4.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slideLayout" Target="../slideLayouts/slideLayout4.xml"/><Relationship Id="rId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5.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slideLayout" Target="../slideLayouts/slideLayout4.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4.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5.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slideLayout" Target="../slideLayouts/slideLayout4.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slideLayout" Target="../slideLayouts/slideLayout4.xml"/><Relationship Id="rId1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4.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4.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4.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slideLayout" Target="../slideLayouts/slideLayout5.xml"/><Relationship Id="rId1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slideLayout" Target="../slideLayouts/slideLayout4.xml"/><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image" Target="../media/image-21-12.png"/><Relationship Id="rId13" Type="http://schemas.openxmlformats.org/officeDocument/2006/relationships/image" Target="../media/image-21-13.png"/><Relationship Id="rId14" Type="http://schemas.openxmlformats.org/officeDocument/2006/relationships/slideLayout" Target="../slideLayouts/slideLayout4.xml"/><Relationship Id="rId1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image" Target="../media/image-22-11.png"/><Relationship Id="rId12" Type="http://schemas.openxmlformats.org/officeDocument/2006/relationships/image" Target="../media/image-22-12.png"/><Relationship Id="rId13" Type="http://schemas.openxmlformats.org/officeDocument/2006/relationships/image" Target="../media/image-22-13.png"/><Relationship Id="rId14" Type="http://schemas.openxmlformats.org/officeDocument/2006/relationships/slideLayout" Target="../slideLayouts/slideLayout4.xml"/><Relationship Id="rId1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image" Target="../media/image-23-11.png"/><Relationship Id="rId12" Type="http://schemas.openxmlformats.org/officeDocument/2006/relationships/image" Target="../media/image-23-12.png"/><Relationship Id="rId13" Type="http://schemas.openxmlformats.org/officeDocument/2006/relationships/image" Target="../media/image-23-13.png"/><Relationship Id="rId14" Type="http://schemas.openxmlformats.org/officeDocument/2006/relationships/slideLayout" Target="../slideLayouts/slideLayout4.xml"/><Relationship Id="rId1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image" Target="../media/image-24-11.png"/><Relationship Id="rId12" Type="http://schemas.openxmlformats.org/officeDocument/2006/relationships/image" Target="../media/image-24-12.png"/><Relationship Id="rId13" Type="http://schemas.openxmlformats.org/officeDocument/2006/relationships/image" Target="../media/image-24-13.png"/><Relationship Id="rId14" Type="http://schemas.openxmlformats.org/officeDocument/2006/relationships/slideLayout" Target="../slideLayouts/slideLayout4.xml"/><Relationship Id="rId1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slideLayout" Target="../slideLayouts/slideLayout4.xml"/><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5.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hyperlink" Target="https://claude.ai/artifact/6iujHPSjZqPsysG9c5QqRV" TargetMode="External"/><Relationship Id="rId1" Type="http://schemas.openxmlformats.org/officeDocument/2006/relationships/image" Target="../media/image-27-1.png"/><Relationship Id="rId3" Type="http://schemas.openxmlformats.org/officeDocument/2006/relationships/image" Target="../media/image-27-2.png"/><Relationship Id="rId4" Type="http://schemas.openxmlformats.org/officeDocument/2006/relationships/image" Target="../media/image-27-3.png"/><Relationship Id="rId5" Type="http://schemas.openxmlformats.org/officeDocument/2006/relationships/image" Target="../media/image-27-4.png"/><Relationship Id="rId6" Type="http://schemas.openxmlformats.org/officeDocument/2006/relationships/image" Target="../media/image-27-5.png"/><Relationship Id="rId7" Type="http://schemas.openxmlformats.org/officeDocument/2006/relationships/image" Target="../media/image-27-6.png"/><Relationship Id="rId8" Type="http://schemas.openxmlformats.org/officeDocument/2006/relationships/slideLayout" Target="../slideLayouts/slideLayout5.xml"/><Relationship Id="rId9"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inaca">    </p:cNvPr>
          <p:cNvPicPr>
            <a:picLocks noChangeAspect="1"/>
          </p:cNvPicPr>
          <p:nvPr/>
        </p:nvPicPr>
        <p:blipFill>
          <a:blip r:embed="rId1"/>
          <a:srcRect l="297" r="297" t="0" b="0"/>
          <a:stretch/>
        </p:blipFill>
        <p:spPr>
          <a:xfrm>
            <a:off x="812800" y="547985"/>
            <a:ext cx="1327150" cy="209550"/>
          </a:xfrm>
          <a:prstGeom prst="rect">
            <a:avLst/>
          </a:prstGeom>
        </p:spPr>
      </p:pic>
      <p:sp>
        <p:nvSpPr>
          <p:cNvPr id="3" name="Text 0"/>
          <p:cNvSpPr/>
          <p:nvPr/>
        </p:nvSpPr>
        <p:spPr>
          <a:xfrm>
            <a:off x="8430071" y="457200"/>
            <a:ext cx="2949129" cy="391120"/>
          </a:xfrm>
          <a:prstGeom prst="roundRect">
            <a:avLst>
              <a:gd name="adj" fmla="val 6494"/>
            </a:avLst>
          </a:prstGeom>
          <a:solidFill>
            <a:srgbClr val="45A79D"/>
          </a:solidFill>
          <a:ln/>
        </p:spPr>
        <p:txBody>
          <a:bodyPr wrap="none" lIns="0" tIns="0" rIns="0" bIns="0" rtlCol="0" anchor="ctr">
            <a:normAutofit/>
          </a:bodyPr>
          <a:lstStyle/>
          <a:p>
            <a:pPr algn="ctr" indent="0" marL="0">
              <a:lnSpc>
                <a:spcPts val="1680"/>
              </a:lnSpc>
              <a:buNone/>
            </a:pPr>
            <a:r>
              <a:rPr lang="en-US" sz="1200" b="1" spc="250" kern="0" dirty="0">
                <a:solidFill>
                  <a:srgbClr val="061312"/>
                </a:solidFill>
                <a:latin typeface="Archivo" pitchFamily="34" charset="0"/>
                <a:ea typeface="Archivo" pitchFamily="34" charset="-122"/>
                <a:cs typeface="Archivo" pitchFamily="34" charset="-120"/>
              </a:rPr>
              <a:t>PRODUCT OVERVIEW</a:t>
            </a:r>
            <a:endParaRPr lang="en-US" sz="1200" dirty="0"/>
          </a:p>
        </p:txBody>
      </p:sp>
      <p:sp>
        <p:nvSpPr>
          <p:cNvPr id="4" name="Text 1"/>
          <p:cNvSpPr/>
          <p:nvPr>
            <p:ph type="title"/>
          </p:nvPr>
        </p:nvSpPr>
        <p:spPr>
          <a:xfrm>
            <a:off x="812800" y="3284339"/>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i="0" spc="300" kern="0" dirty="0">
                <a:solidFill>
                  <a:srgbClr val="F2F4F7"/>
                </a:solidFill>
                <a:latin typeface="Archivo" pitchFamily="34" charset="0"/>
                <a:ea typeface="Archivo" pitchFamily="34" charset="-122"/>
                <a:cs typeface="Archivo" pitchFamily="34" charset="-120"/>
              </a:rPr>
              <a:t>PRISM:</a:t>
            </a:r>
            <a:endParaRPr lang="en-US" sz="5600" dirty="0"/>
          </a:p>
          <a:p>
            <a:pPr algn="l" indent="0" marL="0">
              <a:lnSpc>
                <a:spcPts val="5880"/>
              </a:lnSpc>
              <a:buNone/>
            </a:pPr>
            <a:r>
              <a:rPr lang="en-US" sz="5600" b="1" i="0" spc="300" kern="0" dirty="0">
                <a:solidFill>
                  <a:srgbClr val="5FD3C4"/>
                </a:solidFill>
                <a:latin typeface="Archivo" pitchFamily="34" charset="0"/>
                <a:ea typeface="Archivo" pitchFamily="34" charset="-122"/>
                <a:cs typeface="Archivo" pitchFamily="34" charset="-120"/>
              </a:rPr>
              <a:t>PRODUCT RUNDOWN</a:t>
            </a:r>
            <a:endParaRPr lang="en-US" sz="5600" dirty="0"/>
          </a:p>
        </p:txBody>
      </p:sp>
      <p:sp>
        <p:nvSpPr>
          <p:cNvPr id="5" name="Text 2"/>
          <p:cNvSpPr/>
          <p:nvPr/>
        </p:nvSpPr>
        <p:spPr>
          <a:xfrm>
            <a:off x="812800" y="5031780"/>
            <a:ext cx="771779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B3BBC7"/>
                </a:solidFill>
                <a:latin typeface="Manrope" pitchFamily="34" charset="0"/>
                <a:ea typeface="Manrope" pitchFamily="34" charset="-122"/>
                <a:cs typeface="Manrope" pitchFamily="34" charset="-120"/>
              </a:rPr>
              <a:t>Why we built it, how the system fits together, why it is designed the way it is, and what each service gives the customer.</a:t>
            </a:r>
            <a:endParaRPr lang="en-US" sz="1600" dirty="0"/>
          </a:p>
        </p:txBody>
      </p:sp>
      <p:sp>
        <p:nvSpPr>
          <p:cNvPr id="6" name="Text 3"/>
          <p:cNvSpPr/>
          <p:nvPr/>
        </p:nvSpPr>
        <p:spPr>
          <a:xfrm>
            <a:off x="815975" y="5898555"/>
            <a:ext cx="779661" cy="346670"/>
          </a:xfrm>
          <a:prstGeom prst="roundRect">
            <a:avLst>
              <a:gd name="adj" fmla="val 50000"/>
            </a:avLst>
          </a:prstGeom>
          <a:solidFill>
            <a:srgbClr val="0E141C"/>
          </a:solidFill>
          <a:ln w="6350">
            <a:solidFill>
              <a:srgbClr val="2A3442"/>
            </a:solidFill>
            <a:prstDash val="solid"/>
          </a:ln>
        </p:spPr>
        <p:txBody>
          <a:bodyPr wrap="none" lIns="0" tIns="0" rIns="0" bIns="0" rtlCol="0" anchor="ctr">
            <a:normAutofit/>
          </a:bodyPr>
          <a:lstStyle/>
          <a:p>
            <a:pPr algn="ctr" indent="0" marL="0">
              <a:lnSpc>
                <a:spcPts val="1680"/>
              </a:lnSpc>
              <a:buNone/>
            </a:pPr>
            <a:r>
              <a:rPr lang="en-US" sz="1200" dirty="0">
                <a:solidFill>
                  <a:srgbClr val="5FD3C4"/>
                </a:solidFill>
                <a:latin typeface="Manrope" pitchFamily="34" charset="0"/>
                <a:ea typeface="Manrope" pitchFamily="34" charset="-122"/>
                <a:cs typeface="Manrope" pitchFamily="34" charset="-120"/>
              </a:rPr>
              <a:t>1</a:t>
            </a:r>
            <a:r>
              <a:rPr lang="en-US" sz="1200" dirty="0">
                <a:solidFill>
                  <a:srgbClr val="DCE2EA"/>
                </a:solidFill>
                <a:latin typeface="Manrope" pitchFamily="34" charset="0"/>
                <a:ea typeface="Manrope" pitchFamily="34" charset="-122"/>
                <a:cs typeface="Manrope" pitchFamily="34" charset="-120"/>
              </a:rPr>
              <a:t> · Why</a:t>
            </a:r>
            <a:endParaRPr lang="en-US" sz="1200" dirty="0"/>
          </a:p>
        </p:txBody>
      </p:sp>
      <p:sp>
        <p:nvSpPr>
          <p:cNvPr id="7" name="Text 4"/>
          <p:cNvSpPr/>
          <p:nvPr/>
        </p:nvSpPr>
        <p:spPr>
          <a:xfrm>
            <a:off x="1703586" y="5898555"/>
            <a:ext cx="872480" cy="346670"/>
          </a:xfrm>
          <a:prstGeom prst="roundRect">
            <a:avLst>
              <a:gd name="adj" fmla="val 50000"/>
            </a:avLst>
          </a:prstGeom>
          <a:solidFill>
            <a:srgbClr val="0E141C"/>
          </a:solidFill>
          <a:ln w="6350">
            <a:solidFill>
              <a:srgbClr val="2A3442"/>
            </a:solidFill>
            <a:prstDash val="solid"/>
          </a:ln>
        </p:spPr>
        <p:txBody>
          <a:bodyPr wrap="none" lIns="0" tIns="0" rIns="0" bIns="0" rtlCol="0" anchor="ctr">
            <a:normAutofit/>
          </a:bodyPr>
          <a:lstStyle/>
          <a:p>
            <a:pPr algn="ctr" indent="0" marL="0">
              <a:lnSpc>
                <a:spcPts val="1680"/>
              </a:lnSpc>
              <a:buNone/>
            </a:pPr>
            <a:r>
              <a:rPr lang="en-US" sz="1200" dirty="0">
                <a:solidFill>
                  <a:srgbClr val="5FD3C4"/>
                </a:solidFill>
                <a:latin typeface="Manrope" pitchFamily="34" charset="0"/>
                <a:ea typeface="Manrope" pitchFamily="34" charset="-122"/>
                <a:cs typeface="Manrope" pitchFamily="34" charset="-120"/>
              </a:rPr>
              <a:t>2</a:t>
            </a:r>
            <a:r>
              <a:rPr lang="en-US" sz="1200" dirty="0">
                <a:solidFill>
                  <a:srgbClr val="DCE2EA"/>
                </a:solidFill>
                <a:latin typeface="Manrope" pitchFamily="34" charset="0"/>
                <a:ea typeface="Manrope" pitchFamily="34" charset="-122"/>
                <a:cs typeface="Manrope" pitchFamily="34" charset="-120"/>
              </a:rPr>
              <a:t> · What</a:t>
            </a:r>
            <a:endParaRPr lang="en-US" sz="1200" dirty="0"/>
          </a:p>
        </p:txBody>
      </p:sp>
      <p:sp>
        <p:nvSpPr>
          <p:cNvPr id="8" name="Text 5"/>
          <p:cNvSpPr/>
          <p:nvPr/>
        </p:nvSpPr>
        <p:spPr>
          <a:xfrm>
            <a:off x="2684016" y="5898555"/>
            <a:ext cx="799356" cy="346670"/>
          </a:xfrm>
          <a:prstGeom prst="roundRect">
            <a:avLst>
              <a:gd name="adj" fmla="val 50000"/>
            </a:avLst>
          </a:prstGeom>
          <a:solidFill>
            <a:srgbClr val="0E141C"/>
          </a:solidFill>
          <a:ln w="6350">
            <a:solidFill>
              <a:srgbClr val="2A3442"/>
            </a:solidFill>
            <a:prstDash val="solid"/>
          </a:ln>
        </p:spPr>
        <p:txBody>
          <a:bodyPr wrap="none" lIns="0" tIns="0" rIns="0" bIns="0" rtlCol="0" anchor="ctr">
            <a:normAutofit/>
          </a:bodyPr>
          <a:lstStyle/>
          <a:p>
            <a:pPr algn="ctr" indent="0" marL="0">
              <a:lnSpc>
                <a:spcPts val="1680"/>
              </a:lnSpc>
              <a:buNone/>
            </a:pPr>
            <a:r>
              <a:rPr lang="en-US" sz="1200" dirty="0">
                <a:solidFill>
                  <a:srgbClr val="5FD3C4"/>
                </a:solidFill>
                <a:latin typeface="Manrope" pitchFamily="34" charset="0"/>
                <a:ea typeface="Manrope" pitchFamily="34" charset="-122"/>
                <a:cs typeface="Manrope" pitchFamily="34" charset="-120"/>
              </a:rPr>
              <a:t>3</a:t>
            </a:r>
            <a:r>
              <a:rPr lang="en-US" sz="1200" dirty="0">
                <a:solidFill>
                  <a:srgbClr val="DCE2EA"/>
                </a:solidFill>
                <a:latin typeface="Manrope" pitchFamily="34" charset="0"/>
                <a:ea typeface="Manrope" pitchFamily="34" charset="-122"/>
                <a:cs typeface="Manrope" pitchFamily="34" charset="-120"/>
              </a:rPr>
              <a:t> · How</a:t>
            </a:r>
            <a:endParaRPr lang="en-US" sz="1200" dirty="0"/>
          </a:p>
        </p:txBody>
      </p:sp>
      <p:sp>
        <p:nvSpPr>
          <p:cNvPr id="9" name="Text 6"/>
          <p:cNvSpPr/>
          <p:nvPr/>
        </p:nvSpPr>
        <p:spPr>
          <a:xfrm>
            <a:off x="3591322" y="5898555"/>
            <a:ext cx="1381770" cy="346670"/>
          </a:xfrm>
          <a:prstGeom prst="roundRect">
            <a:avLst>
              <a:gd name="adj" fmla="val 50000"/>
            </a:avLst>
          </a:prstGeom>
          <a:solidFill>
            <a:srgbClr val="0E141C"/>
          </a:solidFill>
          <a:ln w="6350">
            <a:solidFill>
              <a:srgbClr val="2A3442"/>
            </a:solidFill>
            <a:prstDash val="solid"/>
          </a:ln>
        </p:spPr>
        <p:txBody>
          <a:bodyPr wrap="none" lIns="0" tIns="0" rIns="0" bIns="0" rtlCol="0" anchor="ctr">
            <a:normAutofit/>
          </a:bodyPr>
          <a:lstStyle/>
          <a:p>
            <a:pPr algn="ctr" indent="0" marL="0">
              <a:lnSpc>
                <a:spcPts val="1680"/>
              </a:lnSpc>
              <a:buNone/>
            </a:pPr>
            <a:r>
              <a:rPr lang="en-US" sz="1200" dirty="0">
                <a:solidFill>
                  <a:srgbClr val="5FD3C4"/>
                </a:solidFill>
                <a:latin typeface="Manrope" pitchFamily="34" charset="0"/>
                <a:ea typeface="Manrope" pitchFamily="34" charset="-122"/>
                <a:cs typeface="Manrope" pitchFamily="34" charset="-120"/>
              </a:rPr>
              <a:t>4</a:t>
            </a:r>
            <a:r>
              <a:rPr lang="en-US" sz="1200" dirty="0">
                <a:solidFill>
                  <a:srgbClr val="DCE2EA"/>
                </a:solidFill>
                <a:latin typeface="Manrope" pitchFamily="34" charset="0"/>
                <a:ea typeface="Manrope" pitchFamily="34" charset="-122"/>
                <a:cs typeface="Manrope" pitchFamily="34" charset="-120"/>
              </a:rPr>
              <a:t> · Each service</a:t>
            </a:r>
            <a:endParaRPr lang="en-US" sz="1200" dirty="0"/>
          </a:p>
        </p:txBody>
      </p:sp>
      <p:sp>
        <p:nvSpPr>
          <p:cNvPr id="10" name="Text 7"/>
          <p:cNvSpPr/>
          <p:nvPr/>
        </p:nvSpPr>
        <p:spPr>
          <a:xfrm>
            <a:off x="5081042" y="5898555"/>
            <a:ext cx="1180058" cy="346670"/>
          </a:xfrm>
          <a:prstGeom prst="roundRect">
            <a:avLst>
              <a:gd name="adj" fmla="val 50000"/>
            </a:avLst>
          </a:prstGeom>
          <a:solidFill>
            <a:srgbClr val="0E141C"/>
          </a:solidFill>
          <a:ln w="6350">
            <a:solidFill>
              <a:srgbClr val="2A3442"/>
            </a:solidFill>
            <a:prstDash val="solid"/>
          </a:ln>
        </p:spPr>
        <p:txBody>
          <a:bodyPr wrap="none" lIns="0" tIns="0" rIns="0" bIns="0" rtlCol="0" anchor="ctr">
            <a:normAutofit/>
          </a:bodyPr>
          <a:lstStyle/>
          <a:p>
            <a:pPr algn="ctr" indent="0" marL="0">
              <a:lnSpc>
                <a:spcPts val="1680"/>
              </a:lnSpc>
              <a:buNone/>
            </a:pPr>
            <a:r>
              <a:rPr lang="en-US" sz="1200" dirty="0">
                <a:solidFill>
                  <a:srgbClr val="5FD3C4"/>
                </a:solidFill>
                <a:latin typeface="Manrope" pitchFamily="34" charset="0"/>
                <a:ea typeface="Manrope" pitchFamily="34" charset="-122"/>
                <a:cs typeface="Manrope" pitchFamily="34" charset="-120"/>
              </a:rPr>
              <a:t>5</a:t>
            </a:r>
            <a:r>
              <a:rPr lang="en-US" sz="1200" dirty="0">
                <a:solidFill>
                  <a:srgbClr val="DCE2EA"/>
                </a:solidFill>
                <a:latin typeface="Manrope" pitchFamily="34" charset="0"/>
                <a:ea typeface="Manrope" pitchFamily="34" charset="-122"/>
                <a:cs typeface="Manrope" pitchFamily="34" charset="-120"/>
              </a:rPr>
              <a:t> · Decisions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AGENDA</a:t>
            </a:r>
            <a:endParaRPr lang="en-US" sz="1200" dirty="0"/>
          </a:p>
        </p:txBody>
      </p:sp>
      <p:sp>
        <p:nvSpPr>
          <p:cNvPr id="3" name="Text 1"/>
          <p:cNvSpPr/>
          <p:nvPr>
            <p:ph type="title"/>
          </p:nvPr>
        </p:nvSpPr>
        <p:spPr>
          <a:xfrm>
            <a:off x="812800" y="1229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FIVE PARTS, </a:t>
            </a:r>
            <a:r>
              <a:rPr lang="en-US" sz="2400" b="1" i="0" spc="150" kern="0" dirty="0">
                <a:solidFill>
                  <a:srgbClr val="5FD3C4"/>
                </a:solidFill>
                <a:latin typeface="Archivo" pitchFamily="34" charset="0"/>
                <a:ea typeface="Archivo" pitchFamily="34" charset="-122"/>
                <a:cs typeface="Archivo" pitchFamily="34" charset="-120"/>
              </a:rPr>
              <a:t>FROM WHY TO HOW</a:t>
            </a:r>
            <a:endParaRPr lang="en-US" sz="2400" dirty="0"/>
          </a:p>
        </p:txBody>
      </p:sp>
      <p:sp>
        <p:nvSpPr>
          <p:cNvPr id="4" name="Shape 2"/>
          <p:cNvSpPr/>
          <p:nvPr/>
        </p:nvSpPr>
        <p:spPr>
          <a:xfrm>
            <a:off x="812800" y="3117999"/>
            <a:ext cx="10566400" cy="0"/>
          </a:xfrm>
          <a:prstGeom prst="line">
            <a:avLst/>
          </a:prstGeom>
          <a:noFill/>
          <a:ln w="6350">
            <a:solidFill>
              <a:srgbClr val="1C2532"/>
            </a:solidFill>
            <a:prstDash val="solid"/>
          </a:ln>
        </p:spPr>
      </p:sp>
      <p:sp>
        <p:nvSpPr>
          <p:cNvPr id="5" name="Text 3"/>
          <p:cNvSpPr/>
          <p:nvPr/>
        </p:nvSpPr>
        <p:spPr>
          <a:xfrm>
            <a:off x="812800" y="3270399"/>
            <a:ext cx="5080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FD3C4"/>
                </a:solidFill>
                <a:latin typeface="Archivo" pitchFamily="34" charset="0"/>
                <a:ea typeface="Archivo" pitchFamily="34" charset="-122"/>
                <a:cs typeface="Archivo" pitchFamily="34" charset="-120"/>
              </a:rPr>
              <a:t>01</a:t>
            </a:r>
            <a:endParaRPr lang="en-US" sz="1400" dirty="0"/>
          </a:p>
        </p:txBody>
      </p:sp>
      <p:sp>
        <p:nvSpPr>
          <p:cNvPr id="6" name="Text 4"/>
          <p:cNvSpPr/>
          <p:nvPr/>
        </p:nvSpPr>
        <p:spPr>
          <a:xfrm>
            <a:off x="1473200" y="3260874"/>
            <a:ext cx="340106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4F7"/>
                </a:solidFill>
                <a:latin typeface="Manrope" pitchFamily="34" charset="0"/>
                <a:ea typeface="Manrope" pitchFamily="34" charset="-122"/>
                <a:cs typeface="Manrope" pitchFamily="34" charset="-120"/>
              </a:rPr>
              <a:t>Why PRISM</a:t>
            </a:r>
            <a:endParaRPr lang="en-US" sz="1400" dirty="0"/>
          </a:p>
        </p:txBody>
      </p:sp>
      <p:sp>
        <p:nvSpPr>
          <p:cNvPr id="7" name="Text 5"/>
          <p:cNvSpPr/>
          <p:nvPr/>
        </p:nvSpPr>
        <p:spPr>
          <a:xfrm>
            <a:off x="4978400" y="3286274"/>
            <a:ext cx="507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The problem, who we serve, the promises and the choices</a:t>
            </a:r>
            <a:endParaRPr lang="en-US" sz="1200" dirty="0"/>
          </a:p>
        </p:txBody>
      </p:sp>
      <p:sp>
        <p:nvSpPr>
          <p:cNvPr id="8" name="Text 6"/>
          <p:cNvSpPr/>
          <p:nvPr/>
        </p:nvSpPr>
        <p:spPr>
          <a:xfrm>
            <a:off x="10058400" y="3295799"/>
            <a:ext cx="132080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7D8696"/>
                </a:solidFill>
                <a:latin typeface="Archivo" pitchFamily="34" charset="0"/>
                <a:ea typeface="Archivo" pitchFamily="34" charset="-122"/>
                <a:cs typeface="Archivo" pitchFamily="34" charset="-120"/>
              </a:rPr>
              <a:t>3–7</a:t>
            </a:r>
            <a:endParaRPr lang="en-US" sz="1200" dirty="0"/>
          </a:p>
        </p:txBody>
      </p:sp>
      <p:sp>
        <p:nvSpPr>
          <p:cNvPr id="9" name="Shape 7"/>
          <p:cNvSpPr/>
          <p:nvPr/>
        </p:nvSpPr>
        <p:spPr>
          <a:xfrm>
            <a:off x="812800" y="3662164"/>
            <a:ext cx="10566400" cy="0"/>
          </a:xfrm>
          <a:prstGeom prst="line">
            <a:avLst/>
          </a:prstGeom>
          <a:noFill/>
          <a:ln w="6350">
            <a:solidFill>
              <a:srgbClr val="1C2532"/>
            </a:solidFill>
            <a:prstDash val="solid"/>
          </a:ln>
        </p:spPr>
      </p:sp>
      <p:sp>
        <p:nvSpPr>
          <p:cNvPr id="10" name="Text 8"/>
          <p:cNvSpPr/>
          <p:nvPr/>
        </p:nvSpPr>
        <p:spPr>
          <a:xfrm>
            <a:off x="812800" y="3814564"/>
            <a:ext cx="5080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FD3C4"/>
                </a:solidFill>
                <a:latin typeface="Archivo" pitchFamily="34" charset="0"/>
                <a:ea typeface="Archivo" pitchFamily="34" charset="-122"/>
                <a:cs typeface="Archivo" pitchFamily="34" charset="-120"/>
              </a:rPr>
              <a:t>02</a:t>
            </a:r>
            <a:endParaRPr lang="en-US" sz="1400" dirty="0"/>
          </a:p>
        </p:txBody>
      </p:sp>
      <p:sp>
        <p:nvSpPr>
          <p:cNvPr id="11" name="Text 9"/>
          <p:cNvSpPr/>
          <p:nvPr/>
        </p:nvSpPr>
        <p:spPr>
          <a:xfrm>
            <a:off x="1473200" y="3805039"/>
            <a:ext cx="340106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4F7"/>
                </a:solidFill>
                <a:latin typeface="Manrope" pitchFamily="34" charset="0"/>
                <a:ea typeface="Manrope" pitchFamily="34" charset="-122"/>
                <a:cs typeface="Manrope" pitchFamily="34" charset="-120"/>
              </a:rPr>
              <a:t>The system at a glance</a:t>
            </a:r>
            <a:endParaRPr lang="en-US" sz="1400" dirty="0"/>
          </a:p>
        </p:txBody>
      </p:sp>
      <p:sp>
        <p:nvSpPr>
          <p:cNvPr id="12" name="Text 10"/>
          <p:cNvSpPr/>
          <p:nvPr/>
        </p:nvSpPr>
        <p:spPr>
          <a:xfrm>
            <a:off x="4978400" y="3830439"/>
            <a:ext cx="507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Four stages, the architecture, the service map, one frame</a:t>
            </a:r>
            <a:endParaRPr lang="en-US" sz="1200" dirty="0"/>
          </a:p>
        </p:txBody>
      </p:sp>
      <p:sp>
        <p:nvSpPr>
          <p:cNvPr id="13" name="Text 11"/>
          <p:cNvSpPr/>
          <p:nvPr/>
        </p:nvSpPr>
        <p:spPr>
          <a:xfrm>
            <a:off x="10058400" y="3839964"/>
            <a:ext cx="132080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7D8696"/>
                </a:solidFill>
                <a:latin typeface="Archivo" pitchFamily="34" charset="0"/>
                <a:ea typeface="Archivo" pitchFamily="34" charset="-122"/>
                <a:cs typeface="Archivo" pitchFamily="34" charset="-120"/>
              </a:rPr>
              <a:t>8–11</a:t>
            </a:r>
            <a:endParaRPr lang="en-US" sz="1200" dirty="0"/>
          </a:p>
        </p:txBody>
      </p:sp>
      <p:sp>
        <p:nvSpPr>
          <p:cNvPr id="14" name="Shape 12"/>
          <p:cNvSpPr/>
          <p:nvPr/>
        </p:nvSpPr>
        <p:spPr>
          <a:xfrm>
            <a:off x="812800" y="4206329"/>
            <a:ext cx="10566400" cy="0"/>
          </a:xfrm>
          <a:prstGeom prst="line">
            <a:avLst/>
          </a:prstGeom>
          <a:noFill/>
          <a:ln w="6350">
            <a:solidFill>
              <a:srgbClr val="1C2532"/>
            </a:solidFill>
            <a:prstDash val="solid"/>
          </a:ln>
        </p:spPr>
      </p:sp>
      <p:sp>
        <p:nvSpPr>
          <p:cNvPr id="15" name="Text 13"/>
          <p:cNvSpPr/>
          <p:nvPr/>
        </p:nvSpPr>
        <p:spPr>
          <a:xfrm>
            <a:off x="812800" y="4358729"/>
            <a:ext cx="5080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FD3C4"/>
                </a:solidFill>
                <a:latin typeface="Archivo" pitchFamily="34" charset="0"/>
                <a:ea typeface="Archivo" pitchFamily="34" charset="-122"/>
                <a:cs typeface="Archivo" pitchFamily="34" charset="-120"/>
              </a:rPr>
              <a:t>03</a:t>
            </a:r>
            <a:endParaRPr lang="en-US" sz="1400" dirty="0"/>
          </a:p>
        </p:txBody>
      </p:sp>
      <p:sp>
        <p:nvSpPr>
          <p:cNvPr id="16" name="Text 14"/>
          <p:cNvSpPr/>
          <p:nvPr/>
        </p:nvSpPr>
        <p:spPr>
          <a:xfrm>
            <a:off x="1473200" y="4349204"/>
            <a:ext cx="340106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4F7"/>
                </a:solidFill>
                <a:latin typeface="Manrope" pitchFamily="34" charset="0"/>
                <a:ea typeface="Manrope" pitchFamily="34" charset="-122"/>
                <a:cs typeface="Manrope" pitchFamily="34" charset="-120"/>
              </a:rPr>
              <a:t>How it works, and why</a:t>
            </a:r>
            <a:endParaRPr lang="en-US" sz="1400" dirty="0"/>
          </a:p>
        </p:txBody>
      </p:sp>
      <p:sp>
        <p:nvSpPr>
          <p:cNvPr id="17" name="Text 15"/>
          <p:cNvSpPr/>
          <p:nvPr/>
        </p:nvSpPr>
        <p:spPr>
          <a:xfrm>
            <a:off x="4978400" y="4374604"/>
            <a:ext cx="507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The design choices behind the services, tied to promises</a:t>
            </a:r>
            <a:endParaRPr lang="en-US" sz="1200" dirty="0"/>
          </a:p>
        </p:txBody>
      </p:sp>
      <p:sp>
        <p:nvSpPr>
          <p:cNvPr id="18" name="Text 16"/>
          <p:cNvSpPr/>
          <p:nvPr/>
        </p:nvSpPr>
        <p:spPr>
          <a:xfrm>
            <a:off x="10058400" y="4384129"/>
            <a:ext cx="132080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7D8696"/>
                </a:solidFill>
                <a:latin typeface="Archivo" pitchFamily="34" charset="0"/>
                <a:ea typeface="Archivo" pitchFamily="34" charset="-122"/>
                <a:cs typeface="Archivo" pitchFamily="34" charset="-120"/>
              </a:rPr>
              <a:t>12–18</a:t>
            </a:r>
            <a:endParaRPr lang="en-US" sz="1200" dirty="0"/>
          </a:p>
        </p:txBody>
      </p:sp>
      <p:sp>
        <p:nvSpPr>
          <p:cNvPr id="19" name="Shape 17"/>
          <p:cNvSpPr/>
          <p:nvPr/>
        </p:nvSpPr>
        <p:spPr>
          <a:xfrm>
            <a:off x="812800" y="4750495"/>
            <a:ext cx="10566400" cy="0"/>
          </a:xfrm>
          <a:prstGeom prst="line">
            <a:avLst/>
          </a:prstGeom>
          <a:noFill/>
          <a:ln w="6350">
            <a:solidFill>
              <a:srgbClr val="1C2532"/>
            </a:solidFill>
            <a:prstDash val="solid"/>
          </a:ln>
        </p:spPr>
      </p:sp>
      <p:sp>
        <p:nvSpPr>
          <p:cNvPr id="20" name="Text 18"/>
          <p:cNvSpPr/>
          <p:nvPr/>
        </p:nvSpPr>
        <p:spPr>
          <a:xfrm>
            <a:off x="812800" y="4902895"/>
            <a:ext cx="5080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FD3C4"/>
                </a:solidFill>
                <a:latin typeface="Archivo" pitchFamily="34" charset="0"/>
                <a:ea typeface="Archivo" pitchFamily="34" charset="-122"/>
                <a:cs typeface="Archivo" pitchFamily="34" charset="-120"/>
              </a:rPr>
              <a:t>04</a:t>
            </a:r>
            <a:endParaRPr lang="en-US" sz="1400" dirty="0"/>
          </a:p>
        </p:txBody>
      </p:sp>
      <p:sp>
        <p:nvSpPr>
          <p:cNvPr id="21" name="Text 19"/>
          <p:cNvSpPr/>
          <p:nvPr/>
        </p:nvSpPr>
        <p:spPr>
          <a:xfrm>
            <a:off x="1473200" y="4893370"/>
            <a:ext cx="340106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4F7"/>
                </a:solidFill>
                <a:latin typeface="Manrope" pitchFamily="34" charset="0"/>
                <a:ea typeface="Manrope" pitchFamily="34" charset="-122"/>
                <a:cs typeface="Manrope" pitchFamily="34" charset="-120"/>
              </a:rPr>
              <a:t>Service by service</a:t>
            </a:r>
            <a:endParaRPr lang="en-US" sz="1400" dirty="0"/>
          </a:p>
        </p:txBody>
      </p:sp>
      <p:sp>
        <p:nvSpPr>
          <p:cNvPr id="22" name="Text 20"/>
          <p:cNvSpPr/>
          <p:nvPr/>
        </p:nvSpPr>
        <p:spPr>
          <a:xfrm>
            <a:off x="4978400" y="4918770"/>
            <a:ext cx="507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What each service gives the customer, and its limits</a:t>
            </a:r>
            <a:endParaRPr lang="en-US" sz="1200" dirty="0"/>
          </a:p>
        </p:txBody>
      </p:sp>
      <p:sp>
        <p:nvSpPr>
          <p:cNvPr id="23" name="Text 21"/>
          <p:cNvSpPr/>
          <p:nvPr/>
        </p:nvSpPr>
        <p:spPr>
          <a:xfrm>
            <a:off x="10058400" y="4928295"/>
            <a:ext cx="132080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7D8696"/>
                </a:solidFill>
                <a:latin typeface="Archivo" pitchFamily="34" charset="0"/>
                <a:ea typeface="Archivo" pitchFamily="34" charset="-122"/>
                <a:cs typeface="Archivo" pitchFamily="34" charset="-120"/>
              </a:rPr>
              <a:t>19–25</a:t>
            </a:r>
            <a:endParaRPr lang="en-US" sz="1200" dirty="0"/>
          </a:p>
        </p:txBody>
      </p:sp>
      <p:sp>
        <p:nvSpPr>
          <p:cNvPr id="24" name="Shape 22"/>
          <p:cNvSpPr/>
          <p:nvPr/>
        </p:nvSpPr>
        <p:spPr>
          <a:xfrm>
            <a:off x="812800" y="5294660"/>
            <a:ext cx="10566400" cy="0"/>
          </a:xfrm>
          <a:prstGeom prst="line">
            <a:avLst/>
          </a:prstGeom>
          <a:noFill/>
          <a:ln w="6350">
            <a:solidFill>
              <a:srgbClr val="1C2532"/>
            </a:solidFill>
            <a:prstDash val="solid"/>
          </a:ln>
        </p:spPr>
      </p:sp>
      <p:sp>
        <p:nvSpPr>
          <p:cNvPr id="25" name="Shape 23"/>
          <p:cNvSpPr/>
          <p:nvPr/>
        </p:nvSpPr>
        <p:spPr>
          <a:xfrm>
            <a:off x="812800" y="5838825"/>
            <a:ext cx="10566400" cy="0"/>
          </a:xfrm>
          <a:prstGeom prst="line">
            <a:avLst/>
          </a:prstGeom>
          <a:noFill/>
          <a:ln w="6350">
            <a:solidFill>
              <a:srgbClr val="1C2532"/>
            </a:solidFill>
            <a:prstDash val="solid"/>
          </a:ln>
        </p:spPr>
      </p:sp>
      <p:sp>
        <p:nvSpPr>
          <p:cNvPr id="26" name="Text 24"/>
          <p:cNvSpPr/>
          <p:nvPr/>
        </p:nvSpPr>
        <p:spPr>
          <a:xfrm>
            <a:off x="812800" y="5447060"/>
            <a:ext cx="5080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FD3C4"/>
                </a:solidFill>
                <a:latin typeface="Archivo" pitchFamily="34" charset="0"/>
                <a:ea typeface="Archivo" pitchFamily="34" charset="-122"/>
                <a:cs typeface="Archivo" pitchFamily="34" charset="-120"/>
              </a:rPr>
              <a:t>05</a:t>
            </a:r>
            <a:endParaRPr lang="en-US" sz="1400" dirty="0"/>
          </a:p>
        </p:txBody>
      </p:sp>
      <p:sp>
        <p:nvSpPr>
          <p:cNvPr id="27" name="Text 25"/>
          <p:cNvSpPr/>
          <p:nvPr/>
        </p:nvSpPr>
        <p:spPr>
          <a:xfrm>
            <a:off x="1473200" y="5437535"/>
            <a:ext cx="340106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4F7"/>
                </a:solidFill>
                <a:latin typeface="Manrope" pitchFamily="34" charset="0"/>
                <a:ea typeface="Manrope" pitchFamily="34" charset="-122"/>
                <a:cs typeface="Manrope" pitchFamily="34" charset="-120"/>
              </a:rPr>
              <a:t>Decisions and next steps</a:t>
            </a:r>
            <a:endParaRPr lang="en-US" sz="1400" dirty="0"/>
          </a:p>
        </p:txBody>
      </p:sp>
      <p:sp>
        <p:nvSpPr>
          <p:cNvPr id="28" name="Text 26"/>
          <p:cNvSpPr/>
          <p:nvPr/>
        </p:nvSpPr>
        <p:spPr>
          <a:xfrm>
            <a:off x="4978400" y="5462935"/>
            <a:ext cx="507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The numbers that bound our promises, and where to go next</a:t>
            </a:r>
            <a:endParaRPr lang="en-US" sz="1200" dirty="0"/>
          </a:p>
        </p:txBody>
      </p:sp>
      <p:sp>
        <p:nvSpPr>
          <p:cNvPr id="29" name="Text 27"/>
          <p:cNvSpPr/>
          <p:nvPr/>
        </p:nvSpPr>
        <p:spPr>
          <a:xfrm>
            <a:off x="10058400" y="5472460"/>
            <a:ext cx="132080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7D8696"/>
                </a:solidFill>
                <a:latin typeface="Archivo" pitchFamily="34" charset="0"/>
                <a:ea typeface="Archivo" pitchFamily="34" charset="-122"/>
                <a:cs typeface="Archivo" pitchFamily="34" charset="-120"/>
              </a:rPr>
              <a:t>26–27</a:t>
            </a:r>
            <a:endParaRPr lang="en-US" sz="1200" dirty="0"/>
          </a:p>
        </p:txBody>
      </p:sp>
      <p:sp>
        <p:nvSpPr>
          <p:cNvPr id="30" name="Text 2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PRISM · Agenda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1 · WHY PRISM</a:t>
            </a:r>
            <a:endParaRPr lang="en-US" sz="1200" dirty="0"/>
          </a:p>
        </p:txBody>
      </p:sp>
      <p:sp>
        <p:nvSpPr>
          <p:cNvPr id="3" name="Text 1"/>
          <p:cNvSpPr/>
          <p:nvPr>
            <p:ph type="title"/>
          </p:nvPr>
        </p:nvSpPr>
        <p:spPr>
          <a:xfrm>
            <a:off x="812800" y="1229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THE PROBLEM </a:t>
            </a:r>
            <a:r>
              <a:rPr lang="en-US" sz="2400" b="1" i="0" spc="150" kern="0" dirty="0">
                <a:solidFill>
                  <a:srgbClr val="5FD3C4"/>
                </a:solidFill>
                <a:latin typeface="Archivo" pitchFamily="34" charset="0"/>
                <a:ea typeface="Archivo" pitchFamily="34" charset="-122"/>
                <a:cs typeface="Archivo" pitchFamily="34" charset="-120"/>
              </a:rPr>
              <a:t>WE ARE SOLVING</a:t>
            </a:r>
            <a:endParaRPr lang="en-US" sz="2400" dirty="0"/>
          </a:p>
        </p:txBody>
      </p:sp>
      <p:sp>
        <p:nvSpPr>
          <p:cNvPr id="4" name="Shape 2"/>
          <p:cNvSpPr/>
          <p:nvPr/>
        </p:nvSpPr>
        <p:spPr>
          <a:xfrm>
            <a:off x="815975" y="1770955"/>
            <a:ext cx="5200650" cy="1215330"/>
          </a:xfrm>
          <a:prstGeom prst="roundRect">
            <a:avLst>
              <a:gd name="adj" fmla="val 6009"/>
            </a:avLst>
          </a:prstGeom>
          <a:solidFill>
            <a:srgbClr val="0B1018"/>
          </a:solidFill>
          <a:ln w="6350">
            <a:solidFill>
              <a:srgbClr val="1C2532"/>
            </a:solidFill>
            <a:prstDash val="solid"/>
          </a:ln>
        </p:spPr>
      </p:sp>
      <p:sp>
        <p:nvSpPr>
          <p:cNvPr id="5" name="Shape 3"/>
          <p:cNvSpPr/>
          <p:nvPr/>
        </p:nvSpPr>
        <p:spPr>
          <a:xfrm>
            <a:off x="1025525" y="2127796"/>
            <a:ext cx="501650" cy="501650"/>
          </a:xfrm>
          <a:prstGeom prst="roundRect">
            <a:avLst>
              <a:gd name="adj" fmla="val 14557"/>
            </a:avLst>
          </a:prstGeom>
          <a:solidFill>
            <a:srgbClr val="0E1E21"/>
          </a:solidFill>
          <a:ln w="6350">
            <a:solidFill>
              <a:srgbClr val="1F3E3E"/>
            </a:solidFill>
            <a:prstDash val="solid"/>
          </a:ln>
        </p:spPr>
      </p:sp>
      <p:pic>
        <p:nvPicPr>
          <p:cNvPr id="6" name="Image 0" descr="Play">    </p:cNvPr>
          <p:cNvPicPr>
            <a:picLocks noChangeAspect="1"/>
          </p:cNvPicPr>
          <p:nvPr/>
        </p:nvPicPr>
        <p:blipFill>
          <a:blip r:embed="rId1"/>
          <a:srcRect l="0" r="0" t="0" b="0"/>
          <a:stretch/>
        </p:blipFill>
        <p:spPr>
          <a:xfrm>
            <a:off x="1136650" y="2238921"/>
            <a:ext cx="279400" cy="279400"/>
          </a:xfrm>
          <a:prstGeom prst="rect">
            <a:avLst/>
          </a:prstGeom>
        </p:spPr>
      </p:pic>
      <p:sp>
        <p:nvSpPr>
          <p:cNvPr id="7" name="Text 4"/>
          <p:cNvSpPr/>
          <p:nvPr/>
        </p:nvSpPr>
        <p:spPr>
          <a:xfrm>
            <a:off x="1682750" y="1977330"/>
            <a:ext cx="425132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2F4F7"/>
                </a:solidFill>
                <a:latin typeface="Manrope" pitchFamily="34" charset="0"/>
                <a:ea typeface="Manrope" pitchFamily="34" charset="-122"/>
                <a:cs typeface="Manrope" pitchFamily="34" charset="-120"/>
              </a:rPr>
              <a:t>Most video is never watched</a:t>
            </a:r>
            <a:endParaRPr lang="en-US" sz="1600" dirty="0"/>
          </a:p>
        </p:txBody>
      </p:sp>
      <p:sp>
        <p:nvSpPr>
          <p:cNvPr id="8" name="Text 5"/>
          <p:cNvSpPr/>
          <p:nvPr/>
        </p:nvSpPr>
        <p:spPr>
          <a:xfrm>
            <a:off x="1682750" y="2282130"/>
            <a:ext cx="425132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3BBC7"/>
                </a:solidFill>
                <a:latin typeface="Manrope" pitchFamily="34" charset="0"/>
                <a:ea typeface="Manrope" pitchFamily="34" charset="-122"/>
                <a:cs typeface="Manrope" pitchFamily="34" charset="-120"/>
              </a:rPr>
              <a:t>Operators see a few tiles at once. The rest goes unseen.</a:t>
            </a:r>
            <a:endParaRPr lang="en-US" sz="1400" dirty="0"/>
          </a:p>
        </p:txBody>
      </p:sp>
      <p:sp>
        <p:nvSpPr>
          <p:cNvPr id="9" name="Shape 6"/>
          <p:cNvSpPr/>
          <p:nvPr/>
        </p:nvSpPr>
        <p:spPr>
          <a:xfrm>
            <a:off x="6175375" y="1770955"/>
            <a:ext cx="5200650" cy="1215330"/>
          </a:xfrm>
          <a:prstGeom prst="roundRect">
            <a:avLst>
              <a:gd name="adj" fmla="val 6009"/>
            </a:avLst>
          </a:prstGeom>
          <a:solidFill>
            <a:srgbClr val="0B1018"/>
          </a:solidFill>
          <a:ln w="6350">
            <a:solidFill>
              <a:srgbClr val="1C2532"/>
            </a:solidFill>
            <a:prstDash val="solid"/>
          </a:ln>
        </p:spPr>
      </p:sp>
      <p:sp>
        <p:nvSpPr>
          <p:cNvPr id="10" name="Shape 7"/>
          <p:cNvSpPr/>
          <p:nvPr/>
        </p:nvSpPr>
        <p:spPr>
          <a:xfrm>
            <a:off x="6384925" y="2127796"/>
            <a:ext cx="501650" cy="501650"/>
          </a:xfrm>
          <a:prstGeom prst="roundRect">
            <a:avLst>
              <a:gd name="adj" fmla="val 14557"/>
            </a:avLst>
          </a:prstGeom>
          <a:solidFill>
            <a:srgbClr val="0E1E21"/>
          </a:solidFill>
          <a:ln w="6350">
            <a:solidFill>
              <a:srgbClr val="1F3E3E"/>
            </a:solidFill>
            <a:prstDash val="solid"/>
          </a:ln>
        </p:spPr>
      </p:sp>
      <p:pic>
        <p:nvPicPr>
          <p:cNvPr id="11" name="Image 1" descr="Search">    </p:cNvPr>
          <p:cNvPicPr>
            <a:picLocks noChangeAspect="1"/>
          </p:cNvPicPr>
          <p:nvPr/>
        </p:nvPicPr>
        <p:blipFill>
          <a:blip r:embed="rId2"/>
          <a:srcRect l="0" r="0" t="0" b="0"/>
          <a:stretch/>
        </p:blipFill>
        <p:spPr>
          <a:xfrm>
            <a:off x="6496050" y="2238921"/>
            <a:ext cx="279400" cy="279400"/>
          </a:xfrm>
          <a:prstGeom prst="rect">
            <a:avLst/>
          </a:prstGeom>
        </p:spPr>
      </p:pic>
      <p:sp>
        <p:nvSpPr>
          <p:cNvPr id="12" name="Text 8"/>
          <p:cNvSpPr/>
          <p:nvPr/>
        </p:nvSpPr>
        <p:spPr>
          <a:xfrm>
            <a:off x="7042150" y="1977330"/>
            <a:ext cx="425132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2F4F7"/>
                </a:solidFill>
                <a:latin typeface="Manrope" pitchFamily="34" charset="0"/>
                <a:ea typeface="Manrope" pitchFamily="34" charset="-122"/>
                <a:cs typeface="Manrope" pitchFamily="34" charset="-120"/>
              </a:rPr>
              <a:t>Recordings are hard to search</a:t>
            </a:r>
            <a:endParaRPr lang="en-US" sz="1600" dirty="0"/>
          </a:p>
        </p:txBody>
      </p:sp>
      <p:sp>
        <p:nvSpPr>
          <p:cNvPr id="13" name="Text 9"/>
          <p:cNvSpPr/>
          <p:nvPr/>
        </p:nvSpPr>
        <p:spPr>
          <a:xfrm>
            <a:off x="7042150" y="2282130"/>
            <a:ext cx="425132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3BBC7"/>
                </a:solidFill>
                <a:latin typeface="Manrope" pitchFamily="34" charset="0"/>
                <a:ea typeface="Manrope" pitchFamily="34" charset="-122"/>
                <a:cs typeface="Manrope" pitchFamily="34" charset="-120"/>
              </a:rPr>
              <a:t>Finding one person in yesterday’s footage takes hours.</a:t>
            </a:r>
            <a:endParaRPr lang="en-US" sz="1400" dirty="0"/>
          </a:p>
        </p:txBody>
      </p:sp>
      <p:sp>
        <p:nvSpPr>
          <p:cNvPr id="14" name="Shape 10"/>
          <p:cNvSpPr/>
          <p:nvPr/>
        </p:nvSpPr>
        <p:spPr>
          <a:xfrm>
            <a:off x="815975" y="3145036"/>
            <a:ext cx="5200650" cy="1215330"/>
          </a:xfrm>
          <a:prstGeom prst="roundRect">
            <a:avLst>
              <a:gd name="adj" fmla="val 6009"/>
            </a:avLst>
          </a:prstGeom>
          <a:solidFill>
            <a:srgbClr val="0B1018"/>
          </a:solidFill>
          <a:ln w="6350">
            <a:solidFill>
              <a:srgbClr val="1C2532"/>
            </a:solidFill>
            <a:prstDash val="solid"/>
          </a:ln>
        </p:spPr>
      </p:sp>
      <p:sp>
        <p:nvSpPr>
          <p:cNvPr id="15" name="Shape 11"/>
          <p:cNvSpPr/>
          <p:nvPr/>
        </p:nvSpPr>
        <p:spPr>
          <a:xfrm>
            <a:off x="1025525" y="3501876"/>
            <a:ext cx="501650" cy="501650"/>
          </a:xfrm>
          <a:prstGeom prst="roundRect">
            <a:avLst>
              <a:gd name="adj" fmla="val 14557"/>
            </a:avLst>
          </a:prstGeom>
          <a:solidFill>
            <a:srgbClr val="0E1E21"/>
          </a:solidFill>
          <a:ln w="6350">
            <a:solidFill>
              <a:srgbClr val="1F3E3E"/>
            </a:solidFill>
            <a:prstDash val="solid"/>
          </a:ln>
        </p:spPr>
      </p:sp>
      <p:pic>
        <p:nvPicPr>
          <p:cNvPr id="16" name="Image 2" descr="Warning">    </p:cNvPr>
          <p:cNvPicPr>
            <a:picLocks noChangeAspect="1"/>
          </p:cNvPicPr>
          <p:nvPr/>
        </p:nvPicPr>
        <p:blipFill>
          <a:blip r:embed="rId3"/>
          <a:srcRect l="0" r="0" t="0" b="0"/>
          <a:stretch/>
        </p:blipFill>
        <p:spPr>
          <a:xfrm>
            <a:off x="1136650" y="3613001"/>
            <a:ext cx="279400" cy="279400"/>
          </a:xfrm>
          <a:prstGeom prst="rect">
            <a:avLst/>
          </a:prstGeom>
        </p:spPr>
      </p:pic>
      <p:sp>
        <p:nvSpPr>
          <p:cNvPr id="17" name="Text 12"/>
          <p:cNvSpPr/>
          <p:nvPr/>
        </p:nvSpPr>
        <p:spPr>
          <a:xfrm>
            <a:off x="1682750" y="3351411"/>
            <a:ext cx="425132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2F4F7"/>
                </a:solidFill>
                <a:latin typeface="Manrope" pitchFamily="34" charset="0"/>
                <a:ea typeface="Manrope" pitchFamily="34" charset="-122"/>
                <a:cs typeface="Manrope" pitchFamily="34" charset="-120"/>
              </a:rPr>
              <a:t>Recorder alarms are noisy</a:t>
            </a:r>
            <a:endParaRPr lang="en-US" sz="1600" dirty="0"/>
          </a:p>
        </p:txBody>
      </p:sp>
      <p:sp>
        <p:nvSpPr>
          <p:cNvPr id="18" name="Text 13"/>
          <p:cNvSpPr/>
          <p:nvPr/>
        </p:nvSpPr>
        <p:spPr>
          <a:xfrm>
            <a:off x="1682750" y="3656211"/>
            <a:ext cx="425132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3BBC7"/>
                </a:solidFill>
                <a:latin typeface="Manrope" pitchFamily="34" charset="0"/>
                <a:ea typeface="Manrope" pitchFamily="34" charset="-122"/>
                <a:cs typeface="Manrope" pitchFamily="34" charset="-120"/>
              </a:rPr>
              <a:t>Every motion fires an alarm, so the real ones get buried.</a:t>
            </a:r>
            <a:endParaRPr lang="en-US" sz="1400" dirty="0"/>
          </a:p>
        </p:txBody>
      </p:sp>
      <p:sp>
        <p:nvSpPr>
          <p:cNvPr id="19" name="Shape 14"/>
          <p:cNvSpPr/>
          <p:nvPr/>
        </p:nvSpPr>
        <p:spPr>
          <a:xfrm>
            <a:off x="6175375" y="3145036"/>
            <a:ext cx="5200650" cy="1215330"/>
          </a:xfrm>
          <a:prstGeom prst="roundRect">
            <a:avLst>
              <a:gd name="adj" fmla="val 6009"/>
            </a:avLst>
          </a:prstGeom>
          <a:solidFill>
            <a:srgbClr val="0B1018"/>
          </a:solidFill>
          <a:ln w="6350">
            <a:solidFill>
              <a:srgbClr val="1C2532"/>
            </a:solidFill>
            <a:prstDash val="solid"/>
          </a:ln>
        </p:spPr>
      </p:sp>
      <p:sp>
        <p:nvSpPr>
          <p:cNvPr id="20" name="Shape 15"/>
          <p:cNvSpPr/>
          <p:nvPr/>
        </p:nvSpPr>
        <p:spPr>
          <a:xfrm>
            <a:off x="6384925" y="3501876"/>
            <a:ext cx="501650" cy="501650"/>
          </a:xfrm>
          <a:prstGeom prst="roundRect">
            <a:avLst>
              <a:gd name="adj" fmla="val 14557"/>
            </a:avLst>
          </a:prstGeom>
          <a:solidFill>
            <a:srgbClr val="0E1E21"/>
          </a:solidFill>
          <a:ln w="6350">
            <a:solidFill>
              <a:srgbClr val="1F3E3E"/>
            </a:solidFill>
            <a:prstDash val="solid"/>
          </a:ln>
        </p:spPr>
      </p:sp>
      <p:pic>
        <p:nvPicPr>
          <p:cNvPr id="21" name="Image 3" descr="Lock">    </p:cNvPr>
          <p:cNvPicPr>
            <a:picLocks noChangeAspect="1"/>
          </p:cNvPicPr>
          <p:nvPr/>
        </p:nvPicPr>
        <p:blipFill>
          <a:blip r:embed="rId4"/>
          <a:srcRect l="0" r="0" t="0" b="0"/>
          <a:stretch/>
        </p:blipFill>
        <p:spPr>
          <a:xfrm>
            <a:off x="6496050" y="3613001"/>
            <a:ext cx="279400" cy="279400"/>
          </a:xfrm>
          <a:prstGeom prst="rect">
            <a:avLst/>
          </a:prstGeom>
        </p:spPr>
      </p:pic>
      <p:sp>
        <p:nvSpPr>
          <p:cNvPr id="22" name="Text 16"/>
          <p:cNvSpPr/>
          <p:nvPr/>
        </p:nvSpPr>
        <p:spPr>
          <a:xfrm>
            <a:off x="7042150" y="3351411"/>
            <a:ext cx="425132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2F4F7"/>
                </a:solidFill>
                <a:latin typeface="Manrope" pitchFamily="34" charset="0"/>
                <a:ea typeface="Manrope" pitchFamily="34" charset="-122"/>
                <a:cs typeface="Manrope" pitchFamily="34" charset="-120"/>
              </a:rPr>
              <a:t>The data cannot leave the site</a:t>
            </a:r>
            <a:endParaRPr lang="en-US" sz="1600" dirty="0"/>
          </a:p>
        </p:txBody>
      </p:sp>
      <p:sp>
        <p:nvSpPr>
          <p:cNvPr id="23" name="Text 17"/>
          <p:cNvSpPr/>
          <p:nvPr/>
        </p:nvSpPr>
        <p:spPr>
          <a:xfrm>
            <a:off x="7042150" y="3656211"/>
            <a:ext cx="425132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3BBC7"/>
                </a:solidFill>
                <a:latin typeface="Manrope" pitchFamily="34" charset="0"/>
                <a:ea typeface="Manrope" pitchFamily="34" charset="-122"/>
                <a:cs typeface="Manrope" pitchFamily="34" charset="-120"/>
              </a:rPr>
              <a:t>Faces, plates and passwords must stay on the premises.</a:t>
            </a:r>
            <a:endParaRPr lang="en-US" sz="1400" dirty="0"/>
          </a:p>
        </p:txBody>
      </p:sp>
      <p:sp>
        <p:nvSpPr>
          <p:cNvPr id="24" name="Shape 18"/>
          <p:cNvSpPr/>
          <p:nvPr/>
        </p:nvSpPr>
        <p:spPr>
          <a:xfrm>
            <a:off x="812800" y="4566741"/>
            <a:ext cx="10566400" cy="558800"/>
          </a:xfrm>
          <a:prstGeom prst="roundRect">
            <a:avLst>
              <a:gd name="adj" fmla="val 4545"/>
            </a:avLst>
          </a:prstGeom>
          <a:solidFill>
            <a:srgbClr val="0A1A1C"/>
          </a:solidFill>
          <a:ln/>
        </p:spPr>
      </p:sp>
      <p:sp>
        <p:nvSpPr>
          <p:cNvPr id="25" name="Shape 19"/>
          <p:cNvSpPr/>
          <p:nvPr/>
        </p:nvSpPr>
        <p:spPr>
          <a:xfrm>
            <a:off x="812800" y="4566741"/>
            <a:ext cx="10566400" cy="558800"/>
          </a:xfrm>
          <a:custGeom>
            <a:avLst/>
            <a:gdLst/>
            <a:ahLst/>
            <a:cxnLst/>
            <a:rect l="l" t="t" r="r" b="b"/>
            <a:pathLst>
              <a:path w="10566400" h="558800">
                <a:moveTo>
                  <a:pt x="25400" y="558800"/>
                </a:moveTo>
                <a:lnTo>
                  <a:pt x="25400" y="558800"/>
                </a:lnTo>
                <a:arcTo hR="25400" wR="25400" stAng="5400000" swAng="5400000"/>
                <a:lnTo>
                  <a:pt x="0" y="25400"/>
                </a:lnTo>
                <a:arcTo hR="25400" wR="25400" stAng="10800000" swAng="5400000"/>
                <a:lnTo>
                  <a:pt x="25400" y="0"/>
                </a:lnTo>
                <a:lnTo>
                  <a:pt x="25400" y="558800"/>
                </a:lnTo>
                <a:close/>
              </a:path>
            </a:pathLst>
          </a:custGeom>
          <a:solidFill>
            <a:srgbClr val="5FD3C4"/>
          </a:solidFill>
          <a:ln/>
        </p:spPr>
      </p:sp>
      <p:pic>
        <p:nvPicPr>
          <p:cNvPr id="26" name="Image 4" descr="Lightbulb">    </p:cNvPr>
          <p:cNvPicPr>
            <a:picLocks noChangeAspect="1"/>
          </p:cNvPicPr>
          <p:nvPr/>
        </p:nvPicPr>
        <p:blipFill>
          <a:blip r:embed="rId5"/>
          <a:srcRect l="0" r="0" t="0" b="0"/>
          <a:stretch/>
        </p:blipFill>
        <p:spPr>
          <a:xfrm>
            <a:off x="1041400" y="4719141"/>
            <a:ext cx="254000" cy="254000"/>
          </a:xfrm>
          <a:prstGeom prst="rect">
            <a:avLst/>
          </a:prstGeom>
        </p:spPr>
      </p:pic>
      <p:sp>
        <p:nvSpPr>
          <p:cNvPr id="27" name="Text 20"/>
          <p:cNvSpPr/>
          <p:nvPr/>
        </p:nvSpPr>
        <p:spPr>
          <a:xfrm>
            <a:off x="1447800" y="4721671"/>
            <a:ext cx="9931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4F7"/>
                </a:solidFill>
                <a:latin typeface="Manrope" pitchFamily="34" charset="0"/>
                <a:ea typeface="Manrope" pitchFamily="34" charset="-122"/>
                <a:cs typeface="Manrope" pitchFamily="34" charset="-120"/>
              </a:rPr>
              <a:t>Our answer:</a:t>
            </a:r>
            <a:r>
              <a:rPr lang="en-US" sz="1400" dirty="0">
                <a:solidFill>
                  <a:srgbClr val="F2F4F7"/>
                </a:solidFill>
                <a:latin typeface="Manrope" pitchFamily="34" charset="0"/>
                <a:ea typeface="Manrope" pitchFamily="34" charset="-122"/>
                <a:cs typeface="Manrope" pitchFamily="34" charset="-120"/>
              </a:rPr>
              <a:t> one box on site that watches every camera, remembers what it saw and checks each alarm first.</a:t>
            </a:r>
            <a:endParaRPr lang="en-US" sz="1400" dirty="0"/>
          </a:p>
        </p:txBody>
      </p:sp>
      <p:sp>
        <p:nvSpPr>
          <p:cNvPr id="28"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PRISM · Why PRISM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1 · WHY PRISM</a:t>
            </a:r>
            <a:endParaRPr lang="en-US" sz="1200" dirty="0"/>
          </a:p>
        </p:txBody>
      </p:sp>
      <p:sp>
        <p:nvSpPr>
          <p:cNvPr id="3" name="Text 1"/>
          <p:cNvSpPr/>
          <p:nvPr>
            <p:ph type="title"/>
          </p:nvPr>
        </p:nvSpPr>
        <p:spPr>
          <a:xfrm>
            <a:off x="812800" y="1229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WHAT </a:t>
            </a:r>
            <a:r>
              <a:rPr lang="en-US" sz="2400" b="1" i="0" spc="150" kern="0" dirty="0">
                <a:solidFill>
                  <a:srgbClr val="5FD3C4"/>
                </a:solidFill>
                <a:latin typeface="Archivo" pitchFamily="34" charset="0"/>
                <a:ea typeface="Archivo" pitchFamily="34" charset="-122"/>
                <a:cs typeface="Archivo" pitchFamily="34" charset="-120"/>
              </a:rPr>
              <a:t>PRISM DOES</a:t>
            </a:r>
            <a:endParaRPr lang="en-US" sz="2400" dirty="0"/>
          </a:p>
        </p:txBody>
      </p:sp>
      <p:sp>
        <p:nvSpPr>
          <p:cNvPr id="4" name="Text 2"/>
          <p:cNvSpPr/>
          <p:nvPr/>
        </p:nvSpPr>
        <p:spPr>
          <a:xfrm>
            <a:off x="812800" y="1767780"/>
            <a:ext cx="1088339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3BBC7"/>
                </a:solidFill>
                <a:latin typeface="Manrope" pitchFamily="34" charset="0"/>
                <a:ea typeface="Manrope" pitchFamily="34" charset="-122"/>
                <a:cs typeface="Manrope" pitchFamily="34" charset="-120"/>
              </a:rPr>
              <a:t>A vision intelligence product. It runs on one GPU machine at the customer’s site, or on an 8 GB Jetson Orin NX at the edge.</a:t>
            </a:r>
            <a:endParaRPr lang="en-US" sz="1400" dirty="0"/>
          </a:p>
        </p:txBody>
      </p:sp>
      <p:sp>
        <p:nvSpPr>
          <p:cNvPr id="5" name="Shape 3"/>
          <p:cNvSpPr/>
          <p:nvPr/>
        </p:nvSpPr>
        <p:spPr>
          <a:xfrm>
            <a:off x="815975" y="2231926"/>
            <a:ext cx="3414167" cy="1070521"/>
          </a:xfrm>
          <a:prstGeom prst="roundRect">
            <a:avLst>
              <a:gd name="adj" fmla="val 6821"/>
            </a:avLst>
          </a:prstGeom>
          <a:solidFill>
            <a:srgbClr val="0B1018"/>
          </a:solidFill>
          <a:ln w="6350">
            <a:solidFill>
              <a:srgbClr val="1C2532"/>
            </a:solidFill>
            <a:prstDash val="solid"/>
          </a:ln>
        </p:spPr>
      </p:sp>
      <p:sp>
        <p:nvSpPr>
          <p:cNvPr id="6" name="Shape 4"/>
          <p:cNvSpPr/>
          <p:nvPr/>
        </p:nvSpPr>
        <p:spPr>
          <a:xfrm>
            <a:off x="1000125" y="2541736"/>
            <a:ext cx="450850" cy="450850"/>
          </a:xfrm>
          <a:prstGeom prst="roundRect">
            <a:avLst>
              <a:gd name="adj" fmla="val 16197"/>
            </a:avLst>
          </a:prstGeom>
          <a:solidFill>
            <a:srgbClr val="0E1E21"/>
          </a:solidFill>
          <a:ln w="6350">
            <a:solidFill>
              <a:srgbClr val="1F3E3E"/>
            </a:solidFill>
            <a:prstDash val="solid"/>
          </a:ln>
        </p:spPr>
      </p:sp>
      <p:pic>
        <p:nvPicPr>
          <p:cNvPr id="7" name="Image 0" descr="Link">    </p:cNvPr>
          <p:cNvPicPr>
            <a:picLocks noChangeAspect="1"/>
          </p:cNvPicPr>
          <p:nvPr/>
        </p:nvPicPr>
        <p:blipFill>
          <a:blip r:embed="rId1"/>
          <a:srcRect l="0" r="0" t="0" b="0"/>
          <a:stretch/>
        </p:blipFill>
        <p:spPr>
          <a:xfrm>
            <a:off x="1098550" y="2640161"/>
            <a:ext cx="254000" cy="254000"/>
          </a:xfrm>
          <a:prstGeom prst="rect">
            <a:avLst/>
          </a:prstGeom>
        </p:spPr>
      </p:pic>
      <p:sp>
        <p:nvSpPr>
          <p:cNvPr id="8" name="Text 5"/>
          <p:cNvSpPr/>
          <p:nvPr/>
        </p:nvSpPr>
        <p:spPr>
          <a:xfrm>
            <a:off x="1581150" y="2412901"/>
            <a:ext cx="254205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Ingest</a:t>
            </a:r>
            <a:endParaRPr lang="en-US" sz="1600" dirty="0"/>
          </a:p>
        </p:txBody>
      </p:sp>
      <p:sp>
        <p:nvSpPr>
          <p:cNvPr id="9" name="Text 6"/>
          <p:cNvSpPr/>
          <p:nvPr/>
        </p:nvSpPr>
        <p:spPr>
          <a:xfrm>
            <a:off x="1581150" y="2694831"/>
            <a:ext cx="25420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Finds and connects cameras on the LAN.</a:t>
            </a:r>
            <a:endParaRPr lang="en-US" sz="1200" dirty="0"/>
          </a:p>
        </p:txBody>
      </p:sp>
      <p:sp>
        <p:nvSpPr>
          <p:cNvPr id="10" name="Shape 7"/>
          <p:cNvSpPr/>
          <p:nvPr/>
        </p:nvSpPr>
        <p:spPr>
          <a:xfrm>
            <a:off x="4388892" y="2231926"/>
            <a:ext cx="3414167" cy="1070521"/>
          </a:xfrm>
          <a:prstGeom prst="roundRect">
            <a:avLst>
              <a:gd name="adj" fmla="val 6821"/>
            </a:avLst>
          </a:prstGeom>
          <a:solidFill>
            <a:srgbClr val="0B1018"/>
          </a:solidFill>
          <a:ln w="6350">
            <a:solidFill>
              <a:srgbClr val="1C2532"/>
            </a:solidFill>
            <a:prstDash val="solid"/>
          </a:ln>
        </p:spPr>
      </p:sp>
      <p:sp>
        <p:nvSpPr>
          <p:cNvPr id="11" name="Shape 8"/>
          <p:cNvSpPr/>
          <p:nvPr/>
        </p:nvSpPr>
        <p:spPr>
          <a:xfrm>
            <a:off x="4573042" y="2541736"/>
            <a:ext cx="450850" cy="450850"/>
          </a:xfrm>
          <a:prstGeom prst="roundRect">
            <a:avLst>
              <a:gd name="adj" fmla="val 16197"/>
            </a:avLst>
          </a:prstGeom>
          <a:solidFill>
            <a:srgbClr val="0E1E21"/>
          </a:solidFill>
          <a:ln w="6350">
            <a:solidFill>
              <a:srgbClr val="1F3E3E"/>
            </a:solidFill>
            <a:prstDash val="solid"/>
          </a:ln>
        </p:spPr>
      </p:sp>
      <p:pic>
        <p:nvPicPr>
          <p:cNvPr id="12" name="Image 1" descr="Activity">    </p:cNvPr>
          <p:cNvPicPr>
            <a:picLocks noChangeAspect="1"/>
          </p:cNvPicPr>
          <p:nvPr/>
        </p:nvPicPr>
        <p:blipFill>
          <a:blip r:embed="rId2"/>
          <a:srcRect l="0" r="0" t="0" b="0"/>
          <a:stretch/>
        </p:blipFill>
        <p:spPr>
          <a:xfrm>
            <a:off x="4671467" y="2640161"/>
            <a:ext cx="254000" cy="254000"/>
          </a:xfrm>
          <a:prstGeom prst="rect">
            <a:avLst/>
          </a:prstGeom>
        </p:spPr>
      </p:pic>
      <p:sp>
        <p:nvSpPr>
          <p:cNvPr id="13" name="Text 9"/>
          <p:cNvSpPr/>
          <p:nvPr/>
        </p:nvSpPr>
        <p:spPr>
          <a:xfrm>
            <a:off x="5154067" y="2519561"/>
            <a:ext cx="254205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Detect</a:t>
            </a:r>
            <a:endParaRPr lang="en-US" sz="1600" dirty="0"/>
          </a:p>
        </p:txBody>
      </p:sp>
      <p:sp>
        <p:nvSpPr>
          <p:cNvPr id="14" name="Text 10"/>
          <p:cNvSpPr/>
          <p:nvPr/>
        </p:nvSpPr>
        <p:spPr>
          <a:xfrm>
            <a:off x="5154067" y="2801491"/>
            <a:ext cx="25420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Spots people, vehicles and plates.</a:t>
            </a:r>
            <a:endParaRPr lang="en-US" sz="1200" dirty="0"/>
          </a:p>
        </p:txBody>
      </p:sp>
      <p:sp>
        <p:nvSpPr>
          <p:cNvPr id="15" name="Shape 11"/>
          <p:cNvSpPr/>
          <p:nvPr/>
        </p:nvSpPr>
        <p:spPr>
          <a:xfrm>
            <a:off x="7961809" y="2231926"/>
            <a:ext cx="3414216" cy="1070521"/>
          </a:xfrm>
          <a:prstGeom prst="roundRect">
            <a:avLst>
              <a:gd name="adj" fmla="val 6821"/>
            </a:avLst>
          </a:prstGeom>
          <a:solidFill>
            <a:srgbClr val="0B1018"/>
          </a:solidFill>
          <a:ln w="6350">
            <a:solidFill>
              <a:srgbClr val="1C2532"/>
            </a:solidFill>
            <a:prstDash val="solid"/>
          </a:ln>
        </p:spPr>
      </p:sp>
      <p:sp>
        <p:nvSpPr>
          <p:cNvPr id="16" name="Shape 12"/>
          <p:cNvSpPr/>
          <p:nvPr/>
        </p:nvSpPr>
        <p:spPr>
          <a:xfrm>
            <a:off x="8145959" y="2541736"/>
            <a:ext cx="450850" cy="450850"/>
          </a:xfrm>
          <a:prstGeom prst="roundRect">
            <a:avLst>
              <a:gd name="adj" fmla="val 16197"/>
            </a:avLst>
          </a:prstGeom>
          <a:solidFill>
            <a:srgbClr val="0E1E21"/>
          </a:solidFill>
          <a:ln w="6350">
            <a:solidFill>
              <a:srgbClr val="1F3E3E"/>
            </a:solidFill>
            <a:prstDash val="solid"/>
          </a:ln>
        </p:spPr>
      </p:sp>
      <p:pic>
        <p:nvPicPr>
          <p:cNvPr id="17" name="Image 2" descr="Users">    </p:cNvPr>
          <p:cNvPicPr>
            <a:picLocks noChangeAspect="1"/>
          </p:cNvPicPr>
          <p:nvPr/>
        </p:nvPicPr>
        <p:blipFill>
          <a:blip r:embed="rId3"/>
          <a:srcRect l="0" r="0" t="0" b="0"/>
          <a:stretch/>
        </p:blipFill>
        <p:spPr>
          <a:xfrm>
            <a:off x="8244384" y="2640161"/>
            <a:ext cx="254000" cy="254000"/>
          </a:xfrm>
          <a:prstGeom prst="rect">
            <a:avLst/>
          </a:prstGeom>
        </p:spPr>
      </p:pic>
      <p:sp>
        <p:nvSpPr>
          <p:cNvPr id="18" name="Text 13"/>
          <p:cNvSpPr/>
          <p:nvPr/>
        </p:nvSpPr>
        <p:spPr>
          <a:xfrm>
            <a:off x="8726984" y="2412901"/>
            <a:ext cx="254210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Recognise</a:t>
            </a:r>
            <a:endParaRPr lang="en-US" sz="1600" dirty="0"/>
          </a:p>
        </p:txBody>
      </p:sp>
      <p:sp>
        <p:nvSpPr>
          <p:cNvPr id="19" name="Text 14"/>
          <p:cNvSpPr/>
          <p:nvPr/>
        </p:nvSpPr>
        <p:spPr>
          <a:xfrm>
            <a:off x="8726984" y="2694831"/>
            <a:ext cx="25421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Names known faces; reads each plate once.</a:t>
            </a:r>
            <a:endParaRPr lang="en-US" sz="1200" dirty="0"/>
          </a:p>
        </p:txBody>
      </p:sp>
      <p:sp>
        <p:nvSpPr>
          <p:cNvPr id="20" name="Shape 15"/>
          <p:cNvSpPr/>
          <p:nvPr/>
        </p:nvSpPr>
        <p:spPr>
          <a:xfrm>
            <a:off x="815975" y="3461196"/>
            <a:ext cx="3414167" cy="1070521"/>
          </a:xfrm>
          <a:prstGeom prst="roundRect">
            <a:avLst>
              <a:gd name="adj" fmla="val 6821"/>
            </a:avLst>
          </a:prstGeom>
          <a:solidFill>
            <a:srgbClr val="0B1018"/>
          </a:solidFill>
          <a:ln w="6350">
            <a:solidFill>
              <a:srgbClr val="1C2532"/>
            </a:solidFill>
            <a:prstDash val="solid"/>
          </a:ln>
        </p:spPr>
      </p:sp>
      <p:sp>
        <p:nvSpPr>
          <p:cNvPr id="21" name="Shape 16"/>
          <p:cNvSpPr/>
          <p:nvPr/>
        </p:nvSpPr>
        <p:spPr>
          <a:xfrm>
            <a:off x="1000125" y="3771007"/>
            <a:ext cx="450850" cy="450850"/>
          </a:xfrm>
          <a:prstGeom prst="roundRect">
            <a:avLst>
              <a:gd name="adj" fmla="val 16197"/>
            </a:avLst>
          </a:prstGeom>
          <a:solidFill>
            <a:srgbClr val="0E1E21"/>
          </a:solidFill>
          <a:ln w="6350">
            <a:solidFill>
              <a:srgbClr val="1F3E3E"/>
            </a:solidFill>
            <a:prstDash val="solid"/>
          </a:ln>
        </p:spPr>
      </p:sp>
      <p:pic>
        <p:nvPicPr>
          <p:cNvPr id="22" name="Image 3" descr="Search">    </p:cNvPr>
          <p:cNvPicPr>
            <a:picLocks noChangeAspect="1"/>
          </p:cNvPicPr>
          <p:nvPr/>
        </p:nvPicPr>
        <p:blipFill>
          <a:blip r:embed="rId4"/>
          <a:srcRect l="0" r="0" t="0" b="0"/>
          <a:stretch/>
        </p:blipFill>
        <p:spPr>
          <a:xfrm>
            <a:off x="1098550" y="3869432"/>
            <a:ext cx="254000" cy="254000"/>
          </a:xfrm>
          <a:prstGeom prst="rect">
            <a:avLst/>
          </a:prstGeom>
        </p:spPr>
      </p:pic>
      <p:sp>
        <p:nvSpPr>
          <p:cNvPr id="23" name="Text 17"/>
          <p:cNvSpPr/>
          <p:nvPr/>
        </p:nvSpPr>
        <p:spPr>
          <a:xfrm>
            <a:off x="1581150" y="3642171"/>
            <a:ext cx="254205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Search</a:t>
            </a:r>
            <a:endParaRPr lang="en-US" sz="1600" dirty="0"/>
          </a:p>
        </p:txBody>
      </p:sp>
      <p:sp>
        <p:nvSpPr>
          <p:cNvPr id="24" name="Text 18"/>
          <p:cNvSpPr/>
          <p:nvPr/>
        </p:nvSpPr>
        <p:spPr>
          <a:xfrm>
            <a:off x="1581150" y="3924102"/>
            <a:ext cx="25420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Find anything by words or by example.</a:t>
            </a:r>
            <a:endParaRPr lang="en-US" sz="1200" dirty="0"/>
          </a:p>
        </p:txBody>
      </p:sp>
      <p:sp>
        <p:nvSpPr>
          <p:cNvPr id="25" name="Shape 19"/>
          <p:cNvSpPr/>
          <p:nvPr/>
        </p:nvSpPr>
        <p:spPr>
          <a:xfrm>
            <a:off x="4388892" y="3461196"/>
            <a:ext cx="3414167" cy="1070521"/>
          </a:xfrm>
          <a:prstGeom prst="roundRect">
            <a:avLst>
              <a:gd name="adj" fmla="val 6821"/>
            </a:avLst>
          </a:prstGeom>
          <a:solidFill>
            <a:srgbClr val="0B1018"/>
          </a:solidFill>
          <a:ln w="6350">
            <a:solidFill>
              <a:srgbClr val="1C2532"/>
            </a:solidFill>
            <a:prstDash val="solid"/>
          </a:ln>
        </p:spPr>
      </p:sp>
      <p:sp>
        <p:nvSpPr>
          <p:cNvPr id="26" name="Shape 20"/>
          <p:cNvSpPr/>
          <p:nvPr/>
        </p:nvSpPr>
        <p:spPr>
          <a:xfrm>
            <a:off x="4573042" y="3771007"/>
            <a:ext cx="450850" cy="450850"/>
          </a:xfrm>
          <a:prstGeom prst="roundRect">
            <a:avLst>
              <a:gd name="adj" fmla="val 16197"/>
            </a:avLst>
          </a:prstGeom>
          <a:solidFill>
            <a:srgbClr val="0E1E21"/>
          </a:solidFill>
          <a:ln w="6350">
            <a:solidFill>
              <a:srgbClr val="1F3E3E"/>
            </a:solidFill>
            <a:prstDash val="solid"/>
          </a:ln>
        </p:spPr>
      </p:sp>
      <p:pic>
        <p:nvPicPr>
          <p:cNvPr id="27" name="Image 4" descr="Lightning">    </p:cNvPr>
          <p:cNvPicPr>
            <a:picLocks noChangeAspect="1"/>
          </p:cNvPicPr>
          <p:nvPr/>
        </p:nvPicPr>
        <p:blipFill>
          <a:blip r:embed="rId5"/>
          <a:srcRect l="0" r="0" t="0" b="0"/>
          <a:stretch/>
        </p:blipFill>
        <p:spPr>
          <a:xfrm>
            <a:off x="4671467" y="3869432"/>
            <a:ext cx="254000" cy="254000"/>
          </a:xfrm>
          <a:prstGeom prst="rect">
            <a:avLst/>
          </a:prstGeom>
        </p:spPr>
      </p:pic>
      <p:sp>
        <p:nvSpPr>
          <p:cNvPr id="28" name="Text 21"/>
          <p:cNvSpPr/>
          <p:nvPr/>
        </p:nvSpPr>
        <p:spPr>
          <a:xfrm>
            <a:off x="5154067" y="3642171"/>
            <a:ext cx="254205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Alert</a:t>
            </a:r>
            <a:endParaRPr lang="en-US" sz="1600" dirty="0"/>
          </a:p>
        </p:txBody>
      </p:sp>
      <p:sp>
        <p:nvSpPr>
          <p:cNvPr id="29" name="Text 22"/>
          <p:cNvSpPr/>
          <p:nvPr/>
        </p:nvSpPr>
        <p:spPr>
          <a:xfrm>
            <a:off x="5154067" y="3924102"/>
            <a:ext cx="25420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Standing, zone and behaviour alerts in one inbox.</a:t>
            </a:r>
            <a:endParaRPr lang="en-US" sz="1200" dirty="0"/>
          </a:p>
        </p:txBody>
      </p:sp>
      <p:sp>
        <p:nvSpPr>
          <p:cNvPr id="30" name="Shape 23"/>
          <p:cNvSpPr/>
          <p:nvPr/>
        </p:nvSpPr>
        <p:spPr>
          <a:xfrm>
            <a:off x="7961809" y="3461196"/>
            <a:ext cx="3414216" cy="1070521"/>
          </a:xfrm>
          <a:prstGeom prst="roundRect">
            <a:avLst>
              <a:gd name="adj" fmla="val 6821"/>
            </a:avLst>
          </a:prstGeom>
          <a:solidFill>
            <a:srgbClr val="0B1018"/>
          </a:solidFill>
          <a:ln w="6350">
            <a:solidFill>
              <a:srgbClr val="1C2532"/>
            </a:solidFill>
            <a:prstDash val="solid"/>
          </a:ln>
        </p:spPr>
      </p:sp>
      <p:sp>
        <p:nvSpPr>
          <p:cNvPr id="31" name="Shape 24"/>
          <p:cNvSpPr/>
          <p:nvPr/>
        </p:nvSpPr>
        <p:spPr>
          <a:xfrm>
            <a:off x="8145959" y="3771007"/>
            <a:ext cx="450850" cy="450850"/>
          </a:xfrm>
          <a:prstGeom prst="roundRect">
            <a:avLst>
              <a:gd name="adj" fmla="val 16197"/>
            </a:avLst>
          </a:prstGeom>
          <a:solidFill>
            <a:srgbClr val="0E1E21"/>
          </a:solidFill>
          <a:ln w="6350">
            <a:solidFill>
              <a:srgbClr val="1F3E3E"/>
            </a:solidFill>
            <a:prstDash val="solid"/>
          </a:ln>
        </p:spPr>
      </p:sp>
      <p:pic>
        <p:nvPicPr>
          <p:cNvPr id="32" name="Image 5" descr="Book">    </p:cNvPr>
          <p:cNvPicPr>
            <a:picLocks noChangeAspect="1"/>
          </p:cNvPicPr>
          <p:nvPr/>
        </p:nvPicPr>
        <p:blipFill>
          <a:blip r:embed="rId6"/>
          <a:srcRect l="0" r="0" t="0" b="0"/>
          <a:stretch/>
        </p:blipFill>
        <p:spPr>
          <a:xfrm>
            <a:off x="8244384" y="3869432"/>
            <a:ext cx="254000" cy="254000"/>
          </a:xfrm>
          <a:prstGeom prst="rect">
            <a:avLst/>
          </a:prstGeom>
        </p:spPr>
      </p:pic>
      <p:sp>
        <p:nvSpPr>
          <p:cNvPr id="33" name="Text 25"/>
          <p:cNvSpPr/>
          <p:nvPr/>
        </p:nvSpPr>
        <p:spPr>
          <a:xfrm>
            <a:off x="8726984" y="3642171"/>
            <a:ext cx="254210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Investigate</a:t>
            </a:r>
            <a:endParaRPr lang="en-US" sz="1600" dirty="0"/>
          </a:p>
        </p:txBody>
      </p:sp>
      <p:sp>
        <p:nvSpPr>
          <p:cNvPr id="34" name="Text 26"/>
          <p:cNvSpPr/>
          <p:nvPr/>
        </p:nvSpPr>
        <p:spPr>
          <a:xfrm>
            <a:off x="8726984" y="3924102"/>
            <a:ext cx="25421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Indexes recorded evidence for cases.</a:t>
            </a:r>
            <a:endParaRPr lang="en-US" sz="1200" dirty="0"/>
          </a:p>
        </p:txBody>
      </p:sp>
      <p:sp>
        <p:nvSpPr>
          <p:cNvPr id="35" name="Shape 27"/>
          <p:cNvSpPr/>
          <p:nvPr/>
        </p:nvSpPr>
        <p:spPr>
          <a:xfrm>
            <a:off x="815975" y="4690467"/>
            <a:ext cx="3414167" cy="1070521"/>
          </a:xfrm>
          <a:prstGeom prst="roundRect">
            <a:avLst>
              <a:gd name="adj" fmla="val 6821"/>
            </a:avLst>
          </a:prstGeom>
          <a:solidFill>
            <a:srgbClr val="0B1018"/>
          </a:solidFill>
          <a:ln w="6350">
            <a:solidFill>
              <a:srgbClr val="1C2532"/>
            </a:solidFill>
            <a:prstDash val="solid"/>
          </a:ln>
        </p:spPr>
      </p:sp>
      <p:sp>
        <p:nvSpPr>
          <p:cNvPr id="36" name="Shape 28"/>
          <p:cNvSpPr/>
          <p:nvPr/>
        </p:nvSpPr>
        <p:spPr>
          <a:xfrm>
            <a:off x="1000125" y="5000278"/>
            <a:ext cx="450850" cy="450850"/>
          </a:xfrm>
          <a:prstGeom prst="roundRect">
            <a:avLst>
              <a:gd name="adj" fmla="val 16197"/>
            </a:avLst>
          </a:prstGeom>
          <a:solidFill>
            <a:srgbClr val="0E1E21"/>
          </a:solidFill>
          <a:ln w="6350">
            <a:solidFill>
              <a:srgbClr val="1F3E3E"/>
            </a:solidFill>
            <a:prstDash val="solid"/>
          </a:ln>
        </p:spPr>
      </p:sp>
      <p:pic>
        <p:nvPicPr>
          <p:cNvPr id="37" name="Image 6" descr="Book">    </p:cNvPr>
          <p:cNvPicPr>
            <a:picLocks noChangeAspect="1"/>
          </p:cNvPicPr>
          <p:nvPr/>
        </p:nvPicPr>
        <p:blipFill>
          <a:blip r:embed="rId7"/>
          <a:srcRect l="0" r="0" t="0" b="0"/>
          <a:stretch/>
        </p:blipFill>
        <p:spPr>
          <a:xfrm>
            <a:off x="1098550" y="5098703"/>
            <a:ext cx="254000" cy="254000"/>
          </a:xfrm>
          <a:prstGeom prst="rect">
            <a:avLst/>
          </a:prstGeom>
        </p:spPr>
      </p:pic>
      <p:sp>
        <p:nvSpPr>
          <p:cNvPr id="38" name="Text 29"/>
          <p:cNvSpPr/>
          <p:nvPr/>
        </p:nvSpPr>
        <p:spPr>
          <a:xfrm>
            <a:off x="1581150" y="4871442"/>
            <a:ext cx="254205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Understand</a:t>
            </a:r>
            <a:endParaRPr lang="en-US" sz="1600" dirty="0"/>
          </a:p>
        </p:txBody>
      </p:sp>
      <p:sp>
        <p:nvSpPr>
          <p:cNvPr id="39" name="Text 30"/>
          <p:cNvSpPr/>
          <p:nvPr/>
        </p:nvSpPr>
        <p:spPr>
          <a:xfrm>
            <a:off x="1581150" y="5153372"/>
            <a:ext cx="25420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Smarter understanding of the scene and its context</a:t>
            </a:r>
            <a:endParaRPr lang="en-US" sz="1200" dirty="0"/>
          </a:p>
        </p:txBody>
      </p:sp>
      <p:sp>
        <p:nvSpPr>
          <p:cNvPr id="40" name="Text 3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PRISM · Why PRISM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1 · WHY PRISM</a:t>
            </a:r>
            <a:endParaRPr lang="en-US" sz="1200" dirty="0"/>
          </a:p>
        </p:txBody>
      </p:sp>
      <p:sp>
        <p:nvSpPr>
          <p:cNvPr id="3" name="Text 1"/>
          <p:cNvSpPr/>
          <p:nvPr>
            <p:ph type="title"/>
          </p:nvPr>
        </p:nvSpPr>
        <p:spPr>
          <a:xfrm>
            <a:off x="812800" y="1229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WHO PRISM </a:t>
            </a:r>
            <a:r>
              <a:rPr lang="en-US" sz="2400" b="1" i="0" spc="150" kern="0" dirty="0">
                <a:solidFill>
                  <a:srgbClr val="5FD3C4"/>
                </a:solidFill>
                <a:latin typeface="Archivo" pitchFamily="34" charset="0"/>
                <a:ea typeface="Archivo" pitchFamily="34" charset="-122"/>
                <a:cs typeface="Archivo" pitchFamily="34" charset="-120"/>
              </a:rPr>
              <a:t>SERVES</a:t>
            </a:r>
            <a:endParaRPr lang="en-US" sz="2400" dirty="0"/>
          </a:p>
        </p:txBody>
      </p:sp>
      <p:sp>
        <p:nvSpPr>
          <p:cNvPr id="4" name="Shape 2"/>
          <p:cNvSpPr/>
          <p:nvPr/>
        </p:nvSpPr>
        <p:spPr>
          <a:xfrm>
            <a:off x="815975" y="1770955"/>
            <a:ext cx="2520950" cy="3204021"/>
          </a:xfrm>
          <a:prstGeom prst="roundRect">
            <a:avLst>
              <a:gd name="adj" fmla="val 2897"/>
            </a:avLst>
          </a:prstGeom>
          <a:solidFill>
            <a:srgbClr val="0B1018"/>
          </a:solidFill>
          <a:ln w="6350">
            <a:solidFill>
              <a:srgbClr val="1C2532"/>
            </a:solidFill>
            <a:prstDash val="solid"/>
          </a:ln>
        </p:spPr>
      </p:sp>
      <p:sp>
        <p:nvSpPr>
          <p:cNvPr id="5" name="Shape 3"/>
          <p:cNvSpPr/>
          <p:nvPr/>
        </p:nvSpPr>
        <p:spPr>
          <a:xfrm>
            <a:off x="1025525" y="1980505"/>
            <a:ext cx="501650" cy="501650"/>
          </a:xfrm>
          <a:prstGeom prst="roundRect">
            <a:avLst>
              <a:gd name="adj" fmla="val 14557"/>
            </a:avLst>
          </a:prstGeom>
          <a:solidFill>
            <a:srgbClr val="0E1E21"/>
          </a:solidFill>
          <a:ln w="6350">
            <a:solidFill>
              <a:srgbClr val="1F3E3E"/>
            </a:solidFill>
            <a:prstDash val="solid"/>
          </a:ln>
        </p:spPr>
      </p:sp>
      <p:pic>
        <p:nvPicPr>
          <p:cNvPr id="6" name="Image 0" descr="Users">    </p:cNvPr>
          <p:cNvPicPr>
            <a:picLocks noChangeAspect="1"/>
          </p:cNvPicPr>
          <p:nvPr/>
        </p:nvPicPr>
        <p:blipFill>
          <a:blip r:embed="rId1"/>
          <a:srcRect l="0" r="0" t="0" b="0"/>
          <a:stretch/>
        </p:blipFill>
        <p:spPr>
          <a:xfrm>
            <a:off x="1136650" y="2091630"/>
            <a:ext cx="279400" cy="279400"/>
          </a:xfrm>
          <a:prstGeom prst="rect">
            <a:avLst/>
          </a:prstGeom>
        </p:spPr>
      </p:pic>
      <p:sp>
        <p:nvSpPr>
          <p:cNvPr id="7" name="Text 4"/>
          <p:cNvSpPr/>
          <p:nvPr/>
        </p:nvSpPr>
        <p:spPr>
          <a:xfrm>
            <a:off x="1022350" y="2586930"/>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Operators</a:t>
            </a:r>
            <a:endParaRPr lang="en-US" sz="1600" dirty="0"/>
          </a:p>
        </p:txBody>
      </p:sp>
      <p:sp>
        <p:nvSpPr>
          <p:cNvPr id="8" name="Text 5"/>
          <p:cNvSpPr/>
          <p:nvPr/>
        </p:nvSpPr>
        <p:spPr>
          <a:xfrm>
            <a:off x="1022350" y="293236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D8696"/>
                </a:solidFill>
                <a:latin typeface="Archivo" pitchFamily="34" charset="0"/>
                <a:ea typeface="Archivo" pitchFamily="34" charset="-122"/>
                <a:cs typeface="Archivo" pitchFamily="34" charset="-120"/>
              </a:rPr>
              <a:t>NEED</a:t>
            </a:r>
            <a:endParaRPr lang="en-US" sz="1200" dirty="0"/>
          </a:p>
        </p:txBody>
      </p:sp>
      <p:sp>
        <p:nvSpPr>
          <p:cNvPr id="9" name="Text 6"/>
          <p:cNvSpPr/>
          <p:nvPr/>
        </p:nvSpPr>
        <p:spPr>
          <a:xfrm>
            <a:off x="1022350" y="3247281"/>
            <a:ext cx="217144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3BBC7"/>
                </a:solidFill>
                <a:latin typeface="Manrope" pitchFamily="34" charset="0"/>
                <a:ea typeface="Manrope" pitchFamily="34" charset="-122"/>
                <a:cs typeface="Manrope" pitchFamily="34" charset="-120"/>
              </a:rPr>
              <a:t>See what matters now; find what happened.</a:t>
            </a:r>
            <a:endParaRPr lang="en-US" sz="1200" dirty="0"/>
          </a:p>
        </p:txBody>
      </p:sp>
      <p:sp>
        <p:nvSpPr>
          <p:cNvPr id="10" name="Text 7"/>
          <p:cNvSpPr/>
          <p:nvPr/>
        </p:nvSpPr>
        <p:spPr>
          <a:xfrm>
            <a:off x="1022350" y="379080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FD3C4"/>
                </a:solidFill>
                <a:latin typeface="Archivo" pitchFamily="34" charset="0"/>
                <a:ea typeface="Archivo" pitchFamily="34" charset="-122"/>
                <a:cs typeface="Archivo" pitchFamily="34" charset="-120"/>
              </a:rPr>
              <a:t>WE GIVE</a:t>
            </a:r>
            <a:endParaRPr lang="en-US" sz="1200" dirty="0"/>
          </a:p>
        </p:txBody>
      </p:sp>
      <p:sp>
        <p:nvSpPr>
          <p:cNvPr id="11" name="Text 8"/>
          <p:cNvSpPr/>
          <p:nvPr/>
        </p:nvSpPr>
        <p:spPr>
          <a:xfrm>
            <a:off x="1022350" y="4105721"/>
            <a:ext cx="2171446"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2F4F7"/>
                </a:solidFill>
                <a:latin typeface="Manrope" pitchFamily="34" charset="0"/>
                <a:ea typeface="Manrope" pitchFamily="34" charset="-122"/>
                <a:cs typeface="Manrope" pitchFamily="34" charset="-120"/>
              </a:rPr>
              <a:t>A live view that never goes dark, instant boxes, one inbox, search.</a:t>
            </a:r>
            <a:endParaRPr lang="en-US" sz="1200" dirty="0"/>
          </a:p>
        </p:txBody>
      </p:sp>
      <p:sp>
        <p:nvSpPr>
          <p:cNvPr id="12" name="Shape 9"/>
          <p:cNvSpPr/>
          <p:nvPr/>
        </p:nvSpPr>
        <p:spPr>
          <a:xfrm>
            <a:off x="3495675" y="1770955"/>
            <a:ext cx="2520950" cy="3204021"/>
          </a:xfrm>
          <a:prstGeom prst="roundRect">
            <a:avLst>
              <a:gd name="adj" fmla="val 2897"/>
            </a:avLst>
          </a:prstGeom>
          <a:solidFill>
            <a:srgbClr val="0B1018"/>
          </a:solidFill>
          <a:ln w="6350">
            <a:solidFill>
              <a:srgbClr val="1C2532"/>
            </a:solidFill>
            <a:prstDash val="solid"/>
          </a:ln>
        </p:spPr>
      </p:sp>
      <p:sp>
        <p:nvSpPr>
          <p:cNvPr id="13" name="Shape 10"/>
          <p:cNvSpPr/>
          <p:nvPr/>
        </p:nvSpPr>
        <p:spPr>
          <a:xfrm>
            <a:off x="3705225" y="1980505"/>
            <a:ext cx="501650" cy="501650"/>
          </a:xfrm>
          <a:prstGeom prst="roundRect">
            <a:avLst>
              <a:gd name="adj" fmla="val 14557"/>
            </a:avLst>
          </a:prstGeom>
          <a:solidFill>
            <a:srgbClr val="0E1E21"/>
          </a:solidFill>
          <a:ln w="6350">
            <a:solidFill>
              <a:srgbClr val="1F3E3E"/>
            </a:solidFill>
            <a:prstDash val="solid"/>
          </a:ln>
        </p:spPr>
      </p:sp>
      <p:pic>
        <p:nvPicPr>
          <p:cNvPr id="14" name="Image 1" descr="Home">    </p:cNvPr>
          <p:cNvPicPr>
            <a:picLocks noChangeAspect="1"/>
          </p:cNvPicPr>
          <p:nvPr/>
        </p:nvPicPr>
        <p:blipFill>
          <a:blip r:embed="rId2"/>
          <a:srcRect l="0" r="0" t="0" b="0"/>
          <a:stretch/>
        </p:blipFill>
        <p:spPr>
          <a:xfrm>
            <a:off x="3816350" y="2091630"/>
            <a:ext cx="279400" cy="279400"/>
          </a:xfrm>
          <a:prstGeom prst="rect">
            <a:avLst/>
          </a:prstGeom>
        </p:spPr>
      </p:pic>
      <p:sp>
        <p:nvSpPr>
          <p:cNvPr id="15" name="Text 11"/>
          <p:cNvSpPr/>
          <p:nvPr/>
        </p:nvSpPr>
        <p:spPr>
          <a:xfrm>
            <a:off x="3702050" y="2586930"/>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Site owners</a:t>
            </a:r>
            <a:endParaRPr lang="en-US" sz="1600" dirty="0"/>
          </a:p>
        </p:txBody>
      </p:sp>
      <p:sp>
        <p:nvSpPr>
          <p:cNvPr id="16" name="Text 12"/>
          <p:cNvSpPr/>
          <p:nvPr/>
        </p:nvSpPr>
        <p:spPr>
          <a:xfrm>
            <a:off x="3702050" y="293236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D8696"/>
                </a:solidFill>
                <a:latin typeface="Archivo" pitchFamily="34" charset="0"/>
                <a:ea typeface="Archivo" pitchFamily="34" charset="-122"/>
                <a:cs typeface="Archivo" pitchFamily="34" charset="-120"/>
              </a:rPr>
              <a:t>NEED</a:t>
            </a:r>
            <a:endParaRPr lang="en-US" sz="1200" dirty="0"/>
          </a:p>
        </p:txBody>
      </p:sp>
      <p:sp>
        <p:nvSpPr>
          <p:cNvPr id="17" name="Text 13"/>
          <p:cNvSpPr/>
          <p:nvPr/>
        </p:nvSpPr>
        <p:spPr>
          <a:xfrm>
            <a:off x="3702050" y="3247281"/>
            <a:ext cx="217144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3BBC7"/>
                </a:solidFill>
                <a:latin typeface="Manrope" pitchFamily="34" charset="0"/>
                <a:ea typeface="Manrope" pitchFamily="34" charset="-122"/>
                <a:cs typeface="Manrope" pitchFamily="34" charset="-120"/>
              </a:rPr>
              <a:t>Every camera covered, on their own hardware.</a:t>
            </a:r>
            <a:endParaRPr lang="en-US" sz="1200" dirty="0"/>
          </a:p>
        </p:txBody>
      </p:sp>
      <p:sp>
        <p:nvSpPr>
          <p:cNvPr id="18" name="Text 14"/>
          <p:cNvSpPr/>
          <p:nvPr/>
        </p:nvSpPr>
        <p:spPr>
          <a:xfrm>
            <a:off x="3702050" y="379080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FD3C4"/>
                </a:solidFill>
                <a:latin typeface="Archivo" pitchFamily="34" charset="0"/>
                <a:ea typeface="Archivo" pitchFamily="34" charset="-122"/>
                <a:cs typeface="Archivo" pitchFamily="34" charset="-120"/>
              </a:rPr>
              <a:t>WE GIVE</a:t>
            </a:r>
            <a:endParaRPr lang="en-US" sz="1200" dirty="0"/>
          </a:p>
        </p:txBody>
      </p:sp>
      <p:sp>
        <p:nvSpPr>
          <p:cNvPr id="19" name="Text 15"/>
          <p:cNvSpPr/>
          <p:nvPr/>
        </p:nvSpPr>
        <p:spPr>
          <a:xfrm>
            <a:off x="3702050" y="4105721"/>
            <a:ext cx="217144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2F4F7"/>
                </a:solidFill>
                <a:latin typeface="Manrope" pitchFamily="34" charset="0"/>
                <a:ea typeface="Manrope" pitchFamily="34" charset="-122"/>
                <a:cs typeface="Manrope" pitchFamily="34" charset="-120"/>
              </a:rPr>
              <a:t>One box on site, AI only where it pays, data kept local.</a:t>
            </a:r>
            <a:endParaRPr lang="en-US" sz="1200" dirty="0"/>
          </a:p>
        </p:txBody>
      </p:sp>
      <p:sp>
        <p:nvSpPr>
          <p:cNvPr id="20" name="Shape 16"/>
          <p:cNvSpPr/>
          <p:nvPr/>
        </p:nvSpPr>
        <p:spPr>
          <a:xfrm>
            <a:off x="6175375" y="1770955"/>
            <a:ext cx="2520950" cy="3204021"/>
          </a:xfrm>
          <a:prstGeom prst="roundRect">
            <a:avLst>
              <a:gd name="adj" fmla="val 2897"/>
            </a:avLst>
          </a:prstGeom>
          <a:solidFill>
            <a:srgbClr val="0B1018"/>
          </a:solidFill>
          <a:ln w="6350">
            <a:solidFill>
              <a:srgbClr val="1C2532"/>
            </a:solidFill>
            <a:prstDash val="solid"/>
          </a:ln>
        </p:spPr>
      </p:sp>
      <p:sp>
        <p:nvSpPr>
          <p:cNvPr id="21" name="Shape 17"/>
          <p:cNvSpPr/>
          <p:nvPr/>
        </p:nvSpPr>
        <p:spPr>
          <a:xfrm>
            <a:off x="6384925" y="1980505"/>
            <a:ext cx="501650" cy="501650"/>
          </a:xfrm>
          <a:prstGeom prst="roundRect">
            <a:avLst>
              <a:gd name="adj" fmla="val 14557"/>
            </a:avLst>
          </a:prstGeom>
          <a:solidFill>
            <a:srgbClr val="0E1E21"/>
          </a:solidFill>
          <a:ln w="6350">
            <a:solidFill>
              <a:srgbClr val="1F3E3E"/>
            </a:solidFill>
            <a:prstDash val="solid"/>
          </a:ln>
        </p:spPr>
      </p:sp>
      <p:pic>
        <p:nvPicPr>
          <p:cNvPr id="22" name="Image 2" descr="Code">    </p:cNvPr>
          <p:cNvPicPr>
            <a:picLocks noChangeAspect="1"/>
          </p:cNvPicPr>
          <p:nvPr/>
        </p:nvPicPr>
        <p:blipFill>
          <a:blip r:embed="rId3"/>
          <a:srcRect l="0" r="0" t="0" b="0"/>
          <a:stretch/>
        </p:blipFill>
        <p:spPr>
          <a:xfrm>
            <a:off x="6496050" y="2091630"/>
            <a:ext cx="279400" cy="279400"/>
          </a:xfrm>
          <a:prstGeom prst="rect">
            <a:avLst/>
          </a:prstGeom>
        </p:spPr>
      </p:pic>
      <p:sp>
        <p:nvSpPr>
          <p:cNvPr id="23" name="Text 18"/>
          <p:cNvSpPr/>
          <p:nvPr/>
        </p:nvSpPr>
        <p:spPr>
          <a:xfrm>
            <a:off x="6381750" y="2586930"/>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Integrators</a:t>
            </a:r>
            <a:endParaRPr lang="en-US" sz="1600" dirty="0"/>
          </a:p>
        </p:txBody>
      </p:sp>
      <p:sp>
        <p:nvSpPr>
          <p:cNvPr id="24" name="Text 19"/>
          <p:cNvSpPr/>
          <p:nvPr/>
        </p:nvSpPr>
        <p:spPr>
          <a:xfrm>
            <a:off x="6381750" y="293236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D8696"/>
                </a:solidFill>
                <a:latin typeface="Archivo" pitchFamily="34" charset="0"/>
                <a:ea typeface="Archivo" pitchFamily="34" charset="-122"/>
                <a:cs typeface="Archivo" pitchFamily="34" charset="-120"/>
              </a:rPr>
              <a:t>NEED</a:t>
            </a:r>
            <a:endParaRPr lang="en-US" sz="1200" dirty="0"/>
          </a:p>
        </p:txBody>
      </p:sp>
      <p:sp>
        <p:nvSpPr>
          <p:cNvPr id="25" name="Text 20"/>
          <p:cNvSpPr/>
          <p:nvPr/>
        </p:nvSpPr>
        <p:spPr>
          <a:xfrm>
            <a:off x="6381750" y="3247281"/>
            <a:ext cx="2171446"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3BBC7"/>
                </a:solidFill>
                <a:latin typeface="Manrope" pitchFamily="34" charset="0"/>
                <a:ea typeface="Manrope" pitchFamily="34" charset="-122"/>
                <a:cs typeface="Manrope" pitchFamily="34" charset="-120"/>
              </a:rPr>
              <a:t>A stable surface to build on.</a:t>
            </a:r>
            <a:endParaRPr lang="en-US" sz="1200" dirty="0"/>
          </a:p>
        </p:txBody>
      </p:sp>
      <p:sp>
        <p:nvSpPr>
          <p:cNvPr id="26" name="Text 21"/>
          <p:cNvSpPr/>
          <p:nvPr/>
        </p:nvSpPr>
        <p:spPr>
          <a:xfrm>
            <a:off x="6381750" y="356984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FD3C4"/>
                </a:solidFill>
                <a:latin typeface="Archivo" pitchFamily="34" charset="0"/>
                <a:ea typeface="Archivo" pitchFamily="34" charset="-122"/>
                <a:cs typeface="Archivo" pitchFamily="34" charset="-120"/>
              </a:rPr>
              <a:t>WE GIVE</a:t>
            </a:r>
            <a:endParaRPr lang="en-US" sz="1200" dirty="0"/>
          </a:p>
        </p:txBody>
      </p:sp>
      <p:sp>
        <p:nvSpPr>
          <p:cNvPr id="27" name="Text 22"/>
          <p:cNvSpPr/>
          <p:nvPr/>
        </p:nvSpPr>
        <p:spPr>
          <a:xfrm>
            <a:off x="6381750" y="3884761"/>
            <a:ext cx="217144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2F4F7"/>
                </a:solidFill>
                <a:latin typeface="Manrope" pitchFamily="34" charset="0"/>
                <a:ea typeface="Manrope" pitchFamily="34" charset="-122"/>
                <a:cs typeface="Manrope" pitchFamily="34" charset="-120"/>
              </a:rPr>
              <a:t>An open API, live events and a machine-readable contract.</a:t>
            </a:r>
            <a:endParaRPr lang="en-US" sz="1200" dirty="0"/>
          </a:p>
        </p:txBody>
      </p:sp>
      <p:sp>
        <p:nvSpPr>
          <p:cNvPr id="28" name="Shape 23"/>
          <p:cNvSpPr/>
          <p:nvPr/>
        </p:nvSpPr>
        <p:spPr>
          <a:xfrm>
            <a:off x="8855075" y="1770955"/>
            <a:ext cx="2520950" cy="3204021"/>
          </a:xfrm>
          <a:prstGeom prst="roundRect">
            <a:avLst>
              <a:gd name="adj" fmla="val 2897"/>
            </a:avLst>
          </a:prstGeom>
          <a:solidFill>
            <a:srgbClr val="0B1018"/>
          </a:solidFill>
          <a:ln w="6350">
            <a:solidFill>
              <a:srgbClr val="1C2532"/>
            </a:solidFill>
            <a:prstDash val="solid"/>
          </a:ln>
        </p:spPr>
      </p:sp>
      <p:sp>
        <p:nvSpPr>
          <p:cNvPr id="29" name="Shape 24"/>
          <p:cNvSpPr/>
          <p:nvPr/>
        </p:nvSpPr>
        <p:spPr>
          <a:xfrm>
            <a:off x="9064625" y="1980505"/>
            <a:ext cx="501650" cy="501650"/>
          </a:xfrm>
          <a:prstGeom prst="roundRect">
            <a:avLst>
              <a:gd name="adj" fmla="val 14557"/>
            </a:avLst>
          </a:prstGeom>
          <a:solidFill>
            <a:srgbClr val="0E1E21"/>
          </a:solidFill>
          <a:ln w="6350">
            <a:solidFill>
              <a:srgbClr val="1F3E3E"/>
            </a:solidFill>
            <a:prstDash val="solid"/>
          </a:ln>
        </p:spPr>
      </p:sp>
      <p:pic>
        <p:nvPicPr>
          <p:cNvPr id="30" name="Image 3" descr="Tool">    </p:cNvPr>
          <p:cNvPicPr>
            <a:picLocks noChangeAspect="1"/>
          </p:cNvPicPr>
          <p:nvPr/>
        </p:nvPicPr>
        <p:blipFill>
          <a:blip r:embed="rId4"/>
          <a:srcRect l="0" r="0" t="0" b="0"/>
          <a:stretch/>
        </p:blipFill>
        <p:spPr>
          <a:xfrm>
            <a:off x="9175750" y="2091630"/>
            <a:ext cx="279400" cy="279400"/>
          </a:xfrm>
          <a:prstGeom prst="rect">
            <a:avLst/>
          </a:prstGeom>
        </p:spPr>
      </p:pic>
      <p:sp>
        <p:nvSpPr>
          <p:cNvPr id="31" name="Text 25"/>
          <p:cNvSpPr/>
          <p:nvPr/>
        </p:nvSpPr>
        <p:spPr>
          <a:xfrm>
            <a:off x="9061450" y="2586930"/>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Our team</a:t>
            </a:r>
            <a:endParaRPr lang="en-US" sz="1600" dirty="0"/>
          </a:p>
        </p:txBody>
      </p:sp>
      <p:sp>
        <p:nvSpPr>
          <p:cNvPr id="32" name="Text 26"/>
          <p:cNvSpPr/>
          <p:nvPr/>
        </p:nvSpPr>
        <p:spPr>
          <a:xfrm>
            <a:off x="9061450" y="293236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D8696"/>
                </a:solidFill>
                <a:latin typeface="Archivo" pitchFamily="34" charset="0"/>
                <a:ea typeface="Archivo" pitchFamily="34" charset="-122"/>
                <a:cs typeface="Archivo" pitchFamily="34" charset="-120"/>
              </a:rPr>
              <a:t>NEED</a:t>
            </a:r>
            <a:endParaRPr lang="en-US" sz="1200" dirty="0"/>
          </a:p>
        </p:txBody>
      </p:sp>
      <p:sp>
        <p:nvSpPr>
          <p:cNvPr id="33" name="Text 27"/>
          <p:cNvSpPr/>
          <p:nvPr/>
        </p:nvSpPr>
        <p:spPr>
          <a:xfrm>
            <a:off x="9061450" y="3247281"/>
            <a:ext cx="217144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3BBC7"/>
                </a:solidFill>
                <a:latin typeface="Manrope" pitchFamily="34" charset="0"/>
                <a:ea typeface="Manrope" pitchFamily="34" charset="-122"/>
                <a:cs typeface="Manrope" pitchFamily="34" charset="-120"/>
              </a:rPr>
              <a:t>One product for GPU boxes and Jetson.</a:t>
            </a:r>
            <a:endParaRPr lang="en-US" sz="1200" dirty="0"/>
          </a:p>
        </p:txBody>
      </p:sp>
      <p:sp>
        <p:nvSpPr>
          <p:cNvPr id="34" name="Text 28"/>
          <p:cNvSpPr/>
          <p:nvPr/>
        </p:nvSpPr>
        <p:spPr>
          <a:xfrm>
            <a:off x="9061450" y="379080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FD3C4"/>
                </a:solidFill>
                <a:latin typeface="Archivo" pitchFamily="34" charset="0"/>
                <a:ea typeface="Archivo" pitchFamily="34" charset="-122"/>
                <a:cs typeface="Archivo" pitchFamily="34" charset="-120"/>
              </a:rPr>
              <a:t>WE GIVE</a:t>
            </a:r>
            <a:endParaRPr lang="en-US" sz="1200" dirty="0"/>
          </a:p>
        </p:txBody>
      </p:sp>
      <p:sp>
        <p:nvSpPr>
          <p:cNvPr id="35" name="Text 29"/>
          <p:cNvSpPr/>
          <p:nvPr/>
        </p:nvSpPr>
        <p:spPr>
          <a:xfrm>
            <a:off x="9061450" y="4105721"/>
            <a:ext cx="2171446"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2F4F7"/>
                </a:solidFill>
                <a:latin typeface="Manrope" pitchFamily="34" charset="0"/>
                <a:ea typeface="Manrope" pitchFamily="34" charset="-122"/>
                <a:cs typeface="Manrope" pitchFamily="34" charset="-120"/>
              </a:rPr>
              <a:t>One codebase with device overlays, and rehearsed releases.</a:t>
            </a:r>
            <a:endParaRPr lang="en-US" sz="1200" dirty="0"/>
          </a:p>
        </p:txBody>
      </p:sp>
      <p:sp>
        <p:nvSpPr>
          <p:cNvPr id="36" name="Text 3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PRISM · Operators also run ASTRA, our sibling product, so both command centers must work alike (P9)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1 · WHY PRISM</a:t>
            </a:r>
            <a:endParaRPr lang="en-US" sz="1200" dirty="0"/>
          </a:p>
        </p:txBody>
      </p:sp>
      <p:sp>
        <p:nvSpPr>
          <p:cNvPr id="3" name="Text 1"/>
          <p:cNvSpPr/>
          <p:nvPr>
            <p:ph type="title"/>
          </p:nvPr>
        </p:nvSpPr>
        <p:spPr>
          <a:xfrm>
            <a:off x="812800" y="1229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THE NINE PROMISES </a:t>
            </a:r>
            <a:r>
              <a:rPr lang="en-US" sz="2400" b="1" i="0" spc="150" kern="0" dirty="0">
                <a:solidFill>
                  <a:srgbClr val="5FD3C4"/>
                </a:solidFill>
                <a:latin typeface="Archivo" pitchFamily="34" charset="0"/>
                <a:ea typeface="Archivo" pitchFamily="34" charset="-122"/>
                <a:cs typeface="Archivo" pitchFamily="34" charset="-120"/>
              </a:rPr>
              <a:t>WE KEEP</a:t>
            </a:r>
            <a:endParaRPr lang="en-US" sz="2400" dirty="0"/>
          </a:p>
        </p:txBody>
      </p:sp>
      <p:sp>
        <p:nvSpPr>
          <p:cNvPr id="4" name="Shape 2"/>
          <p:cNvSpPr/>
          <p:nvPr/>
        </p:nvSpPr>
        <p:spPr>
          <a:xfrm>
            <a:off x="815975" y="1770955"/>
            <a:ext cx="3431084" cy="943570"/>
          </a:xfrm>
          <a:prstGeom prst="roundRect">
            <a:avLst>
              <a:gd name="adj" fmla="val 7739"/>
            </a:avLst>
          </a:prstGeom>
          <a:solidFill>
            <a:srgbClr val="0B1018"/>
          </a:solidFill>
          <a:ln w="6350">
            <a:solidFill>
              <a:srgbClr val="1C2532"/>
            </a:solidFill>
            <a:prstDash val="solid"/>
          </a:ln>
        </p:spPr>
      </p:sp>
      <p:sp>
        <p:nvSpPr>
          <p:cNvPr id="5" name="Shape 3"/>
          <p:cNvSpPr/>
          <p:nvPr/>
        </p:nvSpPr>
        <p:spPr>
          <a:xfrm>
            <a:off x="974725" y="2042716"/>
            <a:ext cx="400050" cy="400050"/>
          </a:xfrm>
          <a:prstGeom prst="roundRect">
            <a:avLst>
              <a:gd name="adj" fmla="val 18254"/>
            </a:avLst>
          </a:prstGeom>
          <a:solidFill>
            <a:srgbClr val="0E1E21"/>
          </a:solidFill>
          <a:ln w="6350">
            <a:solidFill>
              <a:srgbClr val="1F3E3E"/>
            </a:solidFill>
            <a:prstDash val="solid"/>
          </a:ln>
        </p:spPr>
      </p:sp>
      <p:pic>
        <p:nvPicPr>
          <p:cNvPr id="6" name="Image 0" descr="Search">    </p:cNvPr>
          <p:cNvPicPr>
            <a:picLocks noChangeAspect="1"/>
          </p:cNvPicPr>
          <p:nvPr/>
        </p:nvPicPr>
        <p:blipFill>
          <a:blip r:embed="rId1"/>
          <a:srcRect l="0" r="0" t="0" b="0"/>
          <a:stretch/>
        </p:blipFill>
        <p:spPr>
          <a:xfrm>
            <a:off x="1060450" y="2128441"/>
            <a:ext cx="228600" cy="228600"/>
          </a:xfrm>
          <a:prstGeom prst="rect">
            <a:avLst/>
          </a:prstGeom>
        </p:spPr>
      </p:pic>
      <p:sp>
        <p:nvSpPr>
          <p:cNvPr id="7" name="Text 4"/>
          <p:cNvSpPr/>
          <p:nvPr/>
        </p:nvSpPr>
        <p:spPr>
          <a:xfrm>
            <a:off x="1504950" y="1901130"/>
            <a:ext cx="266413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D3C4"/>
                </a:solidFill>
                <a:latin typeface="Archivo" pitchFamily="34" charset="0"/>
                <a:ea typeface="Archivo" pitchFamily="34" charset="-122"/>
                <a:cs typeface="Archivo" pitchFamily="34" charset="-120"/>
              </a:rPr>
              <a:t>P1</a:t>
            </a:r>
            <a:endParaRPr lang="en-US" sz="1200" dirty="0"/>
          </a:p>
        </p:txBody>
      </p:sp>
      <p:sp>
        <p:nvSpPr>
          <p:cNvPr id="8" name="Text 5"/>
          <p:cNvSpPr/>
          <p:nvPr/>
        </p:nvSpPr>
        <p:spPr>
          <a:xfrm>
            <a:off x="1504950" y="2139851"/>
            <a:ext cx="266413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2F4F7"/>
                </a:solidFill>
                <a:latin typeface="Manrope" pitchFamily="34" charset="0"/>
                <a:ea typeface="Manrope" pitchFamily="34" charset="-122"/>
                <a:cs typeface="Manrope" pitchFamily="34" charset="-120"/>
              </a:rPr>
              <a:t>Recognition on the highest-resolution image</a:t>
            </a:r>
            <a:endParaRPr lang="en-US" sz="1400" dirty="0"/>
          </a:p>
        </p:txBody>
      </p:sp>
      <p:sp>
        <p:nvSpPr>
          <p:cNvPr id="9" name="Shape 6"/>
          <p:cNvSpPr/>
          <p:nvPr/>
        </p:nvSpPr>
        <p:spPr>
          <a:xfrm>
            <a:off x="4380409" y="1770955"/>
            <a:ext cx="3431133" cy="943570"/>
          </a:xfrm>
          <a:prstGeom prst="roundRect">
            <a:avLst>
              <a:gd name="adj" fmla="val 7739"/>
            </a:avLst>
          </a:prstGeom>
          <a:solidFill>
            <a:srgbClr val="0B1018"/>
          </a:solidFill>
          <a:ln w="6350">
            <a:solidFill>
              <a:srgbClr val="1C2532"/>
            </a:solidFill>
            <a:prstDash val="solid"/>
          </a:ln>
        </p:spPr>
      </p:sp>
      <p:sp>
        <p:nvSpPr>
          <p:cNvPr id="10" name="Shape 7"/>
          <p:cNvSpPr/>
          <p:nvPr/>
        </p:nvSpPr>
        <p:spPr>
          <a:xfrm>
            <a:off x="4539159" y="2042716"/>
            <a:ext cx="400050" cy="400050"/>
          </a:xfrm>
          <a:prstGeom prst="roundRect">
            <a:avLst>
              <a:gd name="adj" fmla="val 18254"/>
            </a:avLst>
          </a:prstGeom>
          <a:solidFill>
            <a:srgbClr val="0E1E21"/>
          </a:solidFill>
          <a:ln w="6350">
            <a:solidFill>
              <a:srgbClr val="1F3E3E"/>
            </a:solidFill>
            <a:prstDash val="solid"/>
          </a:ln>
        </p:spPr>
      </p:sp>
      <p:pic>
        <p:nvPicPr>
          <p:cNvPr id="11" name="Image 1" descr="Lightning">    </p:cNvPr>
          <p:cNvPicPr>
            <a:picLocks noChangeAspect="1"/>
          </p:cNvPicPr>
          <p:nvPr/>
        </p:nvPicPr>
        <p:blipFill>
          <a:blip r:embed="rId2"/>
          <a:srcRect l="0" r="0" t="0" b="0"/>
          <a:stretch/>
        </p:blipFill>
        <p:spPr>
          <a:xfrm>
            <a:off x="4624884" y="2128441"/>
            <a:ext cx="228600" cy="228600"/>
          </a:xfrm>
          <a:prstGeom prst="rect">
            <a:avLst/>
          </a:prstGeom>
        </p:spPr>
      </p:pic>
      <p:sp>
        <p:nvSpPr>
          <p:cNvPr id="12" name="Text 8"/>
          <p:cNvSpPr/>
          <p:nvPr/>
        </p:nvSpPr>
        <p:spPr>
          <a:xfrm>
            <a:off x="5069384" y="1901130"/>
            <a:ext cx="266418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D3C4"/>
                </a:solidFill>
                <a:latin typeface="Archivo" pitchFamily="34" charset="0"/>
                <a:ea typeface="Archivo" pitchFamily="34" charset="-122"/>
                <a:cs typeface="Archivo" pitchFamily="34" charset="-120"/>
              </a:rPr>
              <a:t>P2</a:t>
            </a:r>
            <a:endParaRPr lang="en-US" sz="1200" dirty="0"/>
          </a:p>
        </p:txBody>
      </p:sp>
      <p:sp>
        <p:nvSpPr>
          <p:cNvPr id="13" name="Text 9"/>
          <p:cNvSpPr/>
          <p:nvPr/>
        </p:nvSpPr>
        <p:spPr>
          <a:xfrm>
            <a:off x="5069384" y="2139851"/>
            <a:ext cx="2664181"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2F4F7"/>
                </a:solidFill>
                <a:latin typeface="Manrope" pitchFamily="34" charset="0"/>
                <a:ea typeface="Manrope" pitchFamily="34" charset="-122"/>
                <a:cs typeface="Manrope" pitchFamily="34" charset="-120"/>
              </a:rPr>
              <a:t>A box the moment a face appears</a:t>
            </a:r>
            <a:endParaRPr lang="en-US" sz="1400" dirty="0"/>
          </a:p>
        </p:txBody>
      </p:sp>
      <p:sp>
        <p:nvSpPr>
          <p:cNvPr id="14" name="Shape 10"/>
          <p:cNvSpPr/>
          <p:nvPr/>
        </p:nvSpPr>
        <p:spPr>
          <a:xfrm>
            <a:off x="7944892" y="1770955"/>
            <a:ext cx="3431084" cy="943570"/>
          </a:xfrm>
          <a:prstGeom prst="roundRect">
            <a:avLst>
              <a:gd name="adj" fmla="val 7739"/>
            </a:avLst>
          </a:prstGeom>
          <a:solidFill>
            <a:srgbClr val="0B1018"/>
          </a:solidFill>
          <a:ln w="6350">
            <a:solidFill>
              <a:srgbClr val="1C2532"/>
            </a:solidFill>
            <a:prstDash val="solid"/>
          </a:ln>
        </p:spPr>
      </p:sp>
      <p:sp>
        <p:nvSpPr>
          <p:cNvPr id="15" name="Shape 11"/>
          <p:cNvSpPr/>
          <p:nvPr/>
        </p:nvSpPr>
        <p:spPr>
          <a:xfrm>
            <a:off x="8103642" y="2042716"/>
            <a:ext cx="400050" cy="400050"/>
          </a:xfrm>
          <a:prstGeom prst="roundRect">
            <a:avLst>
              <a:gd name="adj" fmla="val 18254"/>
            </a:avLst>
          </a:prstGeom>
          <a:solidFill>
            <a:srgbClr val="0E1E21"/>
          </a:solidFill>
          <a:ln w="6350">
            <a:solidFill>
              <a:srgbClr val="1F3E3E"/>
            </a:solidFill>
            <a:prstDash val="solid"/>
          </a:ln>
        </p:spPr>
      </p:sp>
      <p:pic>
        <p:nvPicPr>
          <p:cNvPr id="16" name="Image 2" descr="Activity">    </p:cNvPr>
          <p:cNvPicPr>
            <a:picLocks noChangeAspect="1"/>
          </p:cNvPicPr>
          <p:nvPr/>
        </p:nvPicPr>
        <p:blipFill>
          <a:blip r:embed="rId3"/>
          <a:srcRect l="0" r="0" t="0" b="0"/>
          <a:stretch/>
        </p:blipFill>
        <p:spPr>
          <a:xfrm>
            <a:off x="8189367" y="2128441"/>
            <a:ext cx="228600" cy="228600"/>
          </a:xfrm>
          <a:prstGeom prst="rect">
            <a:avLst/>
          </a:prstGeom>
        </p:spPr>
      </p:pic>
      <p:sp>
        <p:nvSpPr>
          <p:cNvPr id="17" name="Text 12"/>
          <p:cNvSpPr/>
          <p:nvPr/>
        </p:nvSpPr>
        <p:spPr>
          <a:xfrm>
            <a:off x="8633867" y="2012255"/>
            <a:ext cx="266413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D3C4"/>
                </a:solidFill>
                <a:latin typeface="Archivo" pitchFamily="34" charset="0"/>
                <a:ea typeface="Archivo" pitchFamily="34" charset="-122"/>
                <a:cs typeface="Archivo" pitchFamily="34" charset="-120"/>
              </a:rPr>
              <a:t>P3</a:t>
            </a:r>
            <a:endParaRPr lang="en-US" sz="1200" dirty="0"/>
          </a:p>
        </p:txBody>
      </p:sp>
      <p:sp>
        <p:nvSpPr>
          <p:cNvPr id="18" name="Text 13"/>
          <p:cNvSpPr/>
          <p:nvPr/>
        </p:nvSpPr>
        <p:spPr>
          <a:xfrm>
            <a:off x="8633867" y="2250976"/>
            <a:ext cx="266413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2F4F7"/>
                </a:solidFill>
                <a:latin typeface="Manrope" pitchFamily="34" charset="0"/>
                <a:ea typeface="Manrope" pitchFamily="34" charset="-122"/>
                <a:cs typeface="Manrope" pitchFamily="34" charset="-120"/>
              </a:rPr>
              <a:t>Cameras win the GPU budget</a:t>
            </a:r>
            <a:endParaRPr lang="en-US" sz="1400" dirty="0"/>
          </a:p>
        </p:txBody>
      </p:sp>
      <p:sp>
        <p:nvSpPr>
          <p:cNvPr id="19" name="Shape 14"/>
          <p:cNvSpPr/>
          <p:nvPr/>
        </p:nvSpPr>
        <p:spPr>
          <a:xfrm>
            <a:off x="815975" y="2847876"/>
            <a:ext cx="3431084" cy="943570"/>
          </a:xfrm>
          <a:prstGeom prst="roundRect">
            <a:avLst>
              <a:gd name="adj" fmla="val 7739"/>
            </a:avLst>
          </a:prstGeom>
          <a:solidFill>
            <a:srgbClr val="0B1018"/>
          </a:solidFill>
          <a:ln w="6350">
            <a:solidFill>
              <a:srgbClr val="1C2532"/>
            </a:solidFill>
            <a:prstDash val="solid"/>
          </a:ln>
        </p:spPr>
      </p:sp>
      <p:sp>
        <p:nvSpPr>
          <p:cNvPr id="20" name="Shape 15"/>
          <p:cNvSpPr/>
          <p:nvPr/>
        </p:nvSpPr>
        <p:spPr>
          <a:xfrm>
            <a:off x="974725" y="3119636"/>
            <a:ext cx="400050" cy="400050"/>
          </a:xfrm>
          <a:prstGeom prst="roundRect">
            <a:avLst>
              <a:gd name="adj" fmla="val 18254"/>
            </a:avLst>
          </a:prstGeom>
          <a:solidFill>
            <a:srgbClr val="0E1E21"/>
          </a:solidFill>
          <a:ln w="6350">
            <a:solidFill>
              <a:srgbClr val="1F3E3E"/>
            </a:solidFill>
            <a:prstDash val="solid"/>
          </a:ln>
        </p:spPr>
      </p:sp>
      <p:pic>
        <p:nvPicPr>
          <p:cNvPr id="21" name="Image 3" descr="Play">    </p:cNvPr>
          <p:cNvPicPr>
            <a:picLocks noChangeAspect="1"/>
          </p:cNvPicPr>
          <p:nvPr/>
        </p:nvPicPr>
        <p:blipFill>
          <a:blip r:embed="rId4"/>
          <a:srcRect l="0" r="0" t="0" b="0"/>
          <a:stretch/>
        </p:blipFill>
        <p:spPr>
          <a:xfrm>
            <a:off x="1060450" y="3205361"/>
            <a:ext cx="228600" cy="228600"/>
          </a:xfrm>
          <a:prstGeom prst="rect">
            <a:avLst/>
          </a:prstGeom>
        </p:spPr>
      </p:pic>
      <p:sp>
        <p:nvSpPr>
          <p:cNvPr id="22" name="Text 16"/>
          <p:cNvSpPr/>
          <p:nvPr/>
        </p:nvSpPr>
        <p:spPr>
          <a:xfrm>
            <a:off x="1504950" y="3089176"/>
            <a:ext cx="266413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D3C4"/>
                </a:solidFill>
                <a:latin typeface="Archivo" pitchFamily="34" charset="0"/>
                <a:ea typeface="Archivo" pitchFamily="34" charset="-122"/>
                <a:cs typeface="Archivo" pitchFamily="34" charset="-120"/>
              </a:rPr>
              <a:t>P4</a:t>
            </a:r>
            <a:endParaRPr lang="en-US" sz="1200" dirty="0"/>
          </a:p>
        </p:txBody>
      </p:sp>
      <p:sp>
        <p:nvSpPr>
          <p:cNvPr id="23" name="Text 17"/>
          <p:cNvSpPr/>
          <p:nvPr/>
        </p:nvSpPr>
        <p:spPr>
          <a:xfrm>
            <a:off x="1504950" y="3327896"/>
            <a:ext cx="266413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2F4F7"/>
                </a:solidFill>
                <a:latin typeface="Manrope" pitchFamily="34" charset="0"/>
                <a:ea typeface="Manrope" pitchFamily="34" charset="-122"/>
                <a:cs typeface="Manrope" pitchFamily="34" charset="-120"/>
              </a:rPr>
              <a:t>Live video never goes dark</a:t>
            </a:r>
            <a:endParaRPr lang="en-US" sz="1400" dirty="0"/>
          </a:p>
        </p:txBody>
      </p:sp>
      <p:sp>
        <p:nvSpPr>
          <p:cNvPr id="24" name="Shape 18"/>
          <p:cNvSpPr/>
          <p:nvPr/>
        </p:nvSpPr>
        <p:spPr>
          <a:xfrm>
            <a:off x="4380409" y="2847876"/>
            <a:ext cx="3431133" cy="943570"/>
          </a:xfrm>
          <a:prstGeom prst="roundRect">
            <a:avLst>
              <a:gd name="adj" fmla="val 7739"/>
            </a:avLst>
          </a:prstGeom>
          <a:solidFill>
            <a:srgbClr val="0B1018"/>
          </a:solidFill>
          <a:ln w="6350">
            <a:solidFill>
              <a:srgbClr val="1C2532"/>
            </a:solidFill>
            <a:prstDash val="solid"/>
          </a:ln>
        </p:spPr>
      </p:sp>
      <p:sp>
        <p:nvSpPr>
          <p:cNvPr id="25" name="Shape 19"/>
          <p:cNvSpPr/>
          <p:nvPr/>
        </p:nvSpPr>
        <p:spPr>
          <a:xfrm>
            <a:off x="4539159" y="3119636"/>
            <a:ext cx="400050" cy="400050"/>
          </a:xfrm>
          <a:prstGeom prst="roundRect">
            <a:avLst>
              <a:gd name="adj" fmla="val 18254"/>
            </a:avLst>
          </a:prstGeom>
          <a:solidFill>
            <a:srgbClr val="0E1E21"/>
          </a:solidFill>
          <a:ln w="6350">
            <a:solidFill>
              <a:srgbClr val="1F3E3E"/>
            </a:solidFill>
            <a:prstDash val="solid"/>
          </a:ln>
        </p:spPr>
      </p:sp>
      <p:pic>
        <p:nvPicPr>
          <p:cNvPr id="26" name="Image 4" descr="Trust">    </p:cNvPr>
          <p:cNvPicPr>
            <a:picLocks noChangeAspect="1"/>
          </p:cNvPicPr>
          <p:nvPr/>
        </p:nvPicPr>
        <p:blipFill>
          <a:blip r:embed="rId5"/>
          <a:srcRect l="0" r="0" t="0" b="0"/>
          <a:stretch/>
        </p:blipFill>
        <p:spPr>
          <a:xfrm>
            <a:off x="4624884" y="3205361"/>
            <a:ext cx="228600" cy="228600"/>
          </a:xfrm>
          <a:prstGeom prst="rect">
            <a:avLst/>
          </a:prstGeom>
        </p:spPr>
      </p:pic>
      <p:sp>
        <p:nvSpPr>
          <p:cNvPr id="27" name="Text 20"/>
          <p:cNvSpPr/>
          <p:nvPr/>
        </p:nvSpPr>
        <p:spPr>
          <a:xfrm>
            <a:off x="5069384" y="2978051"/>
            <a:ext cx="266418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D3C4"/>
                </a:solidFill>
                <a:latin typeface="Archivo" pitchFamily="34" charset="0"/>
                <a:ea typeface="Archivo" pitchFamily="34" charset="-122"/>
                <a:cs typeface="Archivo" pitchFamily="34" charset="-120"/>
              </a:rPr>
              <a:t>P5</a:t>
            </a:r>
            <a:endParaRPr lang="en-US" sz="1200" dirty="0"/>
          </a:p>
        </p:txBody>
      </p:sp>
      <p:sp>
        <p:nvSpPr>
          <p:cNvPr id="28" name="Text 21"/>
          <p:cNvSpPr/>
          <p:nvPr/>
        </p:nvSpPr>
        <p:spPr>
          <a:xfrm>
            <a:off x="5069384" y="3216771"/>
            <a:ext cx="2664181"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2F4F7"/>
                </a:solidFill>
                <a:latin typeface="Manrope" pitchFamily="34" charset="0"/>
                <a:ea typeface="Manrope" pitchFamily="34" charset="-122"/>
                <a:cs typeface="Manrope" pitchFamily="34" charset="-120"/>
              </a:rPr>
              <a:t>A failed check is never called a spoof</a:t>
            </a:r>
            <a:endParaRPr lang="en-US" sz="1400" dirty="0"/>
          </a:p>
        </p:txBody>
      </p:sp>
      <p:sp>
        <p:nvSpPr>
          <p:cNvPr id="29" name="Shape 22"/>
          <p:cNvSpPr/>
          <p:nvPr/>
        </p:nvSpPr>
        <p:spPr>
          <a:xfrm>
            <a:off x="7944892" y="2847876"/>
            <a:ext cx="3431084" cy="943570"/>
          </a:xfrm>
          <a:prstGeom prst="roundRect">
            <a:avLst>
              <a:gd name="adj" fmla="val 7739"/>
            </a:avLst>
          </a:prstGeom>
          <a:solidFill>
            <a:srgbClr val="0B1018"/>
          </a:solidFill>
          <a:ln w="6350">
            <a:solidFill>
              <a:srgbClr val="1C2532"/>
            </a:solidFill>
            <a:prstDash val="solid"/>
          </a:ln>
        </p:spPr>
      </p:sp>
      <p:sp>
        <p:nvSpPr>
          <p:cNvPr id="30" name="Shape 23"/>
          <p:cNvSpPr/>
          <p:nvPr/>
        </p:nvSpPr>
        <p:spPr>
          <a:xfrm>
            <a:off x="8103642" y="3119636"/>
            <a:ext cx="400050" cy="400050"/>
          </a:xfrm>
          <a:prstGeom prst="roundRect">
            <a:avLst>
              <a:gd name="adj" fmla="val 18254"/>
            </a:avLst>
          </a:prstGeom>
          <a:solidFill>
            <a:srgbClr val="0E1E21"/>
          </a:solidFill>
          <a:ln w="6350">
            <a:solidFill>
              <a:srgbClr val="1F3E3E"/>
            </a:solidFill>
            <a:prstDash val="solid"/>
          </a:ln>
        </p:spPr>
      </p:sp>
      <p:pic>
        <p:nvPicPr>
          <p:cNvPr id="31" name="Image 5" descr="Code">    </p:cNvPr>
          <p:cNvPicPr>
            <a:picLocks noChangeAspect="1"/>
          </p:cNvPicPr>
          <p:nvPr/>
        </p:nvPicPr>
        <p:blipFill>
          <a:blip r:embed="rId6"/>
          <a:srcRect l="0" r="0" t="0" b="0"/>
          <a:stretch/>
        </p:blipFill>
        <p:spPr>
          <a:xfrm>
            <a:off x="8189367" y="3205361"/>
            <a:ext cx="228600" cy="228600"/>
          </a:xfrm>
          <a:prstGeom prst="rect">
            <a:avLst/>
          </a:prstGeom>
        </p:spPr>
      </p:pic>
      <p:sp>
        <p:nvSpPr>
          <p:cNvPr id="32" name="Text 24"/>
          <p:cNvSpPr/>
          <p:nvPr/>
        </p:nvSpPr>
        <p:spPr>
          <a:xfrm>
            <a:off x="8633867" y="2978051"/>
            <a:ext cx="266413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D3C4"/>
                </a:solidFill>
                <a:latin typeface="Archivo" pitchFamily="34" charset="0"/>
                <a:ea typeface="Archivo" pitchFamily="34" charset="-122"/>
                <a:cs typeface="Archivo" pitchFamily="34" charset="-120"/>
              </a:rPr>
              <a:t>P6</a:t>
            </a:r>
            <a:endParaRPr lang="en-US" sz="1200" dirty="0"/>
          </a:p>
        </p:txBody>
      </p:sp>
      <p:sp>
        <p:nvSpPr>
          <p:cNvPr id="33" name="Text 25"/>
          <p:cNvSpPr/>
          <p:nvPr/>
        </p:nvSpPr>
        <p:spPr>
          <a:xfrm>
            <a:off x="8633867" y="3216771"/>
            <a:ext cx="266413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2F4F7"/>
                </a:solidFill>
                <a:latin typeface="Manrope" pitchFamily="34" charset="0"/>
                <a:ea typeface="Manrope" pitchFamily="34" charset="-122"/>
                <a:cs typeface="Manrope" pitchFamily="34" charset="-120"/>
              </a:rPr>
              <a:t>Judgement compiled, contract open</a:t>
            </a:r>
            <a:endParaRPr lang="en-US" sz="1400" dirty="0"/>
          </a:p>
        </p:txBody>
      </p:sp>
      <p:sp>
        <p:nvSpPr>
          <p:cNvPr id="34" name="Shape 26"/>
          <p:cNvSpPr/>
          <p:nvPr/>
        </p:nvSpPr>
        <p:spPr>
          <a:xfrm>
            <a:off x="815975" y="3924796"/>
            <a:ext cx="3431084" cy="943570"/>
          </a:xfrm>
          <a:prstGeom prst="roundRect">
            <a:avLst>
              <a:gd name="adj" fmla="val 7739"/>
            </a:avLst>
          </a:prstGeom>
          <a:solidFill>
            <a:srgbClr val="0B1018"/>
          </a:solidFill>
          <a:ln w="6350">
            <a:solidFill>
              <a:srgbClr val="1C2532"/>
            </a:solidFill>
            <a:prstDash val="solid"/>
          </a:ln>
        </p:spPr>
      </p:sp>
      <p:sp>
        <p:nvSpPr>
          <p:cNvPr id="35" name="Shape 27"/>
          <p:cNvSpPr/>
          <p:nvPr/>
        </p:nvSpPr>
        <p:spPr>
          <a:xfrm>
            <a:off x="974725" y="4196556"/>
            <a:ext cx="400050" cy="400050"/>
          </a:xfrm>
          <a:prstGeom prst="roundRect">
            <a:avLst>
              <a:gd name="adj" fmla="val 18254"/>
            </a:avLst>
          </a:prstGeom>
          <a:solidFill>
            <a:srgbClr val="0E1E21"/>
          </a:solidFill>
          <a:ln w="6350">
            <a:solidFill>
              <a:srgbClr val="1F3E3E"/>
            </a:solidFill>
            <a:prstDash val="solid"/>
          </a:ln>
        </p:spPr>
      </p:sp>
      <p:pic>
        <p:nvPicPr>
          <p:cNvPr id="36" name="Image 6" descr="Book">    </p:cNvPr>
          <p:cNvPicPr>
            <a:picLocks noChangeAspect="1"/>
          </p:cNvPicPr>
          <p:nvPr/>
        </p:nvPicPr>
        <p:blipFill>
          <a:blip r:embed="rId7"/>
          <a:srcRect l="0" r="0" t="0" b="0"/>
          <a:stretch/>
        </p:blipFill>
        <p:spPr>
          <a:xfrm>
            <a:off x="1060450" y="4282281"/>
            <a:ext cx="228600" cy="228600"/>
          </a:xfrm>
          <a:prstGeom prst="rect">
            <a:avLst/>
          </a:prstGeom>
        </p:spPr>
      </p:pic>
      <p:sp>
        <p:nvSpPr>
          <p:cNvPr id="37" name="Text 28"/>
          <p:cNvSpPr/>
          <p:nvPr/>
        </p:nvSpPr>
        <p:spPr>
          <a:xfrm>
            <a:off x="1504950" y="4054971"/>
            <a:ext cx="266413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D3C4"/>
                </a:solidFill>
                <a:latin typeface="Archivo" pitchFamily="34" charset="0"/>
                <a:ea typeface="Archivo" pitchFamily="34" charset="-122"/>
                <a:cs typeface="Archivo" pitchFamily="34" charset="-120"/>
              </a:rPr>
              <a:t>P7</a:t>
            </a:r>
            <a:endParaRPr lang="en-US" sz="1200" dirty="0"/>
          </a:p>
        </p:txBody>
      </p:sp>
      <p:sp>
        <p:nvSpPr>
          <p:cNvPr id="38" name="Text 29"/>
          <p:cNvSpPr/>
          <p:nvPr/>
        </p:nvSpPr>
        <p:spPr>
          <a:xfrm>
            <a:off x="1504950" y="4293691"/>
            <a:ext cx="266413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2F4F7"/>
                </a:solidFill>
                <a:latin typeface="Manrope" pitchFamily="34" charset="0"/>
                <a:ea typeface="Manrope" pitchFamily="34" charset="-122"/>
                <a:cs typeface="Manrope" pitchFamily="34" charset="-120"/>
              </a:rPr>
              <a:t>Never write a recorder’s configuration</a:t>
            </a:r>
            <a:endParaRPr lang="en-US" sz="1400" dirty="0"/>
          </a:p>
        </p:txBody>
      </p:sp>
      <p:sp>
        <p:nvSpPr>
          <p:cNvPr id="39" name="Shape 30"/>
          <p:cNvSpPr/>
          <p:nvPr/>
        </p:nvSpPr>
        <p:spPr>
          <a:xfrm>
            <a:off x="4380409" y="3924796"/>
            <a:ext cx="3431133" cy="943570"/>
          </a:xfrm>
          <a:prstGeom prst="roundRect">
            <a:avLst>
              <a:gd name="adj" fmla="val 7739"/>
            </a:avLst>
          </a:prstGeom>
          <a:solidFill>
            <a:srgbClr val="0B1018"/>
          </a:solidFill>
          <a:ln w="6350">
            <a:solidFill>
              <a:srgbClr val="1C2532"/>
            </a:solidFill>
            <a:prstDash val="solid"/>
          </a:ln>
        </p:spPr>
      </p:sp>
      <p:sp>
        <p:nvSpPr>
          <p:cNvPr id="40" name="Shape 31"/>
          <p:cNvSpPr/>
          <p:nvPr/>
        </p:nvSpPr>
        <p:spPr>
          <a:xfrm>
            <a:off x="4539159" y="4196556"/>
            <a:ext cx="400050" cy="400050"/>
          </a:xfrm>
          <a:prstGeom prst="roundRect">
            <a:avLst>
              <a:gd name="adj" fmla="val 18254"/>
            </a:avLst>
          </a:prstGeom>
          <a:solidFill>
            <a:srgbClr val="0E1E21"/>
          </a:solidFill>
          <a:ln w="6350">
            <a:solidFill>
              <a:srgbClr val="1F3E3E"/>
            </a:solidFill>
            <a:prstDash val="solid"/>
          </a:ln>
        </p:spPr>
      </p:sp>
      <p:pic>
        <p:nvPicPr>
          <p:cNvPr id="41" name="Image 7" descr="Lock">    </p:cNvPr>
          <p:cNvPicPr>
            <a:picLocks noChangeAspect="1"/>
          </p:cNvPicPr>
          <p:nvPr/>
        </p:nvPicPr>
        <p:blipFill>
          <a:blip r:embed="rId8"/>
          <a:srcRect l="0" r="0" t="0" b="0"/>
          <a:stretch/>
        </p:blipFill>
        <p:spPr>
          <a:xfrm>
            <a:off x="4624884" y="4282281"/>
            <a:ext cx="228600" cy="228600"/>
          </a:xfrm>
          <a:prstGeom prst="rect">
            <a:avLst/>
          </a:prstGeom>
        </p:spPr>
      </p:pic>
      <p:sp>
        <p:nvSpPr>
          <p:cNvPr id="42" name="Text 32"/>
          <p:cNvSpPr/>
          <p:nvPr/>
        </p:nvSpPr>
        <p:spPr>
          <a:xfrm>
            <a:off x="5069384" y="4054971"/>
            <a:ext cx="266418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D3C4"/>
                </a:solidFill>
                <a:latin typeface="Archivo" pitchFamily="34" charset="0"/>
                <a:ea typeface="Archivo" pitchFamily="34" charset="-122"/>
                <a:cs typeface="Archivo" pitchFamily="34" charset="-120"/>
              </a:rPr>
              <a:t>P8</a:t>
            </a:r>
            <a:endParaRPr lang="en-US" sz="1200" dirty="0"/>
          </a:p>
        </p:txBody>
      </p:sp>
      <p:sp>
        <p:nvSpPr>
          <p:cNvPr id="43" name="Text 33"/>
          <p:cNvSpPr/>
          <p:nvPr/>
        </p:nvSpPr>
        <p:spPr>
          <a:xfrm>
            <a:off x="5069384" y="4293691"/>
            <a:ext cx="2664181"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2F4F7"/>
                </a:solidFill>
                <a:latin typeface="Manrope" pitchFamily="34" charset="0"/>
                <a:ea typeface="Manrope" pitchFamily="34" charset="-122"/>
                <a:cs typeface="Manrope" pitchFamily="34" charset="-120"/>
              </a:rPr>
              <a:t>Faces, plates and keys never leave the box</a:t>
            </a:r>
            <a:endParaRPr lang="en-US" sz="1400" dirty="0"/>
          </a:p>
        </p:txBody>
      </p:sp>
      <p:sp>
        <p:nvSpPr>
          <p:cNvPr id="44" name="Shape 34"/>
          <p:cNvSpPr/>
          <p:nvPr/>
        </p:nvSpPr>
        <p:spPr>
          <a:xfrm>
            <a:off x="7944892" y="3924796"/>
            <a:ext cx="3431084" cy="943570"/>
          </a:xfrm>
          <a:prstGeom prst="roundRect">
            <a:avLst>
              <a:gd name="adj" fmla="val 7739"/>
            </a:avLst>
          </a:prstGeom>
          <a:solidFill>
            <a:srgbClr val="0B1018"/>
          </a:solidFill>
          <a:ln w="6350">
            <a:solidFill>
              <a:srgbClr val="1C2532"/>
            </a:solidFill>
            <a:prstDash val="solid"/>
          </a:ln>
        </p:spPr>
      </p:sp>
      <p:sp>
        <p:nvSpPr>
          <p:cNvPr id="45" name="Shape 35"/>
          <p:cNvSpPr/>
          <p:nvPr/>
        </p:nvSpPr>
        <p:spPr>
          <a:xfrm>
            <a:off x="8103642" y="4196556"/>
            <a:ext cx="400050" cy="400050"/>
          </a:xfrm>
          <a:prstGeom prst="roundRect">
            <a:avLst>
              <a:gd name="adj" fmla="val 18254"/>
            </a:avLst>
          </a:prstGeom>
          <a:solidFill>
            <a:srgbClr val="0E1E21"/>
          </a:solidFill>
          <a:ln w="6350">
            <a:solidFill>
              <a:srgbClr val="1F3E3E"/>
            </a:solidFill>
            <a:prstDash val="solid"/>
          </a:ln>
        </p:spPr>
      </p:sp>
      <p:pic>
        <p:nvPicPr>
          <p:cNvPr id="46" name="Image 8" descr="Users">    </p:cNvPr>
          <p:cNvPicPr>
            <a:picLocks noChangeAspect="1"/>
          </p:cNvPicPr>
          <p:nvPr/>
        </p:nvPicPr>
        <p:blipFill>
          <a:blip r:embed="rId9"/>
          <a:srcRect l="0" r="0" t="0" b="0"/>
          <a:stretch/>
        </p:blipFill>
        <p:spPr>
          <a:xfrm>
            <a:off x="8189367" y="4282281"/>
            <a:ext cx="228600" cy="228600"/>
          </a:xfrm>
          <a:prstGeom prst="rect">
            <a:avLst/>
          </a:prstGeom>
        </p:spPr>
      </p:pic>
      <p:sp>
        <p:nvSpPr>
          <p:cNvPr id="47" name="Text 36"/>
          <p:cNvSpPr/>
          <p:nvPr/>
        </p:nvSpPr>
        <p:spPr>
          <a:xfrm>
            <a:off x="8633867" y="4054971"/>
            <a:ext cx="266413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D3C4"/>
                </a:solidFill>
                <a:latin typeface="Archivo" pitchFamily="34" charset="0"/>
                <a:ea typeface="Archivo" pitchFamily="34" charset="-122"/>
                <a:cs typeface="Archivo" pitchFamily="34" charset="-120"/>
              </a:rPr>
              <a:t>P9</a:t>
            </a:r>
            <a:endParaRPr lang="en-US" sz="1200" dirty="0"/>
          </a:p>
        </p:txBody>
      </p:sp>
      <p:sp>
        <p:nvSpPr>
          <p:cNvPr id="48" name="Text 37"/>
          <p:cNvSpPr/>
          <p:nvPr/>
        </p:nvSpPr>
        <p:spPr>
          <a:xfrm>
            <a:off x="8633867" y="4293691"/>
            <a:ext cx="266413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2F4F7"/>
                </a:solidFill>
                <a:latin typeface="Manrope" pitchFamily="34" charset="0"/>
                <a:ea typeface="Manrope" pitchFamily="34" charset="-122"/>
                <a:cs typeface="Manrope" pitchFamily="34" charset="-120"/>
              </a:rPr>
              <a:t>The same command center as ASTRA</a:t>
            </a:r>
            <a:endParaRPr lang="en-US" sz="1400" dirty="0"/>
          </a:p>
        </p:txBody>
      </p:sp>
      <p:sp>
        <p:nvSpPr>
          <p:cNvPr id="49" name="Text 3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PRISM · Source: product-principles.md · Stated by the user: P1, P6, P8, P9 · Held by the code, to confirm: P2–P5, P7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1 · WHY PRISM</a:t>
            </a:r>
            <a:endParaRPr lang="en-US" sz="1200" dirty="0"/>
          </a:p>
        </p:txBody>
      </p:sp>
      <p:sp>
        <p:nvSpPr>
          <p:cNvPr id="3" name="Text 1"/>
          <p:cNvSpPr/>
          <p:nvPr>
            <p:ph type="title"/>
          </p:nvPr>
        </p:nvSpPr>
        <p:spPr>
          <a:xfrm>
            <a:off x="812800" y="1229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FOUR CHOICES, </a:t>
            </a:r>
            <a:r>
              <a:rPr lang="en-US" sz="2400" b="1" i="0" spc="150" kern="0" dirty="0">
                <a:solidFill>
                  <a:srgbClr val="5FD3C4"/>
                </a:solidFill>
                <a:latin typeface="Archivo" pitchFamily="34" charset="0"/>
                <a:ea typeface="Archivo" pitchFamily="34" charset="-122"/>
                <a:cs typeface="Archivo" pitchFamily="34" charset="-120"/>
              </a:rPr>
              <a:t>AND WHAT EACH COSTS</a:t>
            </a:r>
            <a:endParaRPr lang="en-US" sz="2400" dirty="0"/>
          </a:p>
        </p:txBody>
      </p:sp>
      <p:sp>
        <p:nvSpPr>
          <p:cNvPr id="4" name="Shape 2"/>
          <p:cNvSpPr/>
          <p:nvPr/>
        </p:nvSpPr>
        <p:spPr>
          <a:xfrm>
            <a:off x="815975" y="1770955"/>
            <a:ext cx="5200650" cy="1448991"/>
          </a:xfrm>
          <a:prstGeom prst="roundRect">
            <a:avLst>
              <a:gd name="adj" fmla="val 5040"/>
            </a:avLst>
          </a:prstGeom>
          <a:solidFill>
            <a:srgbClr val="0B1018"/>
          </a:solidFill>
          <a:ln w="6350">
            <a:solidFill>
              <a:srgbClr val="1C2532"/>
            </a:solidFill>
            <a:prstDash val="solid"/>
          </a:ln>
        </p:spPr>
      </p:sp>
      <p:sp>
        <p:nvSpPr>
          <p:cNvPr id="5" name="Shape 3"/>
          <p:cNvSpPr/>
          <p:nvPr/>
        </p:nvSpPr>
        <p:spPr>
          <a:xfrm>
            <a:off x="1025525" y="1980505"/>
            <a:ext cx="400050" cy="400050"/>
          </a:xfrm>
          <a:prstGeom prst="roundRect">
            <a:avLst>
              <a:gd name="adj" fmla="val 18254"/>
            </a:avLst>
          </a:prstGeom>
          <a:solidFill>
            <a:srgbClr val="0E1E21"/>
          </a:solidFill>
          <a:ln w="6350">
            <a:solidFill>
              <a:srgbClr val="1F3E3E"/>
            </a:solidFill>
            <a:prstDash val="solid"/>
          </a:ln>
        </p:spPr>
      </p:sp>
      <p:pic>
        <p:nvPicPr>
          <p:cNvPr id="6" name="Image 0" descr="Home">    </p:cNvPr>
          <p:cNvPicPr>
            <a:picLocks noChangeAspect="1"/>
          </p:cNvPicPr>
          <p:nvPr/>
        </p:nvPicPr>
        <p:blipFill>
          <a:blip r:embed="rId1"/>
          <a:srcRect l="0" r="0" t="0" b="0"/>
          <a:stretch/>
        </p:blipFill>
        <p:spPr>
          <a:xfrm>
            <a:off x="1111250" y="2066230"/>
            <a:ext cx="228600" cy="228600"/>
          </a:xfrm>
          <a:prstGeom prst="rect">
            <a:avLst/>
          </a:prstGeom>
        </p:spPr>
      </p:pic>
      <p:sp>
        <p:nvSpPr>
          <p:cNvPr id="7" name="Text 4"/>
          <p:cNvSpPr/>
          <p:nvPr/>
        </p:nvSpPr>
        <p:spPr>
          <a:xfrm>
            <a:off x="1555750" y="2058591"/>
            <a:ext cx="293197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One box on site, one GPU</a:t>
            </a:r>
            <a:endParaRPr lang="en-US" sz="1600" dirty="0"/>
          </a:p>
        </p:txBody>
      </p:sp>
      <p:pic>
        <p:nvPicPr>
          <p:cNvPr id="8" name="Image 1" descr="CheckCircle">    </p:cNvPr>
          <p:cNvPicPr>
            <a:picLocks noChangeAspect="1"/>
          </p:cNvPicPr>
          <p:nvPr/>
        </p:nvPicPr>
        <p:blipFill>
          <a:blip r:embed="rId2"/>
          <a:srcRect l="0" r="0" t="0" b="0"/>
          <a:stretch/>
        </p:blipFill>
        <p:spPr>
          <a:xfrm>
            <a:off x="1022350" y="2503091"/>
            <a:ext cx="177800" cy="177800"/>
          </a:xfrm>
          <a:prstGeom prst="rect">
            <a:avLst/>
          </a:prstGeom>
        </p:spPr>
      </p:pic>
      <p:sp>
        <p:nvSpPr>
          <p:cNvPr id="9" name="Text 5"/>
          <p:cNvSpPr/>
          <p:nvPr/>
        </p:nvSpPr>
        <p:spPr>
          <a:xfrm>
            <a:off x="1289050" y="2485330"/>
            <a:ext cx="44744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Data stays on site; the cost of a site is known upfront.</a:t>
            </a:r>
            <a:endParaRPr lang="en-US" sz="1200" dirty="0"/>
          </a:p>
        </p:txBody>
      </p:sp>
      <p:pic>
        <p:nvPicPr>
          <p:cNvPr id="10" name="Image 2" descr="Warning">    </p:cNvPr>
          <p:cNvPicPr>
            <a:picLocks noChangeAspect="1"/>
          </p:cNvPicPr>
          <p:nvPr/>
        </p:nvPicPr>
        <p:blipFill>
          <a:blip r:embed="rId3"/>
          <a:srcRect l="0" r="0" t="0" b="0"/>
          <a:stretch/>
        </p:blipFill>
        <p:spPr>
          <a:xfrm>
            <a:off x="1022350" y="2818011"/>
            <a:ext cx="177800" cy="177800"/>
          </a:xfrm>
          <a:prstGeom prst="rect">
            <a:avLst/>
          </a:prstGeom>
        </p:spPr>
      </p:pic>
      <p:sp>
        <p:nvSpPr>
          <p:cNvPr id="11" name="Text 6"/>
          <p:cNvSpPr/>
          <p:nvPr/>
        </p:nvSpPr>
        <p:spPr>
          <a:xfrm>
            <a:off x="1289050" y="2800251"/>
            <a:ext cx="46557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GPU memory caps cameras, and every feature shares it.</a:t>
            </a:r>
            <a:endParaRPr lang="en-US" sz="1200" dirty="0"/>
          </a:p>
        </p:txBody>
      </p:sp>
      <p:sp>
        <p:nvSpPr>
          <p:cNvPr id="12" name="Shape 7"/>
          <p:cNvSpPr/>
          <p:nvPr/>
        </p:nvSpPr>
        <p:spPr>
          <a:xfrm>
            <a:off x="6175375" y="1770955"/>
            <a:ext cx="5200650" cy="1448991"/>
          </a:xfrm>
          <a:prstGeom prst="roundRect">
            <a:avLst>
              <a:gd name="adj" fmla="val 5040"/>
            </a:avLst>
          </a:prstGeom>
          <a:solidFill>
            <a:srgbClr val="0B1018"/>
          </a:solidFill>
          <a:ln w="6350">
            <a:solidFill>
              <a:srgbClr val="1C2532"/>
            </a:solidFill>
            <a:prstDash val="solid"/>
          </a:ln>
        </p:spPr>
      </p:sp>
      <p:sp>
        <p:nvSpPr>
          <p:cNvPr id="13" name="Shape 8"/>
          <p:cNvSpPr/>
          <p:nvPr/>
        </p:nvSpPr>
        <p:spPr>
          <a:xfrm>
            <a:off x="6384925" y="1980505"/>
            <a:ext cx="400050" cy="400050"/>
          </a:xfrm>
          <a:prstGeom prst="roundRect">
            <a:avLst>
              <a:gd name="adj" fmla="val 18254"/>
            </a:avLst>
          </a:prstGeom>
          <a:solidFill>
            <a:srgbClr val="0E1E21"/>
          </a:solidFill>
          <a:ln w="6350">
            <a:solidFill>
              <a:srgbClr val="1F3E3E"/>
            </a:solidFill>
            <a:prstDash val="solid"/>
          </a:ln>
        </p:spPr>
      </p:sp>
      <p:pic>
        <p:nvPicPr>
          <p:cNvPr id="14" name="Image 3" descr="Settings">    </p:cNvPr>
          <p:cNvPicPr>
            <a:picLocks noChangeAspect="1"/>
          </p:cNvPicPr>
          <p:nvPr/>
        </p:nvPicPr>
        <p:blipFill>
          <a:blip r:embed="rId4"/>
          <a:srcRect l="0" r="0" t="0" b="0"/>
          <a:stretch/>
        </p:blipFill>
        <p:spPr>
          <a:xfrm>
            <a:off x="6470650" y="2066230"/>
            <a:ext cx="228600" cy="228600"/>
          </a:xfrm>
          <a:prstGeom prst="rect">
            <a:avLst/>
          </a:prstGeom>
        </p:spPr>
      </p:pic>
      <p:sp>
        <p:nvSpPr>
          <p:cNvPr id="15" name="Text 9"/>
          <p:cNvSpPr/>
          <p:nvPr/>
        </p:nvSpPr>
        <p:spPr>
          <a:xfrm>
            <a:off x="6915150" y="2058591"/>
            <a:ext cx="308246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AI switched on per camera</a:t>
            </a:r>
            <a:endParaRPr lang="en-US" sz="1600" dirty="0"/>
          </a:p>
        </p:txBody>
      </p:sp>
      <p:pic>
        <p:nvPicPr>
          <p:cNvPr id="16" name="Image 4" descr="CheckCircle">    </p:cNvPr>
          <p:cNvPicPr>
            <a:picLocks noChangeAspect="1"/>
          </p:cNvPicPr>
          <p:nvPr/>
        </p:nvPicPr>
        <p:blipFill>
          <a:blip r:embed="rId5"/>
          <a:srcRect l="0" r="0" t="0" b="0"/>
          <a:stretch/>
        </p:blipFill>
        <p:spPr>
          <a:xfrm>
            <a:off x="6381750" y="2503091"/>
            <a:ext cx="177800" cy="177800"/>
          </a:xfrm>
          <a:prstGeom prst="rect">
            <a:avLst/>
          </a:prstGeom>
        </p:spPr>
      </p:pic>
      <p:sp>
        <p:nvSpPr>
          <p:cNvPr id="17" name="Text 10"/>
          <p:cNvSpPr/>
          <p:nvPr/>
        </p:nvSpPr>
        <p:spPr>
          <a:xfrm>
            <a:off x="6648450" y="2485330"/>
            <a:ext cx="4724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No GPU cost until someone asks for AI; all cameras recorded.</a:t>
            </a:r>
            <a:endParaRPr lang="en-US" sz="1200" dirty="0"/>
          </a:p>
        </p:txBody>
      </p:sp>
      <p:pic>
        <p:nvPicPr>
          <p:cNvPr id="18" name="Image 5" descr="Warning">    </p:cNvPr>
          <p:cNvPicPr>
            <a:picLocks noChangeAspect="1"/>
          </p:cNvPicPr>
          <p:nvPr/>
        </p:nvPicPr>
        <p:blipFill>
          <a:blip r:embed="rId6"/>
          <a:srcRect l="0" r="0" t="0" b="0"/>
          <a:stretch/>
        </p:blipFill>
        <p:spPr>
          <a:xfrm>
            <a:off x="6381750" y="2818011"/>
            <a:ext cx="177800" cy="177800"/>
          </a:xfrm>
          <a:prstGeom prst="rect">
            <a:avLst/>
          </a:prstGeom>
        </p:spPr>
      </p:pic>
      <p:sp>
        <p:nvSpPr>
          <p:cNvPr id="19" name="Text 11"/>
          <p:cNvSpPr/>
          <p:nvPr/>
        </p:nvSpPr>
        <p:spPr>
          <a:xfrm>
            <a:off x="6648450" y="2800251"/>
            <a:ext cx="38604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Every change is priced first; some are refused.</a:t>
            </a:r>
            <a:endParaRPr lang="en-US" sz="1200" dirty="0"/>
          </a:p>
        </p:txBody>
      </p:sp>
      <p:sp>
        <p:nvSpPr>
          <p:cNvPr id="20" name="Shape 12"/>
          <p:cNvSpPr/>
          <p:nvPr/>
        </p:nvSpPr>
        <p:spPr>
          <a:xfrm>
            <a:off x="815975" y="3378696"/>
            <a:ext cx="5200650" cy="1448991"/>
          </a:xfrm>
          <a:prstGeom prst="roundRect">
            <a:avLst>
              <a:gd name="adj" fmla="val 5040"/>
            </a:avLst>
          </a:prstGeom>
          <a:solidFill>
            <a:srgbClr val="0B1018"/>
          </a:solidFill>
          <a:ln w="6350">
            <a:solidFill>
              <a:srgbClr val="1C2532"/>
            </a:solidFill>
            <a:prstDash val="solid"/>
          </a:ln>
        </p:spPr>
      </p:sp>
      <p:sp>
        <p:nvSpPr>
          <p:cNvPr id="21" name="Shape 13"/>
          <p:cNvSpPr/>
          <p:nvPr/>
        </p:nvSpPr>
        <p:spPr>
          <a:xfrm>
            <a:off x="1025525" y="3588246"/>
            <a:ext cx="400050" cy="400050"/>
          </a:xfrm>
          <a:prstGeom prst="roundRect">
            <a:avLst>
              <a:gd name="adj" fmla="val 18254"/>
            </a:avLst>
          </a:prstGeom>
          <a:solidFill>
            <a:srgbClr val="0E1E21"/>
          </a:solidFill>
          <a:ln w="6350">
            <a:solidFill>
              <a:srgbClr val="1F3E3E"/>
            </a:solidFill>
            <a:prstDash val="solid"/>
          </a:ln>
        </p:spPr>
      </p:sp>
      <p:pic>
        <p:nvPicPr>
          <p:cNvPr id="22" name="Image 6" descr="Users">    </p:cNvPr>
          <p:cNvPicPr>
            <a:picLocks noChangeAspect="1"/>
          </p:cNvPicPr>
          <p:nvPr/>
        </p:nvPicPr>
        <p:blipFill>
          <a:blip r:embed="rId7"/>
          <a:srcRect l="0" r="0" t="0" b="0"/>
          <a:stretch/>
        </p:blipFill>
        <p:spPr>
          <a:xfrm>
            <a:off x="1111250" y="3673971"/>
            <a:ext cx="228600" cy="228600"/>
          </a:xfrm>
          <a:prstGeom prst="rect">
            <a:avLst/>
          </a:prstGeom>
        </p:spPr>
      </p:pic>
      <p:sp>
        <p:nvSpPr>
          <p:cNvPr id="23" name="Text 14"/>
          <p:cNvSpPr/>
          <p:nvPr/>
        </p:nvSpPr>
        <p:spPr>
          <a:xfrm>
            <a:off x="1555750" y="3666331"/>
            <a:ext cx="300948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People decide who is who</a:t>
            </a:r>
            <a:endParaRPr lang="en-US" sz="1600" dirty="0"/>
          </a:p>
        </p:txBody>
      </p:sp>
      <p:pic>
        <p:nvPicPr>
          <p:cNvPr id="24" name="Image 7" descr="CheckCircle">    </p:cNvPr>
          <p:cNvPicPr>
            <a:picLocks noChangeAspect="1"/>
          </p:cNvPicPr>
          <p:nvPr/>
        </p:nvPicPr>
        <p:blipFill>
          <a:blip r:embed="rId8"/>
          <a:srcRect l="0" r="0" t="0" b="0"/>
          <a:stretch/>
        </p:blipFill>
        <p:spPr>
          <a:xfrm>
            <a:off x="1022350" y="4110831"/>
            <a:ext cx="177800" cy="177800"/>
          </a:xfrm>
          <a:prstGeom prst="rect">
            <a:avLst/>
          </a:prstGeom>
        </p:spPr>
      </p:pic>
      <p:sp>
        <p:nvSpPr>
          <p:cNvPr id="25" name="Text 15"/>
          <p:cNvSpPr/>
          <p:nvPr/>
        </p:nvSpPr>
        <p:spPr>
          <a:xfrm>
            <a:off x="1289050" y="4093071"/>
            <a:ext cx="43400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The system enrols and groups; an operator decides.</a:t>
            </a:r>
            <a:endParaRPr lang="en-US" sz="1200" dirty="0"/>
          </a:p>
        </p:txBody>
      </p:sp>
      <p:pic>
        <p:nvPicPr>
          <p:cNvPr id="26" name="Image 8" descr="Warning">    </p:cNvPr>
          <p:cNvPicPr>
            <a:picLocks noChangeAspect="1"/>
          </p:cNvPicPr>
          <p:nvPr/>
        </p:nvPicPr>
        <p:blipFill>
          <a:blip r:embed="rId9"/>
          <a:srcRect l="0" r="0" t="0" b="0"/>
          <a:stretch/>
        </p:blipFill>
        <p:spPr>
          <a:xfrm>
            <a:off x="1022350" y="4425752"/>
            <a:ext cx="177800" cy="177800"/>
          </a:xfrm>
          <a:prstGeom prst="rect">
            <a:avLst/>
          </a:prstGeom>
        </p:spPr>
      </p:pic>
      <p:sp>
        <p:nvSpPr>
          <p:cNvPr id="27" name="Text 16"/>
          <p:cNvSpPr/>
          <p:nvPr/>
        </p:nvSpPr>
        <p:spPr>
          <a:xfrm>
            <a:off x="1289050" y="4407991"/>
            <a:ext cx="45753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Review work, and no cross-camera identity for objects.</a:t>
            </a:r>
            <a:endParaRPr lang="en-US" sz="1200" dirty="0"/>
          </a:p>
        </p:txBody>
      </p:sp>
      <p:sp>
        <p:nvSpPr>
          <p:cNvPr id="28" name="Shape 17"/>
          <p:cNvSpPr/>
          <p:nvPr/>
        </p:nvSpPr>
        <p:spPr>
          <a:xfrm>
            <a:off x="6175375" y="3378696"/>
            <a:ext cx="5200650" cy="1448991"/>
          </a:xfrm>
          <a:prstGeom prst="roundRect">
            <a:avLst>
              <a:gd name="adj" fmla="val 5040"/>
            </a:avLst>
          </a:prstGeom>
          <a:solidFill>
            <a:srgbClr val="0B1018"/>
          </a:solidFill>
          <a:ln w="6350">
            <a:solidFill>
              <a:srgbClr val="1C2532"/>
            </a:solidFill>
            <a:prstDash val="solid"/>
          </a:ln>
        </p:spPr>
      </p:sp>
      <p:sp>
        <p:nvSpPr>
          <p:cNvPr id="29" name="Shape 18"/>
          <p:cNvSpPr/>
          <p:nvPr/>
        </p:nvSpPr>
        <p:spPr>
          <a:xfrm>
            <a:off x="6384925" y="3588246"/>
            <a:ext cx="400050" cy="400050"/>
          </a:xfrm>
          <a:prstGeom prst="roundRect">
            <a:avLst>
              <a:gd name="adj" fmla="val 18254"/>
            </a:avLst>
          </a:prstGeom>
          <a:solidFill>
            <a:srgbClr val="0E1E21"/>
          </a:solidFill>
          <a:ln w="6350">
            <a:solidFill>
              <a:srgbClr val="1F3E3E"/>
            </a:solidFill>
            <a:prstDash val="solid"/>
          </a:ln>
        </p:spPr>
      </p:sp>
      <p:pic>
        <p:nvPicPr>
          <p:cNvPr id="30" name="Image 9" descr="Lock">    </p:cNvPr>
          <p:cNvPicPr>
            <a:picLocks noChangeAspect="1"/>
          </p:cNvPicPr>
          <p:nvPr/>
        </p:nvPicPr>
        <p:blipFill>
          <a:blip r:embed="rId10"/>
          <a:srcRect l="0" r="0" t="0" b="0"/>
          <a:stretch/>
        </p:blipFill>
        <p:spPr>
          <a:xfrm>
            <a:off x="6470650" y="3673971"/>
            <a:ext cx="228600" cy="228600"/>
          </a:xfrm>
          <a:prstGeom prst="rect">
            <a:avLst/>
          </a:prstGeom>
        </p:spPr>
      </p:pic>
      <p:sp>
        <p:nvSpPr>
          <p:cNvPr id="31" name="Text 19"/>
          <p:cNvSpPr/>
          <p:nvPr/>
        </p:nvSpPr>
        <p:spPr>
          <a:xfrm>
            <a:off x="6915150" y="3666331"/>
            <a:ext cx="254388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A half-closed product</a:t>
            </a:r>
            <a:endParaRPr lang="en-US" sz="1600" dirty="0"/>
          </a:p>
        </p:txBody>
      </p:sp>
      <p:pic>
        <p:nvPicPr>
          <p:cNvPr id="32" name="Image 10" descr="CheckCircle">    </p:cNvPr>
          <p:cNvPicPr>
            <a:picLocks noChangeAspect="1"/>
          </p:cNvPicPr>
          <p:nvPr/>
        </p:nvPicPr>
        <p:blipFill>
          <a:blip r:embed="rId11"/>
          <a:srcRect l="0" r="0" t="0" b="0"/>
          <a:stretch/>
        </p:blipFill>
        <p:spPr>
          <a:xfrm>
            <a:off x="6381750" y="4110831"/>
            <a:ext cx="177800" cy="177800"/>
          </a:xfrm>
          <a:prstGeom prst="rect">
            <a:avLst/>
          </a:prstGeom>
        </p:spPr>
      </p:pic>
      <p:sp>
        <p:nvSpPr>
          <p:cNvPr id="33" name="Text 20"/>
          <p:cNvSpPr/>
          <p:nvPr/>
        </p:nvSpPr>
        <p:spPr>
          <a:xfrm>
            <a:off x="6648450" y="4093071"/>
            <a:ext cx="39642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Our tuned logic is compiled; the API stays open.</a:t>
            </a:r>
            <a:endParaRPr lang="en-US" sz="1200" dirty="0"/>
          </a:p>
        </p:txBody>
      </p:sp>
      <p:pic>
        <p:nvPicPr>
          <p:cNvPr id="34" name="Image 11" descr="Warning">    </p:cNvPr>
          <p:cNvPicPr>
            <a:picLocks noChangeAspect="1"/>
          </p:cNvPicPr>
          <p:nvPr/>
        </p:nvPicPr>
        <p:blipFill>
          <a:blip r:embed="rId12"/>
          <a:srcRect l="0" r="0" t="0" b="0"/>
          <a:stretch/>
        </p:blipFill>
        <p:spPr>
          <a:xfrm>
            <a:off x="6381750" y="4425752"/>
            <a:ext cx="177800" cy="177800"/>
          </a:xfrm>
          <a:prstGeom prst="rect">
            <a:avLst/>
          </a:prstGeom>
        </p:spPr>
      </p:pic>
      <p:sp>
        <p:nvSpPr>
          <p:cNvPr id="35" name="Text 21"/>
          <p:cNvSpPr/>
          <p:nvPr/>
        </p:nvSpPr>
        <p:spPr>
          <a:xfrm>
            <a:off x="6648450" y="4407991"/>
            <a:ext cx="43931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Harder to debug, and no defence against a root user.</a:t>
            </a:r>
            <a:endParaRPr lang="en-US" sz="1200" dirty="0"/>
          </a:p>
        </p:txBody>
      </p:sp>
      <p:pic>
        <p:nvPicPr>
          <p:cNvPr id="36" name="Image 12" descr="CheckCircle">    </p:cNvPr>
          <p:cNvPicPr>
            <a:picLocks noChangeAspect="1"/>
          </p:cNvPicPr>
          <p:nvPr/>
        </p:nvPicPr>
        <p:blipFill>
          <a:blip r:embed="rId13"/>
          <a:srcRect l="0" r="0" t="0" b="0"/>
          <a:stretch/>
        </p:blipFill>
        <p:spPr>
          <a:xfrm>
            <a:off x="812800" y="5051822"/>
            <a:ext cx="177800" cy="177800"/>
          </a:xfrm>
          <a:prstGeom prst="rect">
            <a:avLst/>
          </a:prstGeom>
        </p:spPr>
      </p:pic>
      <p:sp>
        <p:nvSpPr>
          <p:cNvPr id="37" name="Text 22"/>
          <p:cNvSpPr/>
          <p:nvPr/>
        </p:nvSpPr>
        <p:spPr>
          <a:xfrm>
            <a:off x="1066800" y="5034062"/>
            <a:ext cx="11325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What we gain</a:t>
            </a:r>
            <a:endParaRPr lang="en-US" sz="1200" dirty="0"/>
          </a:p>
        </p:txBody>
      </p:sp>
      <p:pic>
        <p:nvPicPr>
          <p:cNvPr id="38" name="Image 13" descr="Warning">    </p:cNvPr>
          <p:cNvPicPr>
            <a:picLocks noChangeAspect="1"/>
          </p:cNvPicPr>
          <p:nvPr/>
        </p:nvPicPr>
        <p:blipFill>
          <a:blip r:embed="rId14"/>
          <a:srcRect l="0" r="0" t="0" b="0"/>
          <a:stretch/>
        </p:blipFill>
        <p:spPr>
          <a:xfrm>
            <a:off x="2213818" y="5051822"/>
            <a:ext cx="177800" cy="177800"/>
          </a:xfrm>
          <a:prstGeom prst="rect">
            <a:avLst/>
          </a:prstGeom>
        </p:spPr>
      </p:pic>
      <p:sp>
        <p:nvSpPr>
          <p:cNvPr id="39" name="Text 23"/>
          <p:cNvSpPr/>
          <p:nvPr/>
        </p:nvSpPr>
        <p:spPr>
          <a:xfrm>
            <a:off x="2467818" y="5034062"/>
            <a:ext cx="13560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What it costs us</a:t>
            </a:r>
            <a:endParaRPr lang="en-US" sz="1200" dirty="0"/>
          </a:p>
        </p:txBody>
      </p:sp>
      <p:sp>
        <p:nvSpPr>
          <p:cNvPr id="40"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PRISM · Each cost is a known limit we design around, not a surprise; Part 3 shows how</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2 · THE SYSTEM AT A GLANCE</a:t>
            </a:r>
            <a:endParaRPr lang="en-US" sz="1200" dirty="0"/>
          </a:p>
        </p:txBody>
      </p:sp>
      <p:sp>
        <p:nvSpPr>
          <p:cNvPr id="3" name="Text 1"/>
          <p:cNvSpPr/>
          <p:nvPr>
            <p:ph type="title"/>
          </p:nvPr>
        </p:nvSpPr>
        <p:spPr>
          <a:xfrm>
            <a:off x="812800" y="1229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FOUR STAGES, </a:t>
            </a:r>
            <a:r>
              <a:rPr lang="en-US" sz="2400" b="1" i="0" spc="150" kern="0" dirty="0">
                <a:solidFill>
                  <a:srgbClr val="5FD3C4"/>
                </a:solidFill>
                <a:latin typeface="Archivo" pitchFamily="34" charset="0"/>
                <a:ea typeface="Archivo" pitchFamily="34" charset="-122"/>
                <a:cs typeface="Archivo" pitchFamily="34" charset="-120"/>
              </a:rPr>
              <a:t>LEFT TO RIGHT</a:t>
            </a:r>
            <a:endParaRPr lang="en-US" sz="2400" dirty="0"/>
          </a:p>
        </p:txBody>
      </p:sp>
      <p:sp>
        <p:nvSpPr>
          <p:cNvPr id="4" name="Shape 2"/>
          <p:cNvSpPr/>
          <p:nvPr/>
        </p:nvSpPr>
        <p:spPr>
          <a:xfrm>
            <a:off x="815975" y="1770955"/>
            <a:ext cx="2254250" cy="3127821"/>
          </a:xfrm>
          <a:prstGeom prst="roundRect">
            <a:avLst>
              <a:gd name="adj" fmla="val 3239"/>
            </a:avLst>
          </a:prstGeom>
          <a:solidFill>
            <a:srgbClr val="0B1018"/>
          </a:solidFill>
          <a:ln w="6350">
            <a:solidFill>
              <a:srgbClr val="1C2532"/>
            </a:solidFill>
            <a:prstDash val="solid"/>
          </a:ln>
        </p:spPr>
      </p:sp>
      <p:sp>
        <p:nvSpPr>
          <p:cNvPr id="5" name="Shape 3"/>
          <p:cNvSpPr/>
          <p:nvPr/>
        </p:nvSpPr>
        <p:spPr>
          <a:xfrm>
            <a:off x="1000125" y="1955105"/>
            <a:ext cx="450850" cy="450850"/>
          </a:xfrm>
          <a:prstGeom prst="roundRect">
            <a:avLst>
              <a:gd name="adj" fmla="val 16197"/>
            </a:avLst>
          </a:prstGeom>
          <a:solidFill>
            <a:srgbClr val="0E1E21"/>
          </a:solidFill>
          <a:ln w="6350">
            <a:solidFill>
              <a:srgbClr val="1F3E3E"/>
            </a:solidFill>
            <a:prstDash val="solid"/>
          </a:ln>
        </p:spPr>
      </p:sp>
      <p:pic>
        <p:nvPicPr>
          <p:cNvPr id="6" name="Image 0" descr="Link">    </p:cNvPr>
          <p:cNvPicPr>
            <a:picLocks noChangeAspect="1"/>
          </p:cNvPicPr>
          <p:nvPr/>
        </p:nvPicPr>
        <p:blipFill>
          <a:blip r:embed="rId1"/>
          <a:srcRect l="0" r="0" t="0" b="0"/>
          <a:stretch/>
        </p:blipFill>
        <p:spPr>
          <a:xfrm>
            <a:off x="1098550" y="2053530"/>
            <a:ext cx="254000" cy="254000"/>
          </a:xfrm>
          <a:prstGeom prst="rect">
            <a:avLst/>
          </a:prstGeom>
        </p:spPr>
      </p:pic>
      <p:sp>
        <p:nvSpPr>
          <p:cNvPr id="7" name="Text 4"/>
          <p:cNvSpPr/>
          <p:nvPr/>
        </p:nvSpPr>
        <p:spPr>
          <a:xfrm>
            <a:off x="996950" y="2498030"/>
            <a:ext cx="1949069"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FD3C4"/>
                </a:solidFill>
                <a:latin typeface="Archivo" pitchFamily="34" charset="0"/>
                <a:ea typeface="Archivo" pitchFamily="34" charset="-122"/>
                <a:cs typeface="Archivo" pitchFamily="34" charset="-120"/>
              </a:rPr>
              <a:t>STAGE 1</a:t>
            </a:r>
            <a:endParaRPr lang="en-US" sz="1200" dirty="0"/>
          </a:p>
        </p:txBody>
      </p:sp>
      <p:sp>
        <p:nvSpPr>
          <p:cNvPr id="8" name="Text 5"/>
          <p:cNvSpPr/>
          <p:nvPr/>
        </p:nvSpPr>
        <p:spPr>
          <a:xfrm>
            <a:off x="996950" y="2800251"/>
            <a:ext cx="194906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Connect</a:t>
            </a:r>
            <a:endParaRPr lang="en-US" sz="1600" dirty="0"/>
          </a:p>
        </p:txBody>
      </p:sp>
      <p:sp>
        <p:nvSpPr>
          <p:cNvPr id="9" name="Text 6"/>
          <p:cNvSpPr/>
          <p:nvPr/>
        </p:nvSpPr>
        <p:spPr>
          <a:xfrm>
            <a:off x="996950" y="3132981"/>
            <a:ext cx="1949069"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3BBC7"/>
                </a:solidFill>
                <a:latin typeface="Manrope" pitchFamily="34" charset="0"/>
                <a:ea typeface="Manrope" pitchFamily="34" charset="-122"/>
                <a:cs typeface="Manrope" pitchFamily="34" charset="-120"/>
              </a:rPr>
              <a:t>Maintaining and Managing the Ingest Resources and Storage Management</a:t>
            </a:r>
            <a:endParaRPr lang="en-US" sz="1200" dirty="0"/>
          </a:p>
        </p:txBody>
      </p:sp>
      <p:sp>
        <p:nvSpPr>
          <p:cNvPr id="10" name="Text 7"/>
          <p:cNvSpPr/>
          <p:nvPr/>
        </p:nvSpPr>
        <p:spPr>
          <a:xfrm>
            <a:off x="996950" y="3973661"/>
            <a:ext cx="194906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AEF6"/>
                </a:solidFill>
                <a:latin typeface="Archivo" pitchFamily="34" charset="0"/>
                <a:ea typeface="Archivo" pitchFamily="34" charset="-122"/>
                <a:cs typeface="Archivo" pitchFamily="34" charset="-120"/>
              </a:rPr>
              <a:t>PRODUCES</a:t>
            </a:r>
            <a:endParaRPr lang="en-US" sz="1200" dirty="0"/>
          </a:p>
        </p:txBody>
      </p:sp>
      <p:sp>
        <p:nvSpPr>
          <p:cNvPr id="11" name="Text 8"/>
          <p:cNvSpPr/>
          <p:nvPr/>
        </p:nvSpPr>
        <p:spPr>
          <a:xfrm>
            <a:off x="996950" y="4275882"/>
            <a:ext cx="194906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2F4F7"/>
                </a:solidFill>
                <a:latin typeface="Manrope" pitchFamily="34" charset="0"/>
                <a:ea typeface="Manrope" pitchFamily="34" charset="-122"/>
                <a:cs typeface="Manrope" pitchFamily="34" charset="-120"/>
              </a:rPr>
              <a:t>Sources, Storage, and Video Pathways</a:t>
            </a:r>
            <a:endParaRPr lang="en-US" sz="1200" dirty="0"/>
          </a:p>
        </p:txBody>
      </p:sp>
      <p:pic>
        <p:nvPicPr>
          <p:cNvPr id="12" name="Image 1" descr="arrow-right">    </p:cNvPr>
          <p:cNvPicPr>
            <a:picLocks noChangeAspect="1"/>
          </p:cNvPicPr>
          <p:nvPr/>
        </p:nvPicPr>
        <p:blipFill>
          <a:blip r:embed="rId2"/>
          <a:srcRect l="0" r="0" t="0" b="0"/>
          <a:stretch/>
        </p:blipFill>
        <p:spPr>
          <a:xfrm>
            <a:off x="3175000" y="3258641"/>
            <a:ext cx="304800" cy="152400"/>
          </a:xfrm>
          <a:prstGeom prst="rect">
            <a:avLst/>
          </a:prstGeom>
        </p:spPr>
      </p:pic>
      <p:sp>
        <p:nvSpPr>
          <p:cNvPr id="13" name="Shape 9"/>
          <p:cNvSpPr/>
          <p:nvPr/>
        </p:nvSpPr>
        <p:spPr>
          <a:xfrm>
            <a:off x="3584575" y="1770955"/>
            <a:ext cx="2254250" cy="3127821"/>
          </a:xfrm>
          <a:prstGeom prst="roundRect">
            <a:avLst>
              <a:gd name="adj" fmla="val 3239"/>
            </a:avLst>
          </a:prstGeom>
          <a:solidFill>
            <a:srgbClr val="0B1018"/>
          </a:solidFill>
          <a:ln w="6350">
            <a:solidFill>
              <a:srgbClr val="1C2532"/>
            </a:solidFill>
            <a:prstDash val="solid"/>
          </a:ln>
        </p:spPr>
      </p:sp>
      <p:sp>
        <p:nvSpPr>
          <p:cNvPr id="14" name="Shape 10"/>
          <p:cNvSpPr/>
          <p:nvPr/>
        </p:nvSpPr>
        <p:spPr>
          <a:xfrm>
            <a:off x="3768725" y="1955105"/>
            <a:ext cx="450850" cy="450850"/>
          </a:xfrm>
          <a:prstGeom prst="roundRect">
            <a:avLst>
              <a:gd name="adj" fmla="val 16197"/>
            </a:avLst>
          </a:prstGeom>
          <a:solidFill>
            <a:srgbClr val="0E1E21"/>
          </a:solidFill>
          <a:ln w="6350">
            <a:solidFill>
              <a:srgbClr val="1F3E3E"/>
            </a:solidFill>
            <a:prstDash val="solid"/>
          </a:ln>
        </p:spPr>
      </p:sp>
      <p:pic>
        <p:nvPicPr>
          <p:cNvPr id="15" name="Image 2" descr="Search">    </p:cNvPr>
          <p:cNvPicPr>
            <a:picLocks noChangeAspect="1"/>
          </p:cNvPicPr>
          <p:nvPr/>
        </p:nvPicPr>
        <p:blipFill>
          <a:blip r:embed="rId3"/>
          <a:srcRect l="0" r="0" t="0" b="0"/>
          <a:stretch/>
        </p:blipFill>
        <p:spPr>
          <a:xfrm>
            <a:off x="3867150" y="2053530"/>
            <a:ext cx="254000" cy="254000"/>
          </a:xfrm>
          <a:prstGeom prst="rect">
            <a:avLst/>
          </a:prstGeom>
        </p:spPr>
      </p:pic>
      <p:sp>
        <p:nvSpPr>
          <p:cNvPr id="16" name="Text 11"/>
          <p:cNvSpPr/>
          <p:nvPr/>
        </p:nvSpPr>
        <p:spPr>
          <a:xfrm>
            <a:off x="3765550" y="2498030"/>
            <a:ext cx="1949069"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FD3C4"/>
                </a:solidFill>
                <a:latin typeface="Archivo" pitchFamily="34" charset="0"/>
                <a:ea typeface="Archivo" pitchFamily="34" charset="-122"/>
                <a:cs typeface="Archivo" pitchFamily="34" charset="-120"/>
              </a:rPr>
              <a:t>STAGE 2</a:t>
            </a:r>
            <a:endParaRPr lang="en-US" sz="1200" dirty="0"/>
          </a:p>
        </p:txBody>
      </p:sp>
      <p:sp>
        <p:nvSpPr>
          <p:cNvPr id="17" name="Text 12"/>
          <p:cNvSpPr/>
          <p:nvPr/>
        </p:nvSpPr>
        <p:spPr>
          <a:xfrm>
            <a:off x="3765550" y="2800251"/>
            <a:ext cx="194906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Detect</a:t>
            </a:r>
            <a:endParaRPr lang="en-US" sz="1600" dirty="0"/>
          </a:p>
        </p:txBody>
      </p:sp>
      <p:sp>
        <p:nvSpPr>
          <p:cNvPr id="18" name="Text 13"/>
          <p:cNvSpPr/>
          <p:nvPr/>
        </p:nvSpPr>
        <p:spPr>
          <a:xfrm>
            <a:off x="3765550" y="3132981"/>
            <a:ext cx="1949069"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3BBC7"/>
                </a:solidFill>
                <a:latin typeface="Manrope" pitchFamily="34" charset="0"/>
                <a:ea typeface="Manrope" pitchFamily="34" charset="-122"/>
                <a:cs typeface="Manrope" pitchFamily="34" charset="-120"/>
              </a:rPr>
              <a:t>Where is something? Positions, plus a full-res face crop.</a:t>
            </a:r>
            <a:endParaRPr lang="en-US" sz="1200" dirty="0"/>
          </a:p>
        </p:txBody>
      </p:sp>
      <p:sp>
        <p:nvSpPr>
          <p:cNvPr id="19" name="Text 14"/>
          <p:cNvSpPr/>
          <p:nvPr/>
        </p:nvSpPr>
        <p:spPr>
          <a:xfrm>
            <a:off x="3765550" y="3973661"/>
            <a:ext cx="194906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AEF6"/>
                </a:solidFill>
                <a:latin typeface="Archivo" pitchFamily="34" charset="0"/>
                <a:ea typeface="Archivo" pitchFamily="34" charset="-122"/>
                <a:cs typeface="Archivo" pitchFamily="34" charset="-120"/>
              </a:rPr>
              <a:t>PRODUCES</a:t>
            </a:r>
            <a:endParaRPr lang="en-US" sz="1200" dirty="0"/>
          </a:p>
        </p:txBody>
      </p:sp>
      <p:sp>
        <p:nvSpPr>
          <p:cNvPr id="20" name="Text 15"/>
          <p:cNvSpPr/>
          <p:nvPr/>
        </p:nvSpPr>
        <p:spPr>
          <a:xfrm>
            <a:off x="3765550" y="4275882"/>
            <a:ext cx="194906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2F4F7"/>
                </a:solidFill>
                <a:latin typeface="Manrope" pitchFamily="34" charset="0"/>
                <a:ea typeface="Manrope" pitchFamily="34" charset="-122"/>
                <a:cs typeface="Manrope" pitchFamily="34" charset="-120"/>
              </a:rPr>
              <a:t>Boxes, face crops, object tracks</a:t>
            </a:r>
            <a:endParaRPr lang="en-US" sz="1200" dirty="0"/>
          </a:p>
        </p:txBody>
      </p:sp>
      <p:pic>
        <p:nvPicPr>
          <p:cNvPr id="21" name="Image 3" descr="arrow-right">    </p:cNvPr>
          <p:cNvPicPr>
            <a:picLocks noChangeAspect="1"/>
          </p:cNvPicPr>
          <p:nvPr/>
        </p:nvPicPr>
        <p:blipFill>
          <a:blip r:embed="rId4"/>
          <a:srcRect l="0" r="0" t="0" b="0"/>
          <a:stretch/>
        </p:blipFill>
        <p:spPr>
          <a:xfrm>
            <a:off x="5943600" y="3258641"/>
            <a:ext cx="304800" cy="152400"/>
          </a:xfrm>
          <a:prstGeom prst="rect">
            <a:avLst/>
          </a:prstGeom>
        </p:spPr>
      </p:pic>
      <p:sp>
        <p:nvSpPr>
          <p:cNvPr id="22" name="Shape 16"/>
          <p:cNvSpPr/>
          <p:nvPr/>
        </p:nvSpPr>
        <p:spPr>
          <a:xfrm>
            <a:off x="6353175" y="1770955"/>
            <a:ext cx="2254250" cy="3127821"/>
          </a:xfrm>
          <a:prstGeom prst="roundRect">
            <a:avLst>
              <a:gd name="adj" fmla="val 3239"/>
            </a:avLst>
          </a:prstGeom>
          <a:solidFill>
            <a:srgbClr val="0B1018"/>
          </a:solidFill>
          <a:ln w="6350">
            <a:solidFill>
              <a:srgbClr val="1C2532"/>
            </a:solidFill>
            <a:prstDash val="solid"/>
          </a:ln>
        </p:spPr>
      </p:sp>
      <p:sp>
        <p:nvSpPr>
          <p:cNvPr id="23" name="Shape 17"/>
          <p:cNvSpPr/>
          <p:nvPr/>
        </p:nvSpPr>
        <p:spPr>
          <a:xfrm>
            <a:off x="6537325" y="1955105"/>
            <a:ext cx="450850" cy="450850"/>
          </a:xfrm>
          <a:prstGeom prst="roundRect">
            <a:avLst>
              <a:gd name="adj" fmla="val 16197"/>
            </a:avLst>
          </a:prstGeom>
          <a:solidFill>
            <a:srgbClr val="0E1E21"/>
          </a:solidFill>
          <a:ln w="6350">
            <a:solidFill>
              <a:srgbClr val="1F3E3E"/>
            </a:solidFill>
            <a:prstDash val="solid"/>
          </a:ln>
        </p:spPr>
      </p:sp>
      <p:pic>
        <p:nvPicPr>
          <p:cNvPr id="24" name="Image 4" descr="Users">    </p:cNvPr>
          <p:cNvPicPr>
            <a:picLocks noChangeAspect="1"/>
          </p:cNvPicPr>
          <p:nvPr/>
        </p:nvPicPr>
        <p:blipFill>
          <a:blip r:embed="rId5"/>
          <a:srcRect l="0" r="0" t="0" b="0"/>
          <a:stretch/>
        </p:blipFill>
        <p:spPr>
          <a:xfrm>
            <a:off x="6635750" y="2053530"/>
            <a:ext cx="254000" cy="254000"/>
          </a:xfrm>
          <a:prstGeom prst="rect">
            <a:avLst/>
          </a:prstGeom>
        </p:spPr>
      </p:pic>
      <p:sp>
        <p:nvSpPr>
          <p:cNvPr id="25" name="Text 18"/>
          <p:cNvSpPr/>
          <p:nvPr/>
        </p:nvSpPr>
        <p:spPr>
          <a:xfrm>
            <a:off x="6534150" y="2498030"/>
            <a:ext cx="1949069"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FD3C4"/>
                </a:solidFill>
                <a:latin typeface="Archivo" pitchFamily="34" charset="0"/>
                <a:ea typeface="Archivo" pitchFamily="34" charset="-122"/>
                <a:cs typeface="Archivo" pitchFamily="34" charset="-120"/>
              </a:rPr>
              <a:t>STAGE 3</a:t>
            </a:r>
            <a:endParaRPr lang="en-US" sz="1200" dirty="0"/>
          </a:p>
        </p:txBody>
      </p:sp>
      <p:sp>
        <p:nvSpPr>
          <p:cNvPr id="26" name="Text 19"/>
          <p:cNvSpPr/>
          <p:nvPr/>
        </p:nvSpPr>
        <p:spPr>
          <a:xfrm>
            <a:off x="6534150" y="2800251"/>
            <a:ext cx="194906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Recognize</a:t>
            </a:r>
            <a:endParaRPr lang="en-US" sz="1600" dirty="0"/>
          </a:p>
        </p:txBody>
      </p:sp>
      <p:sp>
        <p:nvSpPr>
          <p:cNvPr id="27" name="Text 20"/>
          <p:cNvSpPr/>
          <p:nvPr/>
        </p:nvSpPr>
        <p:spPr>
          <a:xfrm>
            <a:off x="6534150" y="3132981"/>
            <a:ext cx="194906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3BBC7"/>
                </a:solidFill>
                <a:latin typeface="Manrope" pitchFamily="34" charset="0"/>
                <a:ea typeface="Manrope" pitchFamily="34" charset="-122"/>
                <a:cs typeface="Manrope" pitchFamily="34" charset="-120"/>
              </a:rPr>
              <a:t>Who or what is it? For faces and plates.</a:t>
            </a:r>
            <a:endParaRPr lang="en-US" sz="1200" dirty="0"/>
          </a:p>
        </p:txBody>
      </p:sp>
      <p:sp>
        <p:nvSpPr>
          <p:cNvPr id="28" name="Text 21"/>
          <p:cNvSpPr/>
          <p:nvPr/>
        </p:nvSpPr>
        <p:spPr>
          <a:xfrm>
            <a:off x="6534150" y="3973661"/>
            <a:ext cx="194906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AEF6"/>
                </a:solidFill>
                <a:latin typeface="Archivo" pitchFamily="34" charset="0"/>
                <a:ea typeface="Archivo" pitchFamily="34" charset="-122"/>
                <a:cs typeface="Archivo" pitchFamily="34" charset="-120"/>
              </a:rPr>
              <a:t>PRODUCES</a:t>
            </a:r>
            <a:endParaRPr lang="en-US" sz="1200" dirty="0"/>
          </a:p>
        </p:txBody>
      </p:sp>
      <p:sp>
        <p:nvSpPr>
          <p:cNvPr id="29" name="Text 22"/>
          <p:cNvSpPr/>
          <p:nvPr/>
        </p:nvSpPr>
        <p:spPr>
          <a:xfrm>
            <a:off x="6534150" y="4275882"/>
            <a:ext cx="194906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2F4F7"/>
                </a:solidFill>
                <a:latin typeface="Manrope" pitchFamily="34" charset="0"/>
                <a:ea typeface="Manrope" pitchFamily="34" charset="-122"/>
                <a:cs typeface="Manrope" pitchFamily="34" charset="-120"/>
              </a:rPr>
              <a:t>Names, anonymous faces, plate reads</a:t>
            </a:r>
            <a:endParaRPr lang="en-US" sz="1200" dirty="0"/>
          </a:p>
        </p:txBody>
      </p:sp>
      <p:pic>
        <p:nvPicPr>
          <p:cNvPr id="30" name="Image 5" descr="arrow-right">    </p:cNvPr>
          <p:cNvPicPr>
            <a:picLocks noChangeAspect="1"/>
          </p:cNvPicPr>
          <p:nvPr/>
        </p:nvPicPr>
        <p:blipFill>
          <a:blip r:embed="rId6"/>
          <a:srcRect l="0" r="0" t="0" b="0"/>
          <a:stretch/>
        </p:blipFill>
        <p:spPr>
          <a:xfrm>
            <a:off x="8712200" y="3258641"/>
            <a:ext cx="304800" cy="152400"/>
          </a:xfrm>
          <a:prstGeom prst="rect">
            <a:avLst/>
          </a:prstGeom>
        </p:spPr>
      </p:pic>
      <p:sp>
        <p:nvSpPr>
          <p:cNvPr id="31" name="Shape 23"/>
          <p:cNvSpPr/>
          <p:nvPr/>
        </p:nvSpPr>
        <p:spPr>
          <a:xfrm>
            <a:off x="9121775" y="1770955"/>
            <a:ext cx="2254250" cy="3127821"/>
          </a:xfrm>
          <a:prstGeom prst="roundRect">
            <a:avLst>
              <a:gd name="adj" fmla="val 3239"/>
            </a:avLst>
          </a:prstGeom>
          <a:solidFill>
            <a:srgbClr val="0B1018"/>
          </a:solidFill>
          <a:ln w="6350">
            <a:solidFill>
              <a:srgbClr val="1C2532"/>
            </a:solidFill>
            <a:prstDash val="solid"/>
          </a:ln>
        </p:spPr>
      </p:sp>
      <p:sp>
        <p:nvSpPr>
          <p:cNvPr id="32" name="Shape 24"/>
          <p:cNvSpPr/>
          <p:nvPr/>
        </p:nvSpPr>
        <p:spPr>
          <a:xfrm>
            <a:off x="9305925" y="1955105"/>
            <a:ext cx="450850" cy="450850"/>
          </a:xfrm>
          <a:prstGeom prst="roundRect">
            <a:avLst>
              <a:gd name="adj" fmla="val 16197"/>
            </a:avLst>
          </a:prstGeom>
          <a:solidFill>
            <a:srgbClr val="0E1E21"/>
          </a:solidFill>
          <a:ln w="6350">
            <a:solidFill>
              <a:srgbClr val="1F3E3E"/>
            </a:solidFill>
            <a:prstDash val="solid"/>
          </a:ln>
        </p:spPr>
      </p:sp>
      <p:pic>
        <p:nvPicPr>
          <p:cNvPr id="33" name="Image 6" descr="Lightbulb">    </p:cNvPr>
          <p:cNvPicPr>
            <a:picLocks noChangeAspect="1"/>
          </p:cNvPicPr>
          <p:nvPr/>
        </p:nvPicPr>
        <p:blipFill>
          <a:blip r:embed="rId7"/>
          <a:srcRect l="0" r="0" t="0" b="0"/>
          <a:stretch/>
        </p:blipFill>
        <p:spPr>
          <a:xfrm>
            <a:off x="9404350" y="2053530"/>
            <a:ext cx="254000" cy="254000"/>
          </a:xfrm>
          <a:prstGeom prst="rect">
            <a:avLst/>
          </a:prstGeom>
        </p:spPr>
      </p:pic>
      <p:sp>
        <p:nvSpPr>
          <p:cNvPr id="34" name="Text 25"/>
          <p:cNvSpPr/>
          <p:nvPr/>
        </p:nvSpPr>
        <p:spPr>
          <a:xfrm>
            <a:off x="9302750" y="2498030"/>
            <a:ext cx="1949069"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5FD3C4"/>
                </a:solidFill>
                <a:latin typeface="Archivo" pitchFamily="34" charset="0"/>
                <a:ea typeface="Archivo" pitchFamily="34" charset="-122"/>
                <a:cs typeface="Archivo" pitchFamily="34" charset="-120"/>
              </a:rPr>
              <a:t>STAGE 4</a:t>
            </a:r>
            <a:endParaRPr lang="en-US" sz="1200" dirty="0"/>
          </a:p>
        </p:txBody>
      </p:sp>
      <p:sp>
        <p:nvSpPr>
          <p:cNvPr id="35" name="Text 26"/>
          <p:cNvSpPr/>
          <p:nvPr/>
        </p:nvSpPr>
        <p:spPr>
          <a:xfrm>
            <a:off x="9302750" y="2800251"/>
            <a:ext cx="194906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Understand</a:t>
            </a:r>
            <a:endParaRPr lang="en-US" sz="1600" dirty="0"/>
          </a:p>
        </p:txBody>
      </p:sp>
      <p:sp>
        <p:nvSpPr>
          <p:cNvPr id="36" name="Text 27"/>
          <p:cNvSpPr/>
          <p:nvPr/>
        </p:nvSpPr>
        <p:spPr>
          <a:xfrm>
            <a:off x="9302750" y="3132981"/>
            <a:ext cx="194906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3BBC7"/>
                </a:solidFill>
                <a:latin typeface="Manrope" pitchFamily="34" charset="0"/>
                <a:ea typeface="Manrope" pitchFamily="34" charset="-122"/>
                <a:cs typeface="Manrope" pitchFamily="34" charset="-120"/>
              </a:rPr>
              <a:t>Make what PRISM saw findable and actionable.</a:t>
            </a:r>
            <a:endParaRPr lang="en-US" sz="1200" dirty="0"/>
          </a:p>
        </p:txBody>
      </p:sp>
      <p:sp>
        <p:nvSpPr>
          <p:cNvPr id="37" name="Text 28"/>
          <p:cNvSpPr/>
          <p:nvPr/>
        </p:nvSpPr>
        <p:spPr>
          <a:xfrm>
            <a:off x="9302750" y="3973661"/>
            <a:ext cx="194906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AEF6"/>
                </a:solidFill>
                <a:latin typeface="Archivo" pitchFamily="34" charset="0"/>
                <a:ea typeface="Archivo" pitchFamily="34" charset="-122"/>
                <a:cs typeface="Archivo" pitchFamily="34" charset="-120"/>
              </a:rPr>
              <a:t>PRODUCES</a:t>
            </a:r>
            <a:endParaRPr lang="en-US" sz="1200" dirty="0"/>
          </a:p>
        </p:txBody>
      </p:sp>
      <p:sp>
        <p:nvSpPr>
          <p:cNvPr id="38" name="Text 29"/>
          <p:cNvSpPr/>
          <p:nvPr/>
        </p:nvSpPr>
        <p:spPr>
          <a:xfrm>
            <a:off x="9302750" y="4275882"/>
            <a:ext cx="194906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2F4F7"/>
                </a:solidFill>
                <a:latin typeface="Manrope" pitchFamily="34" charset="0"/>
                <a:ea typeface="Manrope" pitchFamily="34" charset="-122"/>
                <a:cs typeface="Manrope" pitchFamily="34" charset="-120"/>
              </a:rPr>
              <a:t>Search, events, alerts, cases</a:t>
            </a:r>
            <a:endParaRPr lang="en-US" sz="1200" dirty="0"/>
          </a:p>
        </p:txBody>
      </p:sp>
      <p:sp>
        <p:nvSpPr>
          <p:cNvPr id="39" name="Text 30"/>
          <p:cNvSpPr/>
          <p:nvPr/>
        </p:nvSpPr>
        <p:spPr>
          <a:xfrm>
            <a:off x="812800" y="5105152"/>
            <a:ext cx="1088339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3BBC7"/>
                </a:solidFill>
                <a:latin typeface="Manrope" pitchFamily="34" charset="0"/>
                <a:ea typeface="Manrope" pitchFamily="34" charset="-122"/>
                <a:cs typeface="Manrope" pitchFamily="34" charset="-120"/>
              </a:rPr>
              <a:t>Stage 1 is the video path. Stages 2–4 sit beside it, so an AI fault never stops the picture.</a:t>
            </a:r>
            <a:endParaRPr lang="en-US" sz="1200" dirty="0"/>
          </a:p>
        </p:txBody>
      </p:sp>
      <p:sp>
        <p:nvSpPr>
          <p:cNvPr id="40" name="Text 3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PRISM · The system at a glance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2 · THE SYSTEM AT A GLANCE · ARCHITECTURE</a:t>
            </a:r>
            <a:endParaRPr lang="en-US" sz="1200" dirty="0"/>
          </a:p>
        </p:txBody>
      </p:sp>
      <p:sp>
        <p:nvSpPr>
          <p:cNvPr id="3" name="Text 1"/>
          <p:cNvSpPr/>
          <p:nvPr>
            <p:ph type="title"/>
          </p:nvPr>
        </p:nvSpPr>
        <p:spPr>
          <a:xfrm>
            <a:off x="812800" y="105410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SYSTEM </a:t>
            </a:r>
            <a:r>
              <a:rPr lang="en-US" sz="2400" b="1" i="0" spc="150" kern="0" dirty="0">
                <a:solidFill>
                  <a:srgbClr val="5FD3C4"/>
                </a:solidFill>
                <a:latin typeface="Archivo" pitchFamily="34" charset="0"/>
                <a:ea typeface="Archivo" pitchFamily="34" charset="-122"/>
                <a:cs typeface="Archivo" pitchFamily="34" charset="-120"/>
              </a:rPr>
              <a:t>ARCHITECTURE</a:t>
            </a:r>
            <a:endParaRPr lang="en-US" sz="2400" dirty="0"/>
          </a:p>
        </p:txBody>
      </p:sp>
      <p:sp>
        <p:nvSpPr>
          <p:cNvPr id="4" name="Shape 2"/>
          <p:cNvSpPr/>
          <p:nvPr/>
        </p:nvSpPr>
        <p:spPr>
          <a:xfrm>
            <a:off x="4578350" y="1657350"/>
            <a:ext cx="6794500" cy="3187700"/>
          </a:xfrm>
          <a:prstGeom prst="roundRect">
            <a:avLst>
              <a:gd name="adj" fmla="val 2191"/>
            </a:avLst>
          </a:prstGeom>
          <a:solidFill>
            <a:srgbClr val="0A1719"/>
          </a:solidFill>
          <a:ln w="12700">
            <a:solidFill>
              <a:srgbClr val="2F8F86"/>
            </a:solidFill>
            <a:prstDash val="dash"/>
          </a:ln>
        </p:spPr>
      </p:sp>
      <p:sp>
        <p:nvSpPr>
          <p:cNvPr id="5" name="Text 3"/>
          <p:cNvSpPr/>
          <p:nvPr/>
        </p:nvSpPr>
        <p:spPr>
          <a:xfrm>
            <a:off x="4775200" y="1714500"/>
            <a:ext cx="58864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FD3C4"/>
                </a:solidFill>
                <a:latin typeface="Manrope" pitchFamily="34" charset="0"/>
                <a:ea typeface="Manrope" pitchFamily="34" charset="-122"/>
                <a:cs typeface="Manrope" pitchFamily="34" charset="-120"/>
              </a:rPr>
              <a:t>AI layer · plugins outside the video path</a:t>
            </a:r>
            <a:endParaRPr lang="en-US" sz="1200" dirty="0"/>
          </a:p>
        </p:txBody>
      </p:sp>
      <p:sp>
        <p:nvSpPr>
          <p:cNvPr id="6" name="Shape 4"/>
          <p:cNvSpPr/>
          <p:nvPr/>
        </p:nvSpPr>
        <p:spPr>
          <a:xfrm>
            <a:off x="1123950" y="1657350"/>
            <a:ext cx="2832100" cy="520700"/>
          </a:xfrm>
          <a:prstGeom prst="roundRect">
            <a:avLst>
              <a:gd name="adj" fmla="val 8537"/>
            </a:avLst>
          </a:prstGeom>
          <a:solidFill>
            <a:srgbClr val="121821"/>
          </a:solidFill>
          <a:ln w="12700">
            <a:solidFill>
              <a:srgbClr val="475263"/>
            </a:solidFill>
            <a:prstDash val="solid"/>
          </a:ln>
        </p:spPr>
      </p:sp>
      <p:sp>
        <p:nvSpPr>
          <p:cNvPr id="7" name="Text 5"/>
          <p:cNvSpPr/>
          <p:nvPr/>
        </p:nvSpPr>
        <p:spPr>
          <a:xfrm>
            <a:off x="1231900" y="1714500"/>
            <a:ext cx="2694686" cy="229543"/>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F2F4F7"/>
                </a:solidFill>
                <a:latin typeface="Manrope" pitchFamily="34" charset="0"/>
                <a:ea typeface="Manrope" pitchFamily="34" charset="-122"/>
                <a:cs typeface="Manrope" pitchFamily="34" charset="-120"/>
              </a:rPr>
              <a:t>Camera feed</a:t>
            </a:r>
            <a:endParaRPr lang="en-US" sz="1352" dirty="0"/>
          </a:p>
        </p:txBody>
      </p:sp>
      <p:sp>
        <p:nvSpPr>
          <p:cNvPr id="8" name="Text 6"/>
          <p:cNvSpPr/>
          <p:nvPr/>
        </p:nvSpPr>
        <p:spPr>
          <a:xfrm>
            <a:off x="1231900" y="1931343"/>
            <a:ext cx="2694686" cy="214957"/>
          </a:xfrm>
          <a:prstGeom prst="rect">
            <a:avLst/>
          </a:prstGeom>
          <a:noFill/>
          <a:ln/>
        </p:spPr>
        <p:txBody>
          <a:bodyPr wrap="square" lIns="0" tIns="0" rIns="0" bIns="0" rtlCol="0" anchor="t">
            <a:normAutofit/>
          </a:bodyPr>
          <a:lstStyle/>
          <a:p>
            <a:pPr algn="l" indent="0" marL="0">
              <a:lnSpc>
                <a:spcPts val="1521"/>
              </a:lnSpc>
              <a:buNone/>
            </a:pPr>
            <a:r>
              <a:rPr lang="en-US" sz="1170" dirty="0">
                <a:solidFill>
                  <a:srgbClr val="B3BBC7"/>
                </a:solidFill>
                <a:latin typeface="Manrope" pitchFamily="34" charset="0"/>
                <a:ea typeface="Manrope" pitchFamily="34" charset="-122"/>
                <a:cs typeface="Manrope" pitchFamily="34" charset="-120"/>
              </a:rPr>
              <a:t>Cameras with AI plugins on</a:t>
            </a:r>
            <a:endParaRPr lang="en-US" sz="1170" dirty="0"/>
          </a:p>
        </p:txBody>
      </p:sp>
      <p:sp>
        <p:nvSpPr>
          <p:cNvPr id="9" name="Shape 7"/>
          <p:cNvSpPr/>
          <p:nvPr/>
        </p:nvSpPr>
        <p:spPr>
          <a:xfrm>
            <a:off x="1123950" y="2419350"/>
            <a:ext cx="2832100" cy="774700"/>
          </a:xfrm>
          <a:prstGeom prst="roundRect">
            <a:avLst>
              <a:gd name="adj" fmla="val 5738"/>
            </a:avLst>
          </a:prstGeom>
          <a:solidFill>
            <a:srgbClr val="0B1018"/>
          </a:solidFill>
          <a:ln w="12700">
            <a:solidFill>
              <a:srgbClr val="DCE2EA"/>
            </a:solidFill>
            <a:prstDash val="solid"/>
          </a:ln>
        </p:spPr>
      </p:sp>
      <p:sp>
        <p:nvSpPr>
          <p:cNvPr id="10" name="Text 8"/>
          <p:cNvSpPr/>
          <p:nvPr/>
        </p:nvSpPr>
        <p:spPr>
          <a:xfrm>
            <a:off x="1231900" y="2489250"/>
            <a:ext cx="269468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F4F7"/>
                </a:solidFill>
                <a:latin typeface="Manrope" pitchFamily="34" charset="0"/>
                <a:ea typeface="Manrope" pitchFamily="34" charset="-122"/>
                <a:cs typeface="Manrope" pitchFamily="34" charset="-120"/>
              </a:rPr>
              <a:t>prism-npipe · Connect</a:t>
            </a:r>
            <a:endParaRPr lang="en-US" sz="1400" dirty="0"/>
          </a:p>
        </p:txBody>
      </p:sp>
      <p:sp>
        <p:nvSpPr>
          <p:cNvPr id="11" name="Text 9"/>
          <p:cNvSpPr/>
          <p:nvPr/>
        </p:nvSpPr>
        <p:spPr>
          <a:xfrm>
            <a:off x="1231900" y="2715270"/>
            <a:ext cx="269468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3BBC7"/>
                </a:solidFill>
                <a:latin typeface="Manrope" pitchFamily="34" charset="0"/>
                <a:ea typeface="Manrope" pitchFamily="34" charset="-122"/>
                <a:cs typeface="Manrope" pitchFamily="34" charset="-120"/>
              </a:rPr>
              <a:t>Decode once, stamp frame_id</a:t>
            </a:r>
            <a:endParaRPr lang="en-US" sz="1200" dirty="0"/>
          </a:p>
        </p:txBody>
      </p:sp>
      <p:sp>
        <p:nvSpPr>
          <p:cNvPr id="12" name="Text 10"/>
          <p:cNvSpPr/>
          <p:nvPr/>
        </p:nvSpPr>
        <p:spPr>
          <a:xfrm>
            <a:off x="1231900" y="2926060"/>
            <a:ext cx="269468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3BBC7"/>
                </a:solidFill>
                <a:latin typeface="Manrope" pitchFamily="34" charset="0"/>
                <a:ea typeface="Manrope" pitchFamily="34" charset="-122"/>
                <a:cs typeface="Manrope" pitchFamily="34" charset="-120"/>
              </a:rPr>
              <a:t>Draw boxes, encode H.264</a:t>
            </a:r>
            <a:endParaRPr lang="en-US" sz="1200" dirty="0"/>
          </a:p>
        </p:txBody>
      </p:sp>
      <p:sp>
        <p:nvSpPr>
          <p:cNvPr id="13" name="Shape 11"/>
          <p:cNvSpPr/>
          <p:nvPr/>
        </p:nvSpPr>
        <p:spPr>
          <a:xfrm>
            <a:off x="1123950" y="3435350"/>
            <a:ext cx="2832100" cy="774700"/>
          </a:xfrm>
          <a:prstGeom prst="roundRect">
            <a:avLst>
              <a:gd name="adj" fmla="val 5738"/>
            </a:avLst>
          </a:prstGeom>
          <a:solidFill>
            <a:srgbClr val="0B1018"/>
          </a:solidFill>
          <a:ln w="12700">
            <a:solidFill>
              <a:srgbClr val="DCE2EA"/>
            </a:solidFill>
            <a:prstDash val="solid"/>
          </a:ln>
        </p:spPr>
      </p:sp>
      <p:sp>
        <p:nvSpPr>
          <p:cNvPr id="14" name="Text 12"/>
          <p:cNvSpPr/>
          <p:nvPr/>
        </p:nvSpPr>
        <p:spPr>
          <a:xfrm>
            <a:off x="1231900" y="3610620"/>
            <a:ext cx="269468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F4F7"/>
                </a:solidFill>
                <a:latin typeface="Manrope" pitchFamily="34" charset="0"/>
                <a:ea typeface="Manrope" pitchFamily="34" charset="-122"/>
                <a:cs typeface="Manrope" pitchFamily="34" charset="-120"/>
              </a:rPr>
              <a:t>Frame feed</a:t>
            </a:r>
            <a:endParaRPr lang="en-US" sz="1400" dirty="0"/>
          </a:p>
        </p:txBody>
      </p:sp>
      <p:sp>
        <p:nvSpPr>
          <p:cNvPr id="15" name="Text 13"/>
          <p:cNvSpPr/>
          <p:nvPr/>
        </p:nvSpPr>
        <p:spPr>
          <a:xfrm>
            <a:off x="1231900" y="3836640"/>
            <a:ext cx="269468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3BBC7"/>
                </a:solidFill>
                <a:latin typeface="Manrope" pitchFamily="34" charset="0"/>
                <a:ea typeface="Manrope" pitchFamily="34" charset="-122"/>
                <a:cs typeface="Manrope" pitchFamily="34" charset="-120"/>
              </a:rPr>
              <a:t>Shared memory, full res, ~4 s</a:t>
            </a:r>
            <a:endParaRPr lang="en-US" sz="1200" dirty="0"/>
          </a:p>
        </p:txBody>
      </p:sp>
      <p:sp>
        <p:nvSpPr>
          <p:cNvPr id="16" name="Text 14"/>
          <p:cNvSpPr/>
          <p:nvPr/>
        </p:nvSpPr>
        <p:spPr>
          <a:xfrm>
            <a:off x="1123950" y="4451350"/>
            <a:ext cx="2832100" cy="393700"/>
          </a:xfrm>
          <a:prstGeom prst="roundRect">
            <a:avLst>
              <a:gd name="adj" fmla="val 11290"/>
            </a:avLst>
          </a:prstGeom>
          <a:solidFill>
            <a:srgbClr val="0B1018"/>
          </a:solidFill>
          <a:ln w="12700">
            <a:solidFill>
              <a:srgbClr val="475263"/>
            </a:solidFill>
            <a:prstDash val="dash"/>
          </a:ln>
        </p:spPr>
        <p:txBody>
          <a:bodyPr wrap="square" lIns="94931" tIns="44131" rIns="16445" bIns="44131" rtlCol="0" anchor="ctr">
            <a:normAutofit/>
          </a:bodyPr>
          <a:lstStyle/>
          <a:p>
            <a:pPr algn="l" indent="0" marL="0">
              <a:lnSpc>
                <a:spcPts val="1560"/>
              </a:lnSpc>
              <a:buNone/>
            </a:pPr>
            <a:r>
              <a:rPr lang="en-US" sz="1200" b="1" dirty="0">
                <a:solidFill>
                  <a:srgbClr val="B3BBC7"/>
                </a:solidFill>
                <a:latin typeface="Manrope" pitchFamily="34" charset="0"/>
                <a:ea typeface="Manrope" pitchFamily="34" charset="-122"/>
                <a:cs typeface="Manrope" pitchFamily="34" charset="-120"/>
              </a:rPr>
              <a:t>JPEG ring</a:t>
            </a:r>
            <a:r>
              <a:rPr lang="en-US" sz="1200" dirty="0">
                <a:solidFill>
                  <a:srgbClr val="B3BBC7"/>
                </a:solidFill>
                <a:latin typeface="Manrope" pitchFamily="34" charset="0"/>
                <a:ea typeface="Manrope" pitchFamily="34" charset="-122"/>
                <a:cs typeface="Manrope" pitchFamily="34" charset="-120"/>
              </a:rPr>
              <a:t> · forensics only</a:t>
            </a:r>
            <a:endParaRPr lang="en-US" sz="1200" dirty="0"/>
          </a:p>
        </p:txBody>
      </p:sp>
      <p:sp>
        <p:nvSpPr>
          <p:cNvPr id="17" name="Shape 15"/>
          <p:cNvSpPr/>
          <p:nvPr/>
        </p:nvSpPr>
        <p:spPr>
          <a:xfrm>
            <a:off x="4781550" y="1987550"/>
            <a:ext cx="6388100" cy="596900"/>
          </a:xfrm>
          <a:prstGeom prst="roundRect">
            <a:avLst>
              <a:gd name="adj" fmla="val 7447"/>
            </a:avLst>
          </a:prstGeom>
          <a:solidFill>
            <a:srgbClr val="0B1018"/>
          </a:solidFill>
          <a:ln w="12700">
            <a:solidFill>
              <a:srgbClr val="5FD3C4"/>
            </a:solidFill>
            <a:prstDash val="solid"/>
          </a:ln>
        </p:spPr>
      </p:sp>
      <p:sp>
        <p:nvSpPr>
          <p:cNvPr id="18" name="Text 16"/>
          <p:cNvSpPr/>
          <p:nvPr/>
        </p:nvSpPr>
        <p:spPr>
          <a:xfrm>
            <a:off x="4889500" y="2073920"/>
            <a:ext cx="635736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F4F7"/>
                </a:solidFill>
                <a:latin typeface="Manrope" pitchFamily="34" charset="0"/>
                <a:ea typeface="Manrope" pitchFamily="34" charset="-122"/>
                <a:cs typeface="Manrope" pitchFamily="34" charset="-120"/>
              </a:rPr>
              <a:t>Detect · prism-fdet, prism-perception</a:t>
            </a:r>
            <a:endParaRPr lang="en-US" sz="1400" dirty="0"/>
          </a:p>
        </p:txBody>
      </p:sp>
      <p:sp>
        <p:nvSpPr>
          <p:cNvPr id="19" name="Text 17"/>
          <p:cNvSpPr/>
          <p:nvPr/>
        </p:nvSpPr>
        <p:spPr>
          <a:xfrm>
            <a:off x="4889500" y="2299940"/>
            <a:ext cx="635736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3BBC7"/>
                </a:solidFill>
                <a:latin typeface="Manrope" pitchFamily="34" charset="0"/>
                <a:ea typeface="Manrope" pitchFamily="34" charset="-122"/>
                <a:cs typeface="Manrope" pitchFamily="34" charset="-120"/>
              </a:rPr>
              <a:t>Faces: boxes + full-res crop · Objects: YOLOv8m, motion-gated</a:t>
            </a:r>
            <a:endParaRPr lang="en-US" sz="1200" dirty="0"/>
          </a:p>
        </p:txBody>
      </p:sp>
      <p:sp>
        <p:nvSpPr>
          <p:cNvPr id="20" name="Shape 18"/>
          <p:cNvSpPr/>
          <p:nvPr/>
        </p:nvSpPr>
        <p:spPr>
          <a:xfrm>
            <a:off x="4781550" y="2800350"/>
            <a:ext cx="6388100" cy="800100"/>
          </a:xfrm>
          <a:prstGeom prst="roundRect">
            <a:avLst>
              <a:gd name="adj" fmla="val 5556"/>
            </a:avLst>
          </a:prstGeom>
          <a:solidFill>
            <a:srgbClr val="0B1018"/>
          </a:solidFill>
          <a:ln w="12700">
            <a:solidFill>
              <a:srgbClr val="5FD3C4"/>
            </a:solidFill>
            <a:prstDash val="solid"/>
          </a:ln>
        </p:spPr>
      </p:sp>
      <p:sp>
        <p:nvSpPr>
          <p:cNvPr id="21" name="Text 19"/>
          <p:cNvSpPr/>
          <p:nvPr/>
        </p:nvSpPr>
        <p:spPr>
          <a:xfrm>
            <a:off x="4889500" y="2882950"/>
            <a:ext cx="635736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F4F7"/>
                </a:solidFill>
                <a:latin typeface="Manrope" pitchFamily="34" charset="0"/>
                <a:ea typeface="Manrope" pitchFamily="34" charset="-122"/>
                <a:cs typeface="Manrope" pitchFamily="34" charset="-120"/>
              </a:rPr>
              <a:t>Recognize · AI plugins</a:t>
            </a:r>
            <a:endParaRPr lang="en-US" sz="1400" dirty="0"/>
          </a:p>
        </p:txBody>
      </p:sp>
      <p:sp>
        <p:nvSpPr>
          <p:cNvPr id="22" name="Text 20"/>
          <p:cNvSpPr/>
          <p:nvPr/>
        </p:nvSpPr>
        <p:spPr>
          <a:xfrm>
            <a:off x="4889500" y="3108970"/>
            <a:ext cx="635736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3BBC7"/>
                </a:solidFill>
                <a:latin typeface="Manrope" pitchFamily="34" charset="0"/>
                <a:ea typeface="Manrope" pitchFamily="34" charset="-122"/>
                <a:cs typeface="Manrope" pitchFamily="34" charset="-120"/>
              </a:rPr>
              <a:t>Faces: embed fdet’s crop, match gallery · LPR: one read per passage</a:t>
            </a:r>
            <a:endParaRPr lang="en-US" sz="1200" dirty="0"/>
          </a:p>
        </p:txBody>
      </p:sp>
      <p:sp>
        <p:nvSpPr>
          <p:cNvPr id="23" name="Text 21"/>
          <p:cNvSpPr/>
          <p:nvPr/>
        </p:nvSpPr>
        <p:spPr>
          <a:xfrm>
            <a:off x="4889500" y="3319760"/>
            <a:ext cx="635736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3BBC7"/>
                </a:solidFill>
                <a:latin typeface="Manrope" pitchFamily="34" charset="0"/>
                <a:ea typeface="Manrope" pitchFamily="34" charset="-122"/>
                <a:cs typeface="Manrope" pitchFamily="34" charset="-120"/>
              </a:rPr>
              <a:t>Fusion model (face + vehicle + plate): not built yet</a:t>
            </a:r>
            <a:endParaRPr lang="en-US" sz="1200" dirty="0"/>
          </a:p>
        </p:txBody>
      </p:sp>
      <p:sp>
        <p:nvSpPr>
          <p:cNvPr id="24" name="Shape 22"/>
          <p:cNvSpPr/>
          <p:nvPr/>
        </p:nvSpPr>
        <p:spPr>
          <a:xfrm>
            <a:off x="4781550" y="3816350"/>
            <a:ext cx="6388100" cy="800100"/>
          </a:xfrm>
          <a:prstGeom prst="roundRect">
            <a:avLst>
              <a:gd name="adj" fmla="val 5556"/>
            </a:avLst>
          </a:prstGeom>
          <a:solidFill>
            <a:srgbClr val="0B1018"/>
          </a:solidFill>
          <a:ln w="12700">
            <a:solidFill>
              <a:srgbClr val="5FD3C4"/>
            </a:solidFill>
            <a:prstDash val="solid"/>
          </a:ln>
        </p:spPr>
      </p:sp>
      <p:sp>
        <p:nvSpPr>
          <p:cNvPr id="25" name="Text 23"/>
          <p:cNvSpPr/>
          <p:nvPr/>
        </p:nvSpPr>
        <p:spPr>
          <a:xfrm>
            <a:off x="4889500" y="3898950"/>
            <a:ext cx="635736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F4F7"/>
                </a:solidFill>
                <a:latin typeface="Manrope" pitchFamily="34" charset="0"/>
                <a:ea typeface="Manrope" pitchFamily="34" charset="-122"/>
                <a:cs typeface="Manrope" pitchFamily="34" charset="-120"/>
              </a:rPr>
              <a:t>Understand · embedder and forensics</a:t>
            </a:r>
            <a:endParaRPr lang="en-US" sz="1400" dirty="0"/>
          </a:p>
        </p:txBody>
      </p:sp>
      <p:sp>
        <p:nvSpPr>
          <p:cNvPr id="26" name="Text 24"/>
          <p:cNvSpPr/>
          <p:nvPr/>
        </p:nvSpPr>
        <p:spPr>
          <a:xfrm>
            <a:off x="4889500" y="4124970"/>
            <a:ext cx="635736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3BBC7"/>
                </a:solidFill>
                <a:latin typeface="Manrope" pitchFamily="34" charset="0"/>
                <a:ea typeface="Manrope" pitchFamily="34" charset="-122"/>
                <a:cs typeface="Manrope" pitchFamily="34" charset="-120"/>
              </a:rPr>
              <a:t>Embedder: best 3 frames per track → Qdrant vectors</a:t>
            </a:r>
            <a:endParaRPr lang="en-US" sz="1200" dirty="0"/>
          </a:p>
        </p:txBody>
      </p:sp>
      <p:sp>
        <p:nvSpPr>
          <p:cNvPr id="27" name="Text 25"/>
          <p:cNvSpPr/>
          <p:nvPr/>
        </p:nvSpPr>
        <p:spPr>
          <a:xfrm>
            <a:off x="4889500" y="4335760"/>
            <a:ext cx="635736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3BBC7"/>
                </a:solidFill>
                <a:latin typeface="Manrope" pitchFamily="34" charset="0"/>
                <a:ea typeface="Manrope" pitchFamily="34" charset="-122"/>
                <a:cs typeface="Manrope" pitchFamily="34" charset="-120"/>
              </a:rPr>
              <a:t>Search, Activity Layers, alerts, forensic jobs</a:t>
            </a:r>
            <a:endParaRPr lang="en-US" sz="1200" dirty="0"/>
          </a:p>
        </p:txBody>
      </p:sp>
      <p:sp>
        <p:nvSpPr>
          <p:cNvPr id="28" name="Shape 26"/>
          <p:cNvSpPr/>
          <p:nvPr/>
        </p:nvSpPr>
        <p:spPr>
          <a:xfrm>
            <a:off x="1123950" y="5137150"/>
            <a:ext cx="2832100" cy="698500"/>
          </a:xfrm>
          <a:prstGeom prst="roundRect">
            <a:avLst>
              <a:gd name="adj" fmla="val 6364"/>
            </a:avLst>
          </a:prstGeom>
          <a:solidFill>
            <a:srgbClr val="0B1018"/>
          </a:solidFill>
          <a:ln w="12700">
            <a:solidFill>
              <a:srgbClr val="DCE2EA"/>
            </a:solidFill>
            <a:prstDash val="solid"/>
          </a:ln>
        </p:spPr>
      </p:sp>
      <p:sp>
        <p:nvSpPr>
          <p:cNvPr id="29" name="Text 27"/>
          <p:cNvSpPr/>
          <p:nvPr/>
        </p:nvSpPr>
        <p:spPr>
          <a:xfrm>
            <a:off x="1231900" y="5194300"/>
            <a:ext cx="2694686" cy="221010"/>
          </a:xfrm>
          <a:prstGeom prst="rect">
            <a:avLst/>
          </a:prstGeom>
          <a:noFill/>
          <a:ln/>
        </p:spPr>
        <p:txBody>
          <a:bodyPr wrap="square" lIns="0" tIns="0" rIns="0" bIns="0" rtlCol="0" anchor="t">
            <a:normAutofit/>
          </a:bodyPr>
          <a:lstStyle/>
          <a:p>
            <a:pPr algn="l" indent="0" marL="0">
              <a:lnSpc>
                <a:spcPts val="1570"/>
              </a:lnSpc>
              <a:buNone/>
            </a:pPr>
            <a:r>
              <a:rPr lang="en-US" sz="1308" b="1" dirty="0">
                <a:solidFill>
                  <a:srgbClr val="F2F4F7"/>
                </a:solidFill>
                <a:latin typeface="Manrope" pitchFamily="34" charset="0"/>
                <a:ea typeface="Manrope" pitchFamily="34" charset="-122"/>
                <a:cs typeface="Manrope" pitchFamily="34" charset="-120"/>
              </a:rPr>
              <a:t>prism-stream-sink</a:t>
            </a:r>
            <a:endParaRPr lang="en-US" sz="1308" dirty="0"/>
          </a:p>
        </p:txBody>
      </p:sp>
      <p:sp>
        <p:nvSpPr>
          <p:cNvPr id="30" name="Text 28"/>
          <p:cNvSpPr/>
          <p:nvPr/>
        </p:nvSpPr>
        <p:spPr>
          <a:xfrm>
            <a:off x="1231900" y="5402610"/>
            <a:ext cx="2694686" cy="206970"/>
          </a:xfrm>
          <a:prstGeom prst="rect">
            <a:avLst/>
          </a:prstGeom>
          <a:noFill/>
          <a:ln/>
        </p:spPr>
        <p:txBody>
          <a:bodyPr wrap="square" lIns="0" tIns="0" rIns="0" bIns="0" rtlCol="0" anchor="t">
            <a:normAutofit/>
          </a:bodyPr>
          <a:lstStyle/>
          <a:p>
            <a:pPr algn="l" indent="0" marL="0">
              <a:lnSpc>
                <a:spcPts val="1472"/>
              </a:lnSpc>
              <a:buNone/>
            </a:pPr>
            <a:r>
              <a:rPr lang="en-US" sz="1133" dirty="0">
                <a:solidFill>
                  <a:srgbClr val="B3BBC7"/>
                </a:solidFill>
                <a:latin typeface="Manrope" pitchFamily="34" charset="0"/>
                <a:ea typeface="Manrope" pitchFamily="34" charset="-122"/>
                <a:cs typeface="Manrope" pitchFamily="34" charset="-120"/>
              </a:rPr>
              <a:t>H.264 passthrough</a:t>
            </a:r>
            <a:endParaRPr lang="en-US" sz="1133" dirty="0"/>
          </a:p>
        </p:txBody>
      </p:sp>
      <p:sp>
        <p:nvSpPr>
          <p:cNvPr id="31" name="Text 29"/>
          <p:cNvSpPr/>
          <p:nvPr/>
        </p:nvSpPr>
        <p:spPr>
          <a:xfrm>
            <a:off x="1231900" y="5596880"/>
            <a:ext cx="2694686" cy="207020"/>
          </a:xfrm>
          <a:prstGeom prst="rect">
            <a:avLst/>
          </a:prstGeom>
          <a:noFill/>
          <a:ln/>
        </p:spPr>
        <p:txBody>
          <a:bodyPr wrap="square" lIns="0" tIns="0" rIns="0" bIns="0" rtlCol="0" anchor="t">
            <a:normAutofit/>
          </a:bodyPr>
          <a:lstStyle/>
          <a:p>
            <a:pPr algn="l" indent="0" marL="0">
              <a:lnSpc>
                <a:spcPts val="1472"/>
              </a:lnSpc>
              <a:buNone/>
            </a:pPr>
            <a:r>
              <a:rPr lang="en-US" sz="1133" dirty="0">
                <a:solidFill>
                  <a:srgbClr val="B3BBC7"/>
                </a:solidFill>
                <a:latin typeface="Manrope" pitchFamily="34" charset="0"/>
                <a:ea typeface="Manrope" pitchFamily="34" charset="-122"/>
                <a:cs typeface="Manrope" pitchFamily="34" charset="-120"/>
              </a:rPr>
              <a:t>RTSP push to MediaMTX</a:t>
            </a:r>
            <a:endParaRPr lang="en-US" sz="1133" dirty="0"/>
          </a:p>
        </p:txBody>
      </p:sp>
      <p:sp>
        <p:nvSpPr>
          <p:cNvPr id="32" name="Shape 30"/>
          <p:cNvSpPr/>
          <p:nvPr/>
        </p:nvSpPr>
        <p:spPr>
          <a:xfrm>
            <a:off x="4476750" y="5137150"/>
            <a:ext cx="3035300" cy="698500"/>
          </a:xfrm>
          <a:prstGeom prst="roundRect">
            <a:avLst>
              <a:gd name="adj" fmla="val 6364"/>
            </a:avLst>
          </a:prstGeom>
          <a:solidFill>
            <a:srgbClr val="121821"/>
          </a:solidFill>
          <a:ln w="12700">
            <a:solidFill>
              <a:srgbClr val="475263"/>
            </a:solidFill>
            <a:prstDash val="solid"/>
          </a:ln>
        </p:spPr>
      </p:sp>
      <p:sp>
        <p:nvSpPr>
          <p:cNvPr id="33" name="Text 31"/>
          <p:cNvSpPr/>
          <p:nvPr/>
        </p:nvSpPr>
        <p:spPr>
          <a:xfrm>
            <a:off x="4584700" y="5194300"/>
            <a:ext cx="2903982" cy="221010"/>
          </a:xfrm>
          <a:prstGeom prst="rect">
            <a:avLst/>
          </a:prstGeom>
          <a:noFill/>
          <a:ln/>
        </p:spPr>
        <p:txBody>
          <a:bodyPr wrap="square" lIns="0" tIns="0" rIns="0" bIns="0" rtlCol="0" anchor="t">
            <a:normAutofit/>
          </a:bodyPr>
          <a:lstStyle/>
          <a:p>
            <a:pPr algn="l" indent="0" marL="0">
              <a:lnSpc>
                <a:spcPts val="1570"/>
              </a:lnSpc>
              <a:buNone/>
            </a:pPr>
            <a:r>
              <a:rPr lang="en-US" sz="1308" b="1" dirty="0">
                <a:solidFill>
                  <a:srgbClr val="F2F4F7"/>
                </a:solidFill>
                <a:latin typeface="Manrope" pitchFamily="34" charset="0"/>
                <a:ea typeface="Manrope" pitchFamily="34" charset="-122"/>
                <a:cs typeface="Manrope" pitchFamily="34" charset="-120"/>
              </a:rPr>
              <a:t>Video player</a:t>
            </a:r>
            <a:endParaRPr lang="en-US" sz="1308" dirty="0"/>
          </a:p>
        </p:txBody>
      </p:sp>
      <p:sp>
        <p:nvSpPr>
          <p:cNvPr id="34" name="Text 32"/>
          <p:cNvSpPr/>
          <p:nvPr/>
        </p:nvSpPr>
        <p:spPr>
          <a:xfrm>
            <a:off x="4584700" y="5402610"/>
            <a:ext cx="2903982" cy="206970"/>
          </a:xfrm>
          <a:prstGeom prst="rect">
            <a:avLst/>
          </a:prstGeom>
          <a:noFill/>
          <a:ln/>
        </p:spPr>
        <p:txBody>
          <a:bodyPr wrap="square" lIns="0" tIns="0" rIns="0" bIns="0" rtlCol="0" anchor="t">
            <a:normAutofit/>
          </a:bodyPr>
          <a:lstStyle/>
          <a:p>
            <a:pPr algn="l" indent="0" marL="0">
              <a:lnSpc>
                <a:spcPts val="1472"/>
              </a:lnSpc>
              <a:buNone/>
            </a:pPr>
            <a:r>
              <a:rPr lang="en-US" sz="1133" dirty="0">
                <a:solidFill>
                  <a:srgbClr val="B3BBC7"/>
                </a:solidFill>
                <a:latin typeface="Manrope" pitchFamily="34" charset="0"/>
                <a:ea typeface="Manrope" pitchFamily="34" charset="-122"/>
                <a:cs typeface="Manrope" pitchFamily="34" charset="-120"/>
              </a:rPr>
              <a:t>Live view via MediaMTX</a:t>
            </a:r>
            <a:endParaRPr lang="en-US" sz="1133" dirty="0"/>
          </a:p>
        </p:txBody>
      </p:sp>
      <p:sp>
        <p:nvSpPr>
          <p:cNvPr id="35" name="Text 33"/>
          <p:cNvSpPr/>
          <p:nvPr/>
        </p:nvSpPr>
        <p:spPr>
          <a:xfrm>
            <a:off x="4584700" y="5596880"/>
            <a:ext cx="2903982" cy="207020"/>
          </a:xfrm>
          <a:prstGeom prst="rect">
            <a:avLst/>
          </a:prstGeom>
          <a:noFill/>
          <a:ln/>
        </p:spPr>
        <p:txBody>
          <a:bodyPr wrap="square" lIns="0" tIns="0" rIns="0" bIns="0" rtlCol="0" anchor="t">
            <a:normAutofit/>
          </a:bodyPr>
          <a:lstStyle/>
          <a:p>
            <a:pPr algn="l" indent="0" marL="0">
              <a:lnSpc>
                <a:spcPts val="1472"/>
              </a:lnSpc>
              <a:buNone/>
            </a:pPr>
            <a:r>
              <a:rPr lang="en-US" sz="1133" dirty="0">
                <a:solidFill>
                  <a:srgbClr val="B3BBC7"/>
                </a:solidFill>
                <a:latin typeface="Manrope" pitchFamily="34" charset="0"/>
                <a:ea typeface="Manrope" pitchFamily="34" charset="-122"/>
                <a:cs typeface="Manrope" pitchFamily="34" charset="-120"/>
              </a:rPr>
              <a:t>Recorded playback</a:t>
            </a:r>
            <a:endParaRPr lang="en-US" sz="1133" dirty="0"/>
          </a:p>
        </p:txBody>
      </p:sp>
      <p:sp>
        <p:nvSpPr>
          <p:cNvPr id="36" name="Shape 34"/>
          <p:cNvSpPr/>
          <p:nvPr/>
        </p:nvSpPr>
        <p:spPr>
          <a:xfrm>
            <a:off x="8032750" y="5137150"/>
            <a:ext cx="3340100" cy="698500"/>
          </a:xfrm>
          <a:prstGeom prst="roundRect">
            <a:avLst>
              <a:gd name="adj" fmla="val 6364"/>
            </a:avLst>
          </a:prstGeom>
          <a:solidFill>
            <a:srgbClr val="0B1018"/>
          </a:solidFill>
          <a:ln w="12700">
            <a:solidFill>
              <a:srgbClr val="DCE2EA"/>
            </a:solidFill>
            <a:prstDash val="solid"/>
          </a:ln>
        </p:spPr>
      </p:sp>
      <p:sp>
        <p:nvSpPr>
          <p:cNvPr id="37" name="Text 35"/>
          <p:cNvSpPr/>
          <p:nvPr/>
        </p:nvSpPr>
        <p:spPr>
          <a:xfrm>
            <a:off x="8140700" y="5194300"/>
            <a:ext cx="3217926" cy="221010"/>
          </a:xfrm>
          <a:prstGeom prst="rect">
            <a:avLst/>
          </a:prstGeom>
          <a:noFill/>
          <a:ln/>
        </p:spPr>
        <p:txBody>
          <a:bodyPr wrap="square" lIns="0" tIns="0" rIns="0" bIns="0" rtlCol="0" anchor="t">
            <a:normAutofit/>
          </a:bodyPr>
          <a:lstStyle/>
          <a:p>
            <a:pPr algn="l" indent="0" marL="0">
              <a:lnSpc>
                <a:spcPts val="1570"/>
              </a:lnSpc>
              <a:buNone/>
            </a:pPr>
            <a:r>
              <a:rPr lang="en-US" sz="1308" b="1" dirty="0">
                <a:solidFill>
                  <a:srgbClr val="F2F4F7"/>
                </a:solidFill>
                <a:latin typeface="Manrope" pitchFamily="34" charset="0"/>
                <a:ea typeface="Manrope" pitchFamily="34" charset="-122"/>
                <a:cs typeface="Manrope" pitchFamily="34" charset="-120"/>
              </a:rPr>
              <a:t>DB · prism-core</a:t>
            </a:r>
            <a:endParaRPr lang="en-US" sz="1308" dirty="0"/>
          </a:p>
        </p:txBody>
      </p:sp>
      <p:sp>
        <p:nvSpPr>
          <p:cNvPr id="38" name="Text 36"/>
          <p:cNvSpPr/>
          <p:nvPr/>
        </p:nvSpPr>
        <p:spPr>
          <a:xfrm>
            <a:off x="8140700" y="5402610"/>
            <a:ext cx="3217926" cy="206970"/>
          </a:xfrm>
          <a:prstGeom prst="rect">
            <a:avLst/>
          </a:prstGeom>
          <a:noFill/>
          <a:ln/>
        </p:spPr>
        <p:txBody>
          <a:bodyPr wrap="square" lIns="0" tIns="0" rIns="0" bIns="0" rtlCol="0" anchor="t">
            <a:normAutofit/>
          </a:bodyPr>
          <a:lstStyle/>
          <a:p>
            <a:pPr algn="l" indent="0" marL="0">
              <a:lnSpc>
                <a:spcPts val="1472"/>
              </a:lnSpc>
              <a:buNone/>
            </a:pPr>
            <a:r>
              <a:rPr lang="en-US" sz="1133" dirty="0">
                <a:solidFill>
                  <a:srgbClr val="B3BBC7"/>
                </a:solidFill>
                <a:latin typeface="Manrope" pitchFamily="34" charset="0"/>
                <a:ea typeface="Manrope" pitchFamily="34" charset="-122"/>
                <a:cs typeface="Manrope" pitchFamily="34" charset="-120"/>
              </a:rPr>
              <a:t>MongoDB, Qdrant for vectors</a:t>
            </a:r>
            <a:endParaRPr lang="en-US" sz="1133" dirty="0"/>
          </a:p>
        </p:txBody>
      </p:sp>
      <p:sp>
        <p:nvSpPr>
          <p:cNvPr id="39" name="Text 37"/>
          <p:cNvSpPr/>
          <p:nvPr/>
        </p:nvSpPr>
        <p:spPr>
          <a:xfrm>
            <a:off x="8140700" y="5596880"/>
            <a:ext cx="3217926" cy="207020"/>
          </a:xfrm>
          <a:prstGeom prst="rect">
            <a:avLst/>
          </a:prstGeom>
          <a:noFill/>
          <a:ln/>
        </p:spPr>
        <p:txBody>
          <a:bodyPr wrap="square" lIns="0" tIns="0" rIns="0" bIns="0" rtlCol="0" anchor="t">
            <a:normAutofit/>
          </a:bodyPr>
          <a:lstStyle/>
          <a:p>
            <a:pPr algn="l" indent="0" marL="0">
              <a:lnSpc>
                <a:spcPts val="1472"/>
              </a:lnSpc>
              <a:buNone/>
            </a:pPr>
            <a:r>
              <a:rPr lang="en-US" sz="1133" dirty="0">
                <a:solidFill>
                  <a:srgbClr val="B3BBC7"/>
                </a:solidFill>
                <a:latin typeface="Manrope" pitchFamily="34" charset="0"/>
                <a:ea typeface="Manrope" pitchFamily="34" charset="-122"/>
                <a:cs typeface="Manrope" pitchFamily="34" charset="-120"/>
              </a:rPr>
              <a:t>Events via Redis Streams</a:t>
            </a:r>
            <a:endParaRPr lang="en-US" sz="1133" dirty="0"/>
          </a:p>
        </p:txBody>
      </p:sp>
      <p:pic>
        <p:nvPicPr>
          <p:cNvPr id="40" name="Image 0" descr="connector">    </p:cNvPr>
          <p:cNvPicPr>
            <a:picLocks noChangeAspect="1"/>
          </p:cNvPicPr>
          <p:nvPr/>
        </p:nvPicPr>
        <p:blipFill>
          <a:blip r:embed="rId1"/>
          <a:srcRect l="0" r="0" t="0" b="0"/>
          <a:stretch/>
        </p:blipFill>
        <p:spPr>
          <a:xfrm>
            <a:off x="2489200" y="2133600"/>
            <a:ext cx="101600" cy="330200"/>
          </a:xfrm>
          <a:prstGeom prst="rect">
            <a:avLst/>
          </a:prstGeom>
        </p:spPr>
      </p:pic>
      <p:pic>
        <p:nvPicPr>
          <p:cNvPr id="41" name="Image 1" descr="connector">    </p:cNvPr>
          <p:cNvPicPr>
            <a:picLocks noChangeAspect="1"/>
          </p:cNvPicPr>
          <p:nvPr/>
        </p:nvPicPr>
        <p:blipFill>
          <a:blip r:embed="rId2"/>
          <a:srcRect l="0" r="0" t="0" b="0"/>
          <a:stretch/>
        </p:blipFill>
        <p:spPr>
          <a:xfrm>
            <a:off x="2489200" y="3149600"/>
            <a:ext cx="101600" cy="330200"/>
          </a:xfrm>
          <a:prstGeom prst="rect">
            <a:avLst/>
          </a:prstGeom>
        </p:spPr>
      </p:pic>
      <p:pic>
        <p:nvPicPr>
          <p:cNvPr id="42" name="Image 2" descr="connector">    </p:cNvPr>
          <p:cNvPicPr>
            <a:picLocks noChangeAspect="1"/>
          </p:cNvPicPr>
          <p:nvPr/>
        </p:nvPicPr>
        <p:blipFill>
          <a:blip r:embed="rId3"/>
          <a:srcRect l="0" r="0" t="0" b="0"/>
          <a:stretch/>
        </p:blipFill>
        <p:spPr>
          <a:xfrm>
            <a:off x="2489200" y="4165600"/>
            <a:ext cx="101600" cy="330200"/>
          </a:xfrm>
          <a:prstGeom prst="rect">
            <a:avLst/>
          </a:prstGeom>
        </p:spPr>
      </p:pic>
      <p:pic>
        <p:nvPicPr>
          <p:cNvPr id="43" name="Image 3" descr="connector">    </p:cNvPr>
          <p:cNvPicPr>
            <a:picLocks noChangeAspect="1"/>
          </p:cNvPicPr>
          <p:nvPr/>
        </p:nvPicPr>
        <p:blipFill>
          <a:blip r:embed="rId4"/>
          <a:srcRect l="0" r="0" t="0" b="0"/>
          <a:stretch/>
        </p:blipFill>
        <p:spPr>
          <a:xfrm>
            <a:off x="7924800" y="2540000"/>
            <a:ext cx="101600" cy="304800"/>
          </a:xfrm>
          <a:prstGeom prst="rect">
            <a:avLst/>
          </a:prstGeom>
        </p:spPr>
      </p:pic>
      <p:pic>
        <p:nvPicPr>
          <p:cNvPr id="44" name="Image 4" descr="connector">    </p:cNvPr>
          <p:cNvPicPr>
            <a:picLocks noChangeAspect="1"/>
          </p:cNvPicPr>
          <p:nvPr/>
        </p:nvPicPr>
        <p:blipFill>
          <a:blip r:embed="rId5"/>
          <a:srcRect l="0" r="0" t="0" b="0"/>
          <a:stretch/>
        </p:blipFill>
        <p:spPr>
          <a:xfrm>
            <a:off x="7924800" y="3556000"/>
            <a:ext cx="101600" cy="304800"/>
          </a:xfrm>
          <a:prstGeom prst="rect">
            <a:avLst/>
          </a:prstGeom>
        </p:spPr>
      </p:pic>
      <p:pic>
        <p:nvPicPr>
          <p:cNvPr id="45" name="Image 5" descr="connector">    </p:cNvPr>
          <p:cNvPicPr>
            <a:picLocks noChangeAspect="1"/>
          </p:cNvPicPr>
          <p:nvPr/>
        </p:nvPicPr>
        <p:blipFill>
          <a:blip r:embed="rId6"/>
          <a:srcRect l="0" r="0" t="0" b="0"/>
          <a:stretch/>
        </p:blipFill>
        <p:spPr>
          <a:xfrm>
            <a:off x="3911600" y="2743200"/>
            <a:ext cx="711200" cy="101600"/>
          </a:xfrm>
          <a:prstGeom prst="rect">
            <a:avLst/>
          </a:prstGeom>
        </p:spPr>
      </p:pic>
      <p:pic>
        <p:nvPicPr>
          <p:cNvPr id="46" name="Image 6" descr="connector">    </p:cNvPr>
          <p:cNvPicPr>
            <a:picLocks noChangeAspect="1"/>
          </p:cNvPicPr>
          <p:nvPr/>
        </p:nvPicPr>
        <p:blipFill>
          <a:blip r:embed="rId7"/>
          <a:srcRect l="0" r="0" t="0" b="0"/>
          <a:stretch/>
        </p:blipFill>
        <p:spPr>
          <a:xfrm>
            <a:off x="3911600" y="3771900"/>
            <a:ext cx="711200" cy="101600"/>
          </a:xfrm>
          <a:prstGeom prst="rect">
            <a:avLst/>
          </a:prstGeom>
        </p:spPr>
      </p:pic>
      <p:pic>
        <p:nvPicPr>
          <p:cNvPr id="47" name="Image 7" descr="connector">    </p:cNvPr>
          <p:cNvPicPr>
            <a:picLocks noChangeAspect="1"/>
          </p:cNvPicPr>
          <p:nvPr/>
        </p:nvPicPr>
        <p:blipFill>
          <a:blip r:embed="rId8"/>
          <a:srcRect l="0" r="0" t="0" b="0"/>
          <a:stretch/>
        </p:blipFill>
        <p:spPr>
          <a:xfrm>
            <a:off x="863600" y="2755900"/>
            <a:ext cx="304800" cy="101600"/>
          </a:xfrm>
          <a:prstGeom prst="rect">
            <a:avLst/>
          </a:prstGeom>
        </p:spPr>
      </p:pic>
      <p:pic>
        <p:nvPicPr>
          <p:cNvPr id="48" name="Image 8" descr="connector">    </p:cNvPr>
          <p:cNvPicPr>
            <a:picLocks noChangeAspect="1"/>
          </p:cNvPicPr>
          <p:nvPr/>
        </p:nvPicPr>
        <p:blipFill>
          <a:blip r:embed="rId9"/>
          <a:srcRect l="0" r="0" t="0" b="0"/>
          <a:stretch/>
        </p:blipFill>
        <p:spPr>
          <a:xfrm>
            <a:off x="863600" y="2755900"/>
            <a:ext cx="101600" cy="2781300"/>
          </a:xfrm>
          <a:prstGeom prst="rect">
            <a:avLst/>
          </a:prstGeom>
        </p:spPr>
      </p:pic>
      <p:pic>
        <p:nvPicPr>
          <p:cNvPr id="49" name="Image 9" descr="connector">    </p:cNvPr>
          <p:cNvPicPr>
            <a:picLocks noChangeAspect="1"/>
          </p:cNvPicPr>
          <p:nvPr/>
        </p:nvPicPr>
        <p:blipFill>
          <a:blip r:embed="rId10"/>
          <a:srcRect l="0" r="0" t="0" b="0"/>
          <a:stretch/>
        </p:blipFill>
        <p:spPr>
          <a:xfrm>
            <a:off x="863600" y="5435600"/>
            <a:ext cx="304800" cy="101600"/>
          </a:xfrm>
          <a:prstGeom prst="rect">
            <a:avLst/>
          </a:prstGeom>
        </p:spPr>
      </p:pic>
      <p:pic>
        <p:nvPicPr>
          <p:cNvPr id="50" name="Image 10" descr="connector">    </p:cNvPr>
          <p:cNvPicPr>
            <a:picLocks noChangeAspect="1"/>
          </p:cNvPicPr>
          <p:nvPr/>
        </p:nvPicPr>
        <p:blipFill>
          <a:blip r:embed="rId11"/>
          <a:srcRect l="0" r="0" t="0" b="0"/>
          <a:stretch/>
        </p:blipFill>
        <p:spPr>
          <a:xfrm>
            <a:off x="3911600" y="5435600"/>
            <a:ext cx="609600" cy="101600"/>
          </a:xfrm>
          <a:prstGeom prst="rect">
            <a:avLst/>
          </a:prstGeom>
        </p:spPr>
      </p:pic>
      <p:pic>
        <p:nvPicPr>
          <p:cNvPr id="51" name="Image 11" descr="connector">    </p:cNvPr>
          <p:cNvPicPr>
            <a:picLocks noChangeAspect="1"/>
          </p:cNvPicPr>
          <p:nvPr/>
        </p:nvPicPr>
        <p:blipFill>
          <a:blip r:embed="rId12"/>
          <a:srcRect l="0" r="0" t="0" b="0"/>
          <a:stretch/>
        </p:blipFill>
        <p:spPr>
          <a:xfrm>
            <a:off x="7467600" y="5435600"/>
            <a:ext cx="609600" cy="101600"/>
          </a:xfrm>
          <a:prstGeom prst="rect">
            <a:avLst/>
          </a:prstGeom>
        </p:spPr>
      </p:pic>
      <p:pic>
        <p:nvPicPr>
          <p:cNvPr id="52" name="Image 12" descr="connector">    </p:cNvPr>
          <p:cNvPicPr>
            <a:picLocks noChangeAspect="1"/>
          </p:cNvPicPr>
          <p:nvPr/>
        </p:nvPicPr>
        <p:blipFill>
          <a:blip r:embed="rId13"/>
          <a:srcRect l="0" r="0" t="0" b="0"/>
          <a:stretch/>
        </p:blipFill>
        <p:spPr>
          <a:xfrm>
            <a:off x="9652000" y="4800600"/>
            <a:ext cx="101600" cy="381000"/>
          </a:xfrm>
          <a:prstGeom prst="rect">
            <a:avLst/>
          </a:prstGeom>
        </p:spPr>
      </p:pic>
      <p:sp>
        <p:nvSpPr>
          <p:cNvPr id="53" name="Text 38"/>
          <p:cNvSpPr/>
          <p:nvPr/>
        </p:nvSpPr>
        <p:spPr>
          <a:xfrm>
            <a:off x="2641600" y="2190750"/>
            <a:ext cx="4445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D8696"/>
                </a:solidFill>
                <a:latin typeface="Manrope" pitchFamily="34" charset="0"/>
                <a:ea typeface="Manrope" pitchFamily="34" charset="-122"/>
                <a:cs typeface="Manrope" pitchFamily="34" charset="-120"/>
              </a:rPr>
              <a:t>RTSP</a:t>
            </a:r>
            <a:endParaRPr lang="en-US" sz="1200" dirty="0"/>
          </a:p>
        </p:txBody>
      </p:sp>
      <p:sp>
        <p:nvSpPr>
          <p:cNvPr id="54" name="Text 39"/>
          <p:cNvSpPr/>
          <p:nvPr/>
        </p:nvSpPr>
        <p:spPr>
          <a:xfrm>
            <a:off x="2641600" y="3206750"/>
            <a:ext cx="6985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D8696"/>
                </a:solidFill>
                <a:latin typeface="Manrope" pitchFamily="34" charset="0"/>
                <a:ea typeface="Manrope" pitchFamily="34" charset="-122"/>
                <a:cs typeface="Manrope" pitchFamily="34" charset="-120"/>
              </a:rPr>
              <a:t>fan-out</a:t>
            </a:r>
            <a:endParaRPr lang="en-US" sz="1200" dirty="0"/>
          </a:p>
        </p:txBody>
      </p:sp>
      <p:sp>
        <p:nvSpPr>
          <p:cNvPr id="55" name="Text 40"/>
          <p:cNvSpPr/>
          <p:nvPr/>
        </p:nvSpPr>
        <p:spPr>
          <a:xfrm>
            <a:off x="2641600" y="4222750"/>
            <a:ext cx="10414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D8696"/>
                </a:solidFill>
                <a:latin typeface="Manrope" pitchFamily="34" charset="0"/>
                <a:ea typeface="Manrope" pitchFamily="34" charset="-122"/>
                <a:cs typeface="Manrope" pitchFamily="34" charset="-120"/>
              </a:rPr>
              <a:t>compat lane</a:t>
            </a:r>
            <a:endParaRPr lang="en-US" sz="1200" dirty="0"/>
          </a:p>
        </p:txBody>
      </p:sp>
      <p:sp>
        <p:nvSpPr>
          <p:cNvPr id="56" name="Text 41"/>
          <p:cNvSpPr/>
          <p:nvPr/>
        </p:nvSpPr>
        <p:spPr>
          <a:xfrm>
            <a:off x="4038600" y="2527300"/>
            <a:ext cx="5334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FD3C4"/>
                </a:solidFill>
                <a:latin typeface="Manrope" pitchFamily="34" charset="0"/>
                <a:ea typeface="Manrope" pitchFamily="34" charset="-122"/>
                <a:cs typeface="Manrope" pitchFamily="34" charset="-120"/>
              </a:rPr>
              <a:t>boxes</a:t>
            </a:r>
            <a:endParaRPr lang="en-US" sz="1200" dirty="0"/>
          </a:p>
        </p:txBody>
      </p:sp>
      <p:sp>
        <p:nvSpPr>
          <p:cNvPr id="57" name="Text 42"/>
          <p:cNvSpPr/>
          <p:nvPr/>
        </p:nvSpPr>
        <p:spPr>
          <a:xfrm>
            <a:off x="4000500" y="3886200"/>
            <a:ext cx="6096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D8696"/>
                </a:solidFill>
                <a:latin typeface="Manrope" pitchFamily="34" charset="0"/>
                <a:ea typeface="Manrope" pitchFamily="34" charset="-122"/>
                <a:cs typeface="Manrope" pitchFamily="34" charset="-120"/>
              </a:rPr>
              <a:t>frames</a:t>
            </a:r>
            <a:endParaRPr lang="en-US" sz="1200" dirty="0"/>
          </a:p>
        </p:txBody>
      </p:sp>
      <p:sp>
        <p:nvSpPr>
          <p:cNvPr id="58" name="Text 43"/>
          <p:cNvSpPr/>
          <p:nvPr/>
        </p:nvSpPr>
        <p:spPr>
          <a:xfrm>
            <a:off x="1219200" y="4889500"/>
            <a:ext cx="1701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D8696"/>
                </a:solidFill>
                <a:latin typeface="Manrope" pitchFamily="34" charset="0"/>
                <a:ea typeface="Manrope" pitchFamily="34" charset="-122"/>
                <a:cs typeface="Manrope" pitchFamily="34" charset="-120"/>
              </a:rPr>
              <a:t>H.264 over ZMQ</a:t>
            </a:r>
            <a:endParaRPr lang="en-US" sz="1200" dirty="0"/>
          </a:p>
        </p:txBody>
      </p:sp>
      <p:sp>
        <p:nvSpPr>
          <p:cNvPr id="59" name="Text 44"/>
          <p:cNvSpPr/>
          <p:nvPr/>
        </p:nvSpPr>
        <p:spPr>
          <a:xfrm>
            <a:off x="4038600" y="5219700"/>
            <a:ext cx="431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D8696"/>
                </a:solidFill>
                <a:latin typeface="Manrope" pitchFamily="34" charset="0"/>
                <a:ea typeface="Manrope" pitchFamily="34" charset="-122"/>
                <a:cs typeface="Manrope" pitchFamily="34" charset="-120"/>
              </a:rPr>
              <a:t>live</a:t>
            </a:r>
            <a:endParaRPr lang="en-US" sz="1200" dirty="0"/>
          </a:p>
        </p:txBody>
      </p:sp>
      <p:sp>
        <p:nvSpPr>
          <p:cNvPr id="60" name="Text 45"/>
          <p:cNvSpPr/>
          <p:nvPr/>
        </p:nvSpPr>
        <p:spPr>
          <a:xfrm>
            <a:off x="7581900" y="5219700"/>
            <a:ext cx="457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D8696"/>
                </a:solidFill>
                <a:latin typeface="Manrope" pitchFamily="34" charset="0"/>
                <a:ea typeface="Manrope" pitchFamily="34" charset="-122"/>
                <a:cs typeface="Manrope" pitchFamily="34" charset="-120"/>
              </a:rPr>
              <a:t>data</a:t>
            </a:r>
            <a:endParaRPr lang="en-US" sz="1200" dirty="0"/>
          </a:p>
        </p:txBody>
      </p:sp>
      <p:sp>
        <p:nvSpPr>
          <p:cNvPr id="61" name="Text 46"/>
          <p:cNvSpPr/>
          <p:nvPr/>
        </p:nvSpPr>
        <p:spPr>
          <a:xfrm>
            <a:off x="9804400" y="4889500"/>
            <a:ext cx="1574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FD3C4"/>
                </a:solidFill>
                <a:latin typeface="Manrope" pitchFamily="34" charset="0"/>
                <a:ea typeface="Manrope" pitchFamily="34" charset="-122"/>
                <a:cs typeface="Manrope" pitchFamily="34" charset="-120"/>
              </a:rPr>
              <a:t>events, vectors</a:t>
            </a:r>
            <a:endParaRPr lang="en-US" sz="1200" dirty="0"/>
          </a:p>
        </p:txBody>
      </p:sp>
      <p:sp>
        <p:nvSpPr>
          <p:cNvPr id="62" name="Text 4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PRISM · Light border: video path, no AI · Teal: AI plugins · Dashed: compatibility lane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2 · THE SYSTEM AT A GLANCE</a:t>
            </a:r>
            <a:endParaRPr lang="en-US" sz="1200" dirty="0"/>
          </a:p>
        </p:txBody>
      </p:sp>
      <p:sp>
        <p:nvSpPr>
          <p:cNvPr id="3" name="Text 1"/>
          <p:cNvSpPr/>
          <p:nvPr>
            <p:ph type="title"/>
          </p:nvPr>
        </p:nvSpPr>
        <p:spPr>
          <a:xfrm>
            <a:off x="812800" y="1229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THE </a:t>
            </a:r>
            <a:r>
              <a:rPr lang="en-US" sz="2400" b="1" i="0" spc="150" kern="0" dirty="0">
                <a:solidFill>
                  <a:srgbClr val="5FD3C4"/>
                </a:solidFill>
                <a:latin typeface="Archivo" pitchFamily="34" charset="0"/>
                <a:ea typeface="Archivo" pitchFamily="34" charset="-122"/>
                <a:cs typeface="Archivo" pitchFamily="34" charset="-120"/>
              </a:rPr>
              <a:t>SERVICE MAP</a:t>
            </a:r>
            <a:endParaRPr lang="en-US" sz="2400" dirty="0"/>
          </a:p>
        </p:txBody>
      </p:sp>
      <p:sp>
        <p:nvSpPr>
          <p:cNvPr id="4" name="Shape 2"/>
          <p:cNvSpPr/>
          <p:nvPr/>
        </p:nvSpPr>
        <p:spPr>
          <a:xfrm>
            <a:off x="815975" y="1770955"/>
            <a:ext cx="2005310" cy="3805634"/>
          </a:xfrm>
          <a:prstGeom prst="roundRect">
            <a:avLst>
              <a:gd name="adj" fmla="val 2375"/>
            </a:avLst>
          </a:prstGeom>
          <a:solidFill>
            <a:srgbClr val="0B1018"/>
          </a:solidFill>
          <a:ln w="6350">
            <a:solidFill>
              <a:srgbClr val="1C2532"/>
            </a:solidFill>
            <a:prstDash val="solid"/>
          </a:ln>
        </p:spPr>
      </p:sp>
      <p:pic>
        <p:nvPicPr>
          <p:cNvPr id="5" name="Image 0" descr="Link">    </p:cNvPr>
          <p:cNvPicPr>
            <a:picLocks noChangeAspect="1"/>
          </p:cNvPicPr>
          <p:nvPr/>
        </p:nvPicPr>
        <p:blipFill>
          <a:blip r:embed="rId1"/>
          <a:srcRect l="0" r="0" t="0" b="0"/>
          <a:stretch/>
        </p:blipFill>
        <p:spPr>
          <a:xfrm>
            <a:off x="971550" y="1944291"/>
            <a:ext cx="177800" cy="177800"/>
          </a:xfrm>
          <a:prstGeom prst="rect">
            <a:avLst/>
          </a:prstGeom>
        </p:spPr>
      </p:pic>
      <p:sp>
        <p:nvSpPr>
          <p:cNvPr id="6" name="Text 3"/>
          <p:cNvSpPr/>
          <p:nvPr/>
        </p:nvSpPr>
        <p:spPr>
          <a:xfrm>
            <a:off x="1212850" y="1926530"/>
            <a:ext cx="129361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D3C4"/>
                </a:solidFill>
                <a:latin typeface="Archivo" pitchFamily="34" charset="0"/>
                <a:ea typeface="Archivo" pitchFamily="34" charset="-122"/>
                <a:cs typeface="Archivo" pitchFamily="34" charset="-120"/>
              </a:rPr>
              <a:t>CONNECT</a:t>
            </a:r>
            <a:endParaRPr lang="en-US" sz="1200" dirty="0"/>
          </a:p>
        </p:txBody>
      </p:sp>
      <p:sp>
        <p:nvSpPr>
          <p:cNvPr id="7" name="Text 4"/>
          <p:cNvSpPr/>
          <p:nvPr/>
        </p:nvSpPr>
        <p:spPr>
          <a:xfrm>
            <a:off x="971550" y="2241451"/>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4F7"/>
                </a:solidFill>
                <a:latin typeface="Manrope" pitchFamily="34" charset="0"/>
                <a:ea typeface="Manrope" pitchFamily="34" charset="-122"/>
                <a:cs typeface="Manrope" pitchFamily="34" charset="-120"/>
              </a:rPr>
              <a:t>prism-discovery</a:t>
            </a:r>
            <a:endParaRPr lang="en-US" sz="1200" dirty="0"/>
          </a:p>
        </p:txBody>
      </p:sp>
      <p:sp>
        <p:nvSpPr>
          <p:cNvPr id="8" name="Text 5"/>
          <p:cNvSpPr/>
          <p:nvPr/>
        </p:nvSpPr>
        <p:spPr>
          <a:xfrm>
            <a:off x="971550" y="2480171"/>
            <a:ext cx="17449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Finds and probes cameras; stateless</a:t>
            </a:r>
            <a:endParaRPr lang="en-US" sz="1200" dirty="0"/>
          </a:p>
        </p:txBody>
      </p:sp>
      <p:sp>
        <p:nvSpPr>
          <p:cNvPr id="9" name="Text 6"/>
          <p:cNvSpPr/>
          <p:nvPr/>
        </p:nvSpPr>
        <p:spPr>
          <a:xfrm>
            <a:off x="971550" y="3008412"/>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4F7"/>
                </a:solidFill>
                <a:latin typeface="Manrope" pitchFamily="34" charset="0"/>
                <a:ea typeface="Manrope" pitchFamily="34" charset="-122"/>
                <a:cs typeface="Manrope" pitchFamily="34" charset="-120"/>
              </a:rPr>
              <a:t>source-manager</a:t>
            </a:r>
            <a:endParaRPr lang="en-US" sz="1200" dirty="0"/>
          </a:p>
        </p:txBody>
      </p:sp>
      <p:sp>
        <p:nvSpPr>
          <p:cNvPr id="10" name="Text 7"/>
          <p:cNvSpPr/>
          <p:nvPr/>
        </p:nvSpPr>
        <p:spPr>
          <a:xfrm>
            <a:off x="971550" y="3247132"/>
            <a:ext cx="17449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The one funnel that starts a camera</a:t>
            </a:r>
            <a:endParaRPr lang="en-US" sz="1200" dirty="0"/>
          </a:p>
        </p:txBody>
      </p:sp>
      <p:sp>
        <p:nvSpPr>
          <p:cNvPr id="11" name="Text 8"/>
          <p:cNvSpPr/>
          <p:nvPr/>
        </p:nvSpPr>
        <p:spPr>
          <a:xfrm>
            <a:off x="971550" y="3775373"/>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4F7"/>
                </a:solidFill>
                <a:latin typeface="Manrope" pitchFamily="34" charset="0"/>
                <a:ea typeface="Manrope" pitchFamily="34" charset="-122"/>
                <a:cs typeface="Manrope" pitchFamily="34" charset="-120"/>
              </a:rPr>
              <a:t>prism-mediamtx</a:t>
            </a:r>
            <a:endParaRPr lang="en-US" sz="1200" dirty="0"/>
          </a:p>
        </p:txBody>
      </p:sp>
      <p:sp>
        <p:nvSpPr>
          <p:cNvPr id="12" name="Text 9"/>
          <p:cNvSpPr/>
          <p:nvPr/>
        </p:nvSpPr>
        <p:spPr>
          <a:xfrm>
            <a:off x="971550" y="4014093"/>
            <a:ext cx="17449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Relays, records; serves HLS, WebRTC</a:t>
            </a:r>
            <a:endParaRPr lang="en-US" sz="1200" dirty="0"/>
          </a:p>
        </p:txBody>
      </p:sp>
      <p:sp>
        <p:nvSpPr>
          <p:cNvPr id="13" name="Text 10"/>
          <p:cNvSpPr/>
          <p:nvPr/>
        </p:nvSpPr>
        <p:spPr>
          <a:xfrm>
            <a:off x="971550" y="4542334"/>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4F7"/>
                </a:solidFill>
                <a:latin typeface="Manrope" pitchFamily="34" charset="0"/>
                <a:ea typeface="Manrope" pitchFamily="34" charset="-122"/>
                <a:cs typeface="Manrope" pitchFamily="34" charset="-120"/>
              </a:rPr>
              <a:t>prism-npipe</a:t>
            </a:r>
            <a:endParaRPr lang="en-US" sz="1200" dirty="0"/>
          </a:p>
        </p:txBody>
      </p:sp>
      <p:sp>
        <p:nvSpPr>
          <p:cNvPr id="14" name="Text 11"/>
          <p:cNvSpPr/>
          <p:nvPr/>
        </p:nvSpPr>
        <p:spPr>
          <a:xfrm>
            <a:off x="971550" y="4781054"/>
            <a:ext cx="17449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Decodes once, shares, draws, encodes</a:t>
            </a:r>
            <a:endParaRPr lang="en-US" sz="1200" dirty="0"/>
          </a:p>
        </p:txBody>
      </p:sp>
      <p:sp>
        <p:nvSpPr>
          <p:cNvPr id="15" name="Shape 12"/>
          <p:cNvSpPr/>
          <p:nvPr/>
        </p:nvSpPr>
        <p:spPr>
          <a:xfrm>
            <a:off x="2954635" y="1770955"/>
            <a:ext cx="2005360" cy="3805634"/>
          </a:xfrm>
          <a:prstGeom prst="roundRect">
            <a:avLst>
              <a:gd name="adj" fmla="val 2375"/>
            </a:avLst>
          </a:prstGeom>
          <a:solidFill>
            <a:srgbClr val="0B1018"/>
          </a:solidFill>
          <a:ln w="6350">
            <a:solidFill>
              <a:srgbClr val="1C2532"/>
            </a:solidFill>
            <a:prstDash val="solid"/>
          </a:ln>
        </p:spPr>
      </p:sp>
      <p:pic>
        <p:nvPicPr>
          <p:cNvPr id="16" name="Image 1" descr="Search">    </p:cNvPr>
          <p:cNvPicPr>
            <a:picLocks noChangeAspect="1"/>
          </p:cNvPicPr>
          <p:nvPr/>
        </p:nvPicPr>
        <p:blipFill>
          <a:blip r:embed="rId2"/>
          <a:srcRect l="0" r="0" t="0" b="0"/>
          <a:stretch/>
        </p:blipFill>
        <p:spPr>
          <a:xfrm>
            <a:off x="3110210" y="1944291"/>
            <a:ext cx="177800" cy="177800"/>
          </a:xfrm>
          <a:prstGeom prst="rect">
            <a:avLst/>
          </a:prstGeom>
        </p:spPr>
      </p:pic>
      <p:sp>
        <p:nvSpPr>
          <p:cNvPr id="17" name="Text 13"/>
          <p:cNvSpPr/>
          <p:nvPr/>
        </p:nvSpPr>
        <p:spPr>
          <a:xfrm>
            <a:off x="3351510" y="1926530"/>
            <a:ext cx="104429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D3C4"/>
                </a:solidFill>
                <a:latin typeface="Archivo" pitchFamily="34" charset="0"/>
                <a:ea typeface="Archivo" pitchFamily="34" charset="-122"/>
                <a:cs typeface="Archivo" pitchFamily="34" charset="-120"/>
              </a:rPr>
              <a:t>DETECT</a:t>
            </a:r>
            <a:endParaRPr lang="en-US" sz="1200" dirty="0"/>
          </a:p>
        </p:txBody>
      </p:sp>
      <p:sp>
        <p:nvSpPr>
          <p:cNvPr id="18" name="Text 14"/>
          <p:cNvSpPr/>
          <p:nvPr/>
        </p:nvSpPr>
        <p:spPr>
          <a:xfrm>
            <a:off x="3110210" y="2241451"/>
            <a:ext cx="17450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4F7"/>
                </a:solidFill>
                <a:latin typeface="Manrope" pitchFamily="34" charset="0"/>
                <a:ea typeface="Manrope" pitchFamily="34" charset="-122"/>
                <a:cs typeface="Manrope" pitchFamily="34" charset="-120"/>
              </a:rPr>
              <a:t>prism-fdet</a:t>
            </a:r>
            <a:endParaRPr lang="en-US" sz="1200" dirty="0"/>
          </a:p>
        </p:txBody>
      </p:sp>
      <p:sp>
        <p:nvSpPr>
          <p:cNvPr id="19" name="Text 15"/>
          <p:cNvSpPr/>
          <p:nvPr/>
        </p:nvSpPr>
        <p:spPr>
          <a:xfrm>
            <a:off x="3110210" y="2480171"/>
            <a:ext cx="174503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One engine for every camera; boxes and crops</a:t>
            </a:r>
            <a:endParaRPr lang="en-US" sz="1200" dirty="0"/>
          </a:p>
        </p:txBody>
      </p:sp>
      <p:sp>
        <p:nvSpPr>
          <p:cNvPr id="20" name="Text 16"/>
          <p:cNvSpPr/>
          <p:nvPr/>
        </p:nvSpPr>
        <p:spPr>
          <a:xfrm>
            <a:off x="3110210" y="3221732"/>
            <a:ext cx="17450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4F7"/>
                </a:solidFill>
                <a:latin typeface="Manrope" pitchFamily="34" charset="0"/>
                <a:ea typeface="Manrope" pitchFamily="34" charset="-122"/>
                <a:cs typeface="Manrope" pitchFamily="34" charset="-120"/>
              </a:rPr>
              <a:t>prism-perception</a:t>
            </a:r>
            <a:endParaRPr lang="en-US" sz="1200" dirty="0"/>
          </a:p>
        </p:txBody>
      </p:sp>
      <p:sp>
        <p:nvSpPr>
          <p:cNvPr id="21" name="Text 17"/>
          <p:cNvSpPr/>
          <p:nvPr/>
        </p:nvSpPr>
        <p:spPr>
          <a:xfrm>
            <a:off x="3110210" y="3460452"/>
            <a:ext cx="17450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Motion, objects, tracks, plate crops</a:t>
            </a:r>
            <a:endParaRPr lang="en-US" sz="1200" dirty="0"/>
          </a:p>
        </p:txBody>
      </p:sp>
      <p:sp>
        <p:nvSpPr>
          <p:cNvPr id="22" name="Shape 18"/>
          <p:cNvSpPr/>
          <p:nvPr/>
        </p:nvSpPr>
        <p:spPr>
          <a:xfrm>
            <a:off x="5093345" y="1770955"/>
            <a:ext cx="2005310" cy="3805634"/>
          </a:xfrm>
          <a:prstGeom prst="roundRect">
            <a:avLst>
              <a:gd name="adj" fmla="val 2375"/>
            </a:avLst>
          </a:prstGeom>
          <a:solidFill>
            <a:srgbClr val="0B1018"/>
          </a:solidFill>
          <a:ln w="6350">
            <a:solidFill>
              <a:srgbClr val="1C2532"/>
            </a:solidFill>
            <a:prstDash val="solid"/>
          </a:ln>
        </p:spPr>
      </p:sp>
      <p:pic>
        <p:nvPicPr>
          <p:cNvPr id="23" name="Image 2" descr="Users">    </p:cNvPr>
          <p:cNvPicPr>
            <a:picLocks noChangeAspect="1"/>
          </p:cNvPicPr>
          <p:nvPr/>
        </p:nvPicPr>
        <p:blipFill>
          <a:blip r:embed="rId3"/>
          <a:srcRect l="0" r="0" t="0" b="0"/>
          <a:stretch/>
        </p:blipFill>
        <p:spPr>
          <a:xfrm>
            <a:off x="5248920" y="1944291"/>
            <a:ext cx="177800" cy="177800"/>
          </a:xfrm>
          <a:prstGeom prst="rect">
            <a:avLst/>
          </a:prstGeom>
        </p:spPr>
      </p:pic>
      <p:sp>
        <p:nvSpPr>
          <p:cNvPr id="24" name="Text 19"/>
          <p:cNvSpPr/>
          <p:nvPr/>
        </p:nvSpPr>
        <p:spPr>
          <a:xfrm>
            <a:off x="5490220" y="1926530"/>
            <a:ext cx="155888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D3C4"/>
                </a:solidFill>
                <a:latin typeface="Archivo" pitchFamily="34" charset="0"/>
                <a:ea typeface="Archivo" pitchFamily="34" charset="-122"/>
                <a:cs typeface="Archivo" pitchFamily="34" charset="-120"/>
              </a:rPr>
              <a:t>RECOGNIZE</a:t>
            </a:r>
            <a:endParaRPr lang="en-US" sz="1200" dirty="0"/>
          </a:p>
        </p:txBody>
      </p:sp>
      <p:sp>
        <p:nvSpPr>
          <p:cNvPr id="25" name="Text 20"/>
          <p:cNvSpPr/>
          <p:nvPr/>
        </p:nvSpPr>
        <p:spPr>
          <a:xfrm>
            <a:off x="5248920" y="2241451"/>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4F7"/>
                </a:solidFill>
                <a:latin typeface="Manrope" pitchFamily="34" charset="0"/>
                <a:ea typeface="Manrope" pitchFamily="34" charset="-122"/>
                <a:cs typeface="Manrope" pitchFamily="34" charset="-120"/>
              </a:rPr>
              <a:t>recognition workers</a:t>
            </a:r>
            <a:endParaRPr lang="en-US" sz="1200" dirty="0"/>
          </a:p>
        </p:txBody>
      </p:sp>
      <p:sp>
        <p:nvSpPr>
          <p:cNvPr id="26" name="Text 21"/>
          <p:cNvSpPr/>
          <p:nvPr/>
        </p:nvSpPr>
        <p:spPr>
          <a:xfrm>
            <a:off x="5248920" y="2480171"/>
            <a:ext cx="17449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Embed fdet’s crop, match; liveness</a:t>
            </a:r>
            <a:endParaRPr lang="en-US" sz="1200" dirty="0"/>
          </a:p>
        </p:txBody>
      </p:sp>
      <p:sp>
        <p:nvSpPr>
          <p:cNvPr id="27" name="Text 22"/>
          <p:cNvSpPr/>
          <p:nvPr/>
        </p:nvSpPr>
        <p:spPr>
          <a:xfrm>
            <a:off x="5248920" y="3008412"/>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4F7"/>
                </a:solidFill>
                <a:latin typeface="Manrope" pitchFamily="34" charset="0"/>
                <a:ea typeface="Manrope" pitchFamily="34" charset="-122"/>
                <a:cs typeface="Manrope" pitchFamily="34" charset="-120"/>
              </a:rPr>
              <a:t>recognition-api</a:t>
            </a:r>
            <a:endParaRPr lang="en-US" sz="1200" dirty="0"/>
          </a:p>
        </p:txBody>
      </p:sp>
      <p:sp>
        <p:nvSpPr>
          <p:cNvPr id="28" name="Text 23"/>
          <p:cNvSpPr/>
          <p:nvPr/>
        </p:nvSpPr>
        <p:spPr>
          <a:xfrm>
            <a:off x="5248920" y="3247132"/>
            <a:ext cx="17449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Enrolment, models, GPU embedding</a:t>
            </a:r>
            <a:endParaRPr lang="en-US" sz="1200" dirty="0"/>
          </a:p>
        </p:txBody>
      </p:sp>
      <p:sp>
        <p:nvSpPr>
          <p:cNvPr id="29" name="Text 24"/>
          <p:cNvSpPr/>
          <p:nvPr/>
        </p:nvSpPr>
        <p:spPr>
          <a:xfrm>
            <a:off x="5248920" y="3775373"/>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4F7"/>
                </a:solidFill>
                <a:latin typeface="Manrope" pitchFamily="34" charset="0"/>
                <a:ea typeface="Manrope" pitchFamily="34" charset="-122"/>
                <a:cs typeface="Manrope" pitchFamily="34" charset="-120"/>
              </a:rPr>
              <a:t>auto-register</a:t>
            </a:r>
            <a:endParaRPr lang="en-US" sz="1200" dirty="0"/>
          </a:p>
        </p:txBody>
      </p:sp>
      <p:sp>
        <p:nvSpPr>
          <p:cNvPr id="30" name="Text 25"/>
          <p:cNvSpPr/>
          <p:nvPr/>
        </p:nvSpPr>
        <p:spPr>
          <a:xfrm>
            <a:off x="5248920" y="4014093"/>
            <a:ext cx="17449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Anonymous enrolment, enrichment</a:t>
            </a:r>
            <a:endParaRPr lang="en-US" sz="1200" dirty="0"/>
          </a:p>
        </p:txBody>
      </p:sp>
      <p:sp>
        <p:nvSpPr>
          <p:cNvPr id="31" name="Text 26"/>
          <p:cNvSpPr/>
          <p:nvPr/>
        </p:nvSpPr>
        <p:spPr>
          <a:xfrm>
            <a:off x="5248920" y="4542334"/>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4F7"/>
                </a:solidFill>
                <a:latin typeface="Manrope" pitchFamily="34" charset="0"/>
                <a:ea typeface="Manrope" pitchFamily="34" charset="-122"/>
                <a:cs typeface="Manrope" pitchFamily="34" charset="-120"/>
              </a:rPr>
              <a:t>prism-lpr</a:t>
            </a:r>
            <a:endParaRPr lang="en-US" sz="1200" dirty="0"/>
          </a:p>
        </p:txBody>
      </p:sp>
      <p:sp>
        <p:nvSpPr>
          <p:cNvPr id="32" name="Text 27"/>
          <p:cNvSpPr/>
          <p:nvPr/>
        </p:nvSpPr>
        <p:spPr>
          <a:xfrm>
            <a:off x="5248920" y="4781054"/>
            <a:ext cx="17449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One fused plate read per passage</a:t>
            </a:r>
            <a:endParaRPr lang="en-US" sz="1200" dirty="0"/>
          </a:p>
        </p:txBody>
      </p:sp>
      <p:sp>
        <p:nvSpPr>
          <p:cNvPr id="33" name="Shape 28"/>
          <p:cNvSpPr/>
          <p:nvPr/>
        </p:nvSpPr>
        <p:spPr>
          <a:xfrm>
            <a:off x="7232005" y="1770955"/>
            <a:ext cx="2005360" cy="3805634"/>
          </a:xfrm>
          <a:prstGeom prst="roundRect">
            <a:avLst>
              <a:gd name="adj" fmla="val 2375"/>
            </a:avLst>
          </a:prstGeom>
          <a:solidFill>
            <a:srgbClr val="0B1018"/>
          </a:solidFill>
          <a:ln w="6350">
            <a:solidFill>
              <a:srgbClr val="1C2532"/>
            </a:solidFill>
            <a:prstDash val="solid"/>
          </a:ln>
        </p:spPr>
      </p:sp>
      <p:pic>
        <p:nvPicPr>
          <p:cNvPr id="34" name="Image 3" descr="Lightbulb">    </p:cNvPr>
          <p:cNvPicPr>
            <a:picLocks noChangeAspect="1"/>
          </p:cNvPicPr>
          <p:nvPr/>
        </p:nvPicPr>
        <p:blipFill>
          <a:blip r:embed="rId4"/>
          <a:srcRect l="-593" r="-593" t="0" b="0"/>
          <a:stretch/>
        </p:blipFill>
        <p:spPr>
          <a:xfrm>
            <a:off x="7387580" y="2050951"/>
            <a:ext cx="173484" cy="177800"/>
          </a:xfrm>
          <a:prstGeom prst="rect">
            <a:avLst/>
          </a:prstGeom>
        </p:spPr>
      </p:pic>
      <p:sp>
        <p:nvSpPr>
          <p:cNvPr id="35" name="Text 29"/>
          <p:cNvSpPr/>
          <p:nvPr/>
        </p:nvSpPr>
        <p:spPr>
          <a:xfrm>
            <a:off x="7624564" y="1926530"/>
            <a:ext cx="1508026" cy="452041"/>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D3C4"/>
                </a:solidFill>
                <a:latin typeface="Archivo" pitchFamily="34" charset="0"/>
                <a:ea typeface="Archivo" pitchFamily="34" charset="-122"/>
                <a:cs typeface="Archivo" pitchFamily="34" charset="-120"/>
              </a:rPr>
              <a:t>UNDERSTAND</a:t>
            </a:r>
            <a:endParaRPr lang="en-US" sz="1200" dirty="0"/>
          </a:p>
        </p:txBody>
      </p:sp>
      <p:sp>
        <p:nvSpPr>
          <p:cNvPr id="36" name="Text 30"/>
          <p:cNvSpPr/>
          <p:nvPr/>
        </p:nvSpPr>
        <p:spPr>
          <a:xfrm>
            <a:off x="7387580" y="2454771"/>
            <a:ext cx="17450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4F7"/>
                </a:solidFill>
                <a:latin typeface="Manrope" pitchFamily="34" charset="0"/>
                <a:ea typeface="Manrope" pitchFamily="34" charset="-122"/>
                <a:cs typeface="Manrope" pitchFamily="34" charset="-120"/>
              </a:rPr>
              <a:t>prism-embedder</a:t>
            </a:r>
            <a:endParaRPr lang="en-US" sz="1200" dirty="0"/>
          </a:p>
        </p:txBody>
      </p:sp>
      <p:sp>
        <p:nvSpPr>
          <p:cNvPr id="37" name="Text 31"/>
          <p:cNvSpPr/>
          <p:nvPr/>
        </p:nvSpPr>
        <p:spPr>
          <a:xfrm>
            <a:off x="7387580" y="2693491"/>
            <a:ext cx="17450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Best 3 frames per track into vectors</a:t>
            </a:r>
            <a:endParaRPr lang="en-US" sz="1200" dirty="0"/>
          </a:p>
        </p:txBody>
      </p:sp>
      <p:sp>
        <p:nvSpPr>
          <p:cNvPr id="38" name="Text 32"/>
          <p:cNvSpPr/>
          <p:nvPr/>
        </p:nvSpPr>
        <p:spPr>
          <a:xfrm>
            <a:off x="7387580" y="3221732"/>
            <a:ext cx="17450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4F7"/>
                </a:solidFill>
                <a:latin typeface="Manrope" pitchFamily="34" charset="0"/>
                <a:ea typeface="Manrope" pitchFamily="34" charset="-122"/>
                <a:cs typeface="Manrope" pitchFamily="34" charset="-120"/>
              </a:rPr>
              <a:t>prism-qdrant</a:t>
            </a:r>
            <a:endParaRPr lang="en-US" sz="1200" dirty="0"/>
          </a:p>
        </p:txBody>
      </p:sp>
      <p:sp>
        <p:nvSpPr>
          <p:cNvPr id="39" name="Text 33"/>
          <p:cNvSpPr/>
          <p:nvPr/>
        </p:nvSpPr>
        <p:spPr>
          <a:xfrm>
            <a:off x="7387580" y="3460452"/>
            <a:ext cx="17450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Object vectors (SigLIP2)</a:t>
            </a:r>
            <a:endParaRPr lang="en-US" sz="1200" dirty="0"/>
          </a:p>
        </p:txBody>
      </p:sp>
      <p:sp>
        <p:nvSpPr>
          <p:cNvPr id="40" name="Text 34"/>
          <p:cNvSpPr/>
          <p:nvPr/>
        </p:nvSpPr>
        <p:spPr>
          <a:xfrm>
            <a:off x="7387580" y="3988693"/>
            <a:ext cx="17450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4F7"/>
                </a:solidFill>
                <a:latin typeface="Manrope" pitchFamily="34" charset="0"/>
                <a:ea typeface="Manrope" pitchFamily="34" charset="-122"/>
                <a:cs typeface="Manrope" pitchFamily="34" charset="-120"/>
              </a:rPr>
              <a:t>prism-vector</a:t>
            </a:r>
            <a:endParaRPr lang="en-US" sz="1200" dirty="0"/>
          </a:p>
        </p:txBody>
      </p:sp>
      <p:sp>
        <p:nvSpPr>
          <p:cNvPr id="41" name="Text 35"/>
          <p:cNvSpPr/>
          <p:nvPr/>
        </p:nvSpPr>
        <p:spPr>
          <a:xfrm>
            <a:off x="7387580" y="4227413"/>
            <a:ext cx="17450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Face vectors only (FAISS)</a:t>
            </a:r>
            <a:endParaRPr lang="en-US" sz="1200" dirty="0"/>
          </a:p>
        </p:txBody>
      </p:sp>
      <p:sp>
        <p:nvSpPr>
          <p:cNvPr id="42" name="Text 36"/>
          <p:cNvSpPr/>
          <p:nvPr/>
        </p:nvSpPr>
        <p:spPr>
          <a:xfrm>
            <a:off x="7387580" y="4755654"/>
            <a:ext cx="17450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4F7"/>
                </a:solidFill>
                <a:latin typeface="Manrope" pitchFamily="34" charset="0"/>
                <a:ea typeface="Manrope" pitchFamily="34" charset="-122"/>
                <a:cs typeface="Manrope" pitchFamily="34" charset="-120"/>
              </a:rPr>
              <a:t>prism-core</a:t>
            </a:r>
            <a:endParaRPr lang="en-US" sz="1200" dirty="0"/>
          </a:p>
        </p:txBody>
      </p:sp>
      <p:sp>
        <p:nvSpPr>
          <p:cNvPr id="43" name="Text 37"/>
          <p:cNvSpPr/>
          <p:nvPr/>
        </p:nvSpPr>
        <p:spPr>
          <a:xfrm>
            <a:off x="7387580" y="4994374"/>
            <a:ext cx="17450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The API, events and alerts</a:t>
            </a:r>
            <a:endParaRPr lang="en-US" sz="1200" dirty="0"/>
          </a:p>
        </p:txBody>
      </p:sp>
      <p:sp>
        <p:nvSpPr>
          <p:cNvPr id="44" name="Shape 38"/>
          <p:cNvSpPr/>
          <p:nvPr/>
        </p:nvSpPr>
        <p:spPr>
          <a:xfrm>
            <a:off x="9370715" y="1770955"/>
            <a:ext cx="2005310" cy="3805634"/>
          </a:xfrm>
          <a:prstGeom prst="roundRect">
            <a:avLst>
              <a:gd name="adj" fmla="val 2375"/>
            </a:avLst>
          </a:prstGeom>
          <a:solidFill>
            <a:srgbClr val="0B1018"/>
          </a:solidFill>
          <a:ln w="6350">
            <a:solidFill>
              <a:srgbClr val="1C2532"/>
            </a:solidFill>
            <a:prstDash val="solid"/>
          </a:ln>
        </p:spPr>
      </p:sp>
      <p:pic>
        <p:nvPicPr>
          <p:cNvPr id="45" name="Image 4" descr="Play">    </p:cNvPr>
          <p:cNvPicPr>
            <a:picLocks noChangeAspect="1"/>
          </p:cNvPicPr>
          <p:nvPr/>
        </p:nvPicPr>
        <p:blipFill>
          <a:blip r:embed="rId5"/>
          <a:srcRect l="0" r="0" t="0" b="0"/>
          <a:stretch/>
        </p:blipFill>
        <p:spPr>
          <a:xfrm>
            <a:off x="9526290" y="1944291"/>
            <a:ext cx="177800" cy="177800"/>
          </a:xfrm>
          <a:prstGeom prst="rect">
            <a:avLst/>
          </a:prstGeom>
        </p:spPr>
      </p:pic>
      <p:sp>
        <p:nvSpPr>
          <p:cNvPr id="46" name="Text 39"/>
          <p:cNvSpPr/>
          <p:nvPr/>
        </p:nvSpPr>
        <p:spPr>
          <a:xfrm>
            <a:off x="9767590" y="1926530"/>
            <a:ext cx="107721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D3C4"/>
                </a:solidFill>
                <a:latin typeface="Archivo" pitchFamily="34" charset="0"/>
                <a:ea typeface="Archivo" pitchFamily="34" charset="-122"/>
                <a:cs typeface="Archivo" pitchFamily="34" charset="-120"/>
              </a:rPr>
              <a:t>OUTPUT</a:t>
            </a:r>
            <a:endParaRPr lang="en-US" sz="1200" dirty="0"/>
          </a:p>
        </p:txBody>
      </p:sp>
      <p:sp>
        <p:nvSpPr>
          <p:cNvPr id="47" name="Text 40"/>
          <p:cNvSpPr/>
          <p:nvPr/>
        </p:nvSpPr>
        <p:spPr>
          <a:xfrm>
            <a:off x="9526290" y="2241451"/>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4F7"/>
                </a:solidFill>
                <a:latin typeface="Manrope" pitchFamily="34" charset="0"/>
                <a:ea typeface="Manrope" pitchFamily="34" charset="-122"/>
                <a:cs typeface="Manrope" pitchFamily="34" charset="-120"/>
              </a:rPr>
              <a:t>stream-sink</a:t>
            </a:r>
            <a:endParaRPr lang="en-US" sz="1200" dirty="0"/>
          </a:p>
        </p:txBody>
      </p:sp>
      <p:sp>
        <p:nvSpPr>
          <p:cNvPr id="48" name="Text 41"/>
          <p:cNvSpPr/>
          <p:nvPr/>
        </p:nvSpPr>
        <p:spPr>
          <a:xfrm>
            <a:off x="9526290" y="2480171"/>
            <a:ext cx="174498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Pushes H.264 to MediaMTX; never goes dark</a:t>
            </a:r>
            <a:endParaRPr lang="en-US" sz="1200" dirty="0"/>
          </a:p>
        </p:txBody>
      </p:sp>
      <p:sp>
        <p:nvSpPr>
          <p:cNvPr id="49" name="Text 42"/>
          <p:cNvSpPr/>
          <p:nvPr/>
        </p:nvSpPr>
        <p:spPr>
          <a:xfrm>
            <a:off x="9526290" y="3221732"/>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4F7"/>
                </a:solidFill>
                <a:latin typeface="Manrope" pitchFamily="34" charset="0"/>
                <a:ea typeface="Manrope" pitchFamily="34" charset="-122"/>
                <a:cs typeface="Manrope" pitchFamily="34" charset="-120"/>
              </a:rPr>
              <a:t>maintainer</a:t>
            </a:r>
            <a:endParaRPr lang="en-US" sz="1200" dirty="0"/>
          </a:p>
        </p:txBody>
      </p:sp>
      <p:sp>
        <p:nvSpPr>
          <p:cNvPr id="50" name="Text 43"/>
          <p:cNvSpPr/>
          <p:nvPr/>
        </p:nvSpPr>
        <p:spPr>
          <a:xfrm>
            <a:off x="9526290" y="3460452"/>
            <a:ext cx="17449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Main deleter: footage, crops, frames</a:t>
            </a:r>
            <a:endParaRPr lang="en-US" sz="1200" dirty="0"/>
          </a:p>
        </p:txBody>
      </p:sp>
      <p:sp>
        <p:nvSpPr>
          <p:cNvPr id="51" name="Text 4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PRISM · Also running: MongoDB, Redis, nginx gateway, rtmp-relay, jaeger, web, add-ons · Forensics adds 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1428750" y="2413000"/>
            <a:ext cx="9334500" cy="12700"/>
          </a:xfrm>
          <a:prstGeom prst="rect">
            <a:avLst/>
          </a:prstGeom>
          <a:solidFill>
            <a:srgbClr val="2A4A4A"/>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2 · THE SYSTEM AT A GLANCE</a:t>
            </a:r>
            <a:endParaRPr lang="en-US" sz="1200" dirty="0"/>
          </a:p>
        </p:txBody>
      </p:sp>
      <p:sp>
        <p:nvSpPr>
          <p:cNvPr id="4" name="Text 2"/>
          <p:cNvSpPr/>
          <p:nvPr>
            <p:ph type="title"/>
          </p:nvPr>
        </p:nvSpPr>
        <p:spPr>
          <a:xfrm>
            <a:off x="812800" y="1280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ONE FRAME, </a:t>
            </a:r>
            <a:r>
              <a:rPr lang="en-US" sz="2400" b="1" i="0" spc="150" kern="0" dirty="0">
                <a:solidFill>
                  <a:srgbClr val="5FD3C4"/>
                </a:solidFill>
                <a:latin typeface="Archivo" pitchFamily="34" charset="0"/>
                <a:ea typeface="Archivo" pitchFamily="34" charset="-122"/>
                <a:cs typeface="Archivo" pitchFamily="34" charset="-120"/>
              </a:rPr>
              <a:t>END TO END</a:t>
            </a:r>
            <a:endParaRPr lang="en-US" sz="2400" dirty="0"/>
          </a:p>
        </p:txBody>
      </p:sp>
      <p:sp>
        <p:nvSpPr>
          <p:cNvPr id="5" name="Text 3"/>
          <p:cNvSpPr/>
          <p:nvPr/>
        </p:nvSpPr>
        <p:spPr>
          <a:xfrm>
            <a:off x="1292671" y="1869380"/>
            <a:ext cx="272107"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7D8696"/>
                </a:solidFill>
                <a:latin typeface="Archivo" pitchFamily="34" charset="0"/>
                <a:ea typeface="Archivo" pitchFamily="34" charset="-122"/>
                <a:cs typeface="Archivo" pitchFamily="34" charset="-120"/>
              </a:rPr>
              <a:t>01</a:t>
            </a:r>
            <a:endParaRPr lang="en-US" sz="1200" dirty="0"/>
          </a:p>
        </p:txBody>
      </p:sp>
      <p:sp>
        <p:nvSpPr>
          <p:cNvPr id="6" name="Shape 4"/>
          <p:cNvSpPr/>
          <p:nvPr/>
        </p:nvSpPr>
        <p:spPr>
          <a:xfrm>
            <a:off x="1181100" y="2165251"/>
            <a:ext cx="495300" cy="495300"/>
          </a:xfrm>
          <a:prstGeom prst="roundRect">
            <a:avLst>
              <a:gd name="adj" fmla="val 50000"/>
            </a:avLst>
          </a:prstGeom>
          <a:solidFill>
            <a:srgbClr val="0B1018"/>
          </a:solidFill>
          <a:ln w="12700">
            <a:solidFill>
              <a:srgbClr val="DCE2EA"/>
            </a:solidFill>
            <a:prstDash val="solid"/>
          </a:ln>
        </p:spPr>
      </p:sp>
      <p:pic>
        <p:nvPicPr>
          <p:cNvPr id="7" name="Image 0" descr="Link">    </p:cNvPr>
          <p:cNvPicPr>
            <a:picLocks noChangeAspect="1"/>
          </p:cNvPicPr>
          <p:nvPr/>
        </p:nvPicPr>
        <p:blipFill>
          <a:blip r:embed="rId1"/>
          <a:srcRect l="0" r="0" t="0" b="0"/>
          <a:stretch/>
        </p:blipFill>
        <p:spPr>
          <a:xfrm>
            <a:off x="1301750" y="2285901"/>
            <a:ext cx="254000" cy="254000"/>
          </a:xfrm>
          <a:prstGeom prst="rect">
            <a:avLst/>
          </a:prstGeom>
        </p:spPr>
      </p:pic>
      <p:sp>
        <p:nvSpPr>
          <p:cNvPr id="8" name="Text 5"/>
          <p:cNvSpPr/>
          <p:nvPr/>
        </p:nvSpPr>
        <p:spPr>
          <a:xfrm>
            <a:off x="1145381" y="2743101"/>
            <a:ext cx="56673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2F4F7"/>
                </a:solidFill>
                <a:latin typeface="Manrope" pitchFamily="34" charset="0"/>
                <a:ea typeface="Manrope" pitchFamily="34" charset="-122"/>
                <a:cs typeface="Manrope" pitchFamily="34" charset="-120"/>
              </a:rPr>
              <a:t>Ingest</a:t>
            </a:r>
            <a:endParaRPr lang="en-US" sz="1200" dirty="0"/>
          </a:p>
        </p:txBody>
      </p:sp>
      <p:sp>
        <p:nvSpPr>
          <p:cNvPr id="9" name="Text 6"/>
          <p:cNvSpPr/>
          <p:nvPr/>
        </p:nvSpPr>
        <p:spPr>
          <a:xfrm>
            <a:off x="787400" y="3032621"/>
            <a:ext cx="12827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BBC7"/>
                </a:solidFill>
                <a:latin typeface="Manrope" pitchFamily="34" charset="0"/>
                <a:ea typeface="Manrope" pitchFamily="34" charset="-122"/>
                <a:cs typeface="Manrope" pitchFamily="34" charset="-120"/>
              </a:rPr>
              <a:t>AI cameras join the video path</a:t>
            </a:r>
            <a:endParaRPr lang="en-US" sz="1200" dirty="0"/>
          </a:p>
        </p:txBody>
      </p:sp>
      <p:sp>
        <p:nvSpPr>
          <p:cNvPr id="10" name="Text 7"/>
          <p:cNvSpPr/>
          <p:nvPr/>
        </p:nvSpPr>
        <p:spPr>
          <a:xfrm>
            <a:off x="2619921" y="1869380"/>
            <a:ext cx="284609"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7D8696"/>
                </a:solidFill>
                <a:latin typeface="Archivo" pitchFamily="34" charset="0"/>
                <a:ea typeface="Archivo" pitchFamily="34" charset="-122"/>
                <a:cs typeface="Archivo" pitchFamily="34" charset="-120"/>
              </a:rPr>
              <a:t>02</a:t>
            </a:r>
            <a:endParaRPr lang="en-US" sz="1200" dirty="0"/>
          </a:p>
        </p:txBody>
      </p:sp>
      <p:sp>
        <p:nvSpPr>
          <p:cNvPr id="11" name="Shape 8"/>
          <p:cNvSpPr/>
          <p:nvPr/>
        </p:nvSpPr>
        <p:spPr>
          <a:xfrm>
            <a:off x="2514600" y="2165251"/>
            <a:ext cx="495300" cy="495300"/>
          </a:xfrm>
          <a:prstGeom prst="roundRect">
            <a:avLst>
              <a:gd name="adj" fmla="val 50000"/>
            </a:avLst>
          </a:prstGeom>
          <a:solidFill>
            <a:srgbClr val="0B1018"/>
          </a:solidFill>
          <a:ln w="12700">
            <a:solidFill>
              <a:srgbClr val="DCE2EA"/>
            </a:solidFill>
            <a:prstDash val="solid"/>
          </a:ln>
        </p:spPr>
      </p:sp>
      <p:pic>
        <p:nvPicPr>
          <p:cNvPr id="12" name="Image 1" descr="Lightning">    </p:cNvPr>
          <p:cNvPicPr>
            <a:picLocks noChangeAspect="1"/>
          </p:cNvPicPr>
          <p:nvPr/>
        </p:nvPicPr>
        <p:blipFill>
          <a:blip r:embed="rId2"/>
          <a:srcRect l="0" r="0" t="0" b="0"/>
          <a:stretch/>
        </p:blipFill>
        <p:spPr>
          <a:xfrm>
            <a:off x="2635250" y="2285901"/>
            <a:ext cx="254000" cy="254000"/>
          </a:xfrm>
          <a:prstGeom prst="rect">
            <a:avLst/>
          </a:prstGeom>
        </p:spPr>
      </p:pic>
      <p:sp>
        <p:nvSpPr>
          <p:cNvPr id="13" name="Text 9"/>
          <p:cNvSpPr/>
          <p:nvPr/>
        </p:nvSpPr>
        <p:spPr>
          <a:xfrm>
            <a:off x="2186290" y="2743101"/>
            <a:ext cx="115187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2F4F7"/>
                </a:solidFill>
                <a:latin typeface="Manrope" pitchFamily="34" charset="0"/>
                <a:ea typeface="Manrope" pitchFamily="34" charset="-122"/>
                <a:cs typeface="Manrope" pitchFamily="34" charset="-120"/>
              </a:rPr>
              <a:t>Decode once</a:t>
            </a:r>
            <a:endParaRPr lang="en-US" sz="1200" dirty="0"/>
          </a:p>
        </p:txBody>
      </p:sp>
      <p:sp>
        <p:nvSpPr>
          <p:cNvPr id="14" name="Text 10"/>
          <p:cNvSpPr/>
          <p:nvPr/>
        </p:nvSpPr>
        <p:spPr>
          <a:xfrm>
            <a:off x="2120900" y="3032621"/>
            <a:ext cx="12827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BBC7"/>
                </a:solidFill>
                <a:latin typeface="Manrope" pitchFamily="34" charset="0"/>
                <a:ea typeface="Manrope" pitchFamily="34" charset="-122"/>
                <a:cs typeface="Manrope" pitchFamily="34" charset="-120"/>
              </a:rPr>
              <a:t>On the GPU, with one frame ID</a:t>
            </a:r>
            <a:endParaRPr lang="en-US" sz="1200" dirty="0"/>
          </a:p>
        </p:txBody>
      </p:sp>
      <p:sp>
        <p:nvSpPr>
          <p:cNvPr id="15" name="Text 11"/>
          <p:cNvSpPr/>
          <p:nvPr/>
        </p:nvSpPr>
        <p:spPr>
          <a:xfrm>
            <a:off x="3952875" y="1869380"/>
            <a:ext cx="2857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7D8696"/>
                </a:solidFill>
                <a:latin typeface="Archivo" pitchFamily="34" charset="0"/>
                <a:ea typeface="Archivo" pitchFamily="34" charset="-122"/>
                <a:cs typeface="Archivo" pitchFamily="34" charset="-120"/>
              </a:rPr>
              <a:t>03</a:t>
            </a:r>
            <a:endParaRPr lang="en-US" sz="1200" dirty="0"/>
          </a:p>
        </p:txBody>
      </p:sp>
      <p:sp>
        <p:nvSpPr>
          <p:cNvPr id="16" name="Shape 12"/>
          <p:cNvSpPr/>
          <p:nvPr/>
        </p:nvSpPr>
        <p:spPr>
          <a:xfrm>
            <a:off x="3848100" y="2165251"/>
            <a:ext cx="495300" cy="495300"/>
          </a:xfrm>
          <a:prstGeom prst="roundRect">
            <a:avLst>
              <a:gd name="adj" fmla="val 50000"/>
            </a:avLst>
          </a:prstGeom>
          <a:solidFill>
            <a:srgbClr val="0B1018"/>
          </a:solidFill>
          <a:ln w="12700">
            <a:solidFill>
              <a:srgbClr val="DCE2EA"/>
            </a:solidFill>
            <a:prstDash val="solid"/>
          </a:ln>
        </p:spPr>
      </p:sp>
      <p:pic>
        <p:nvPicPr>
          <p:cNvPr id="17" name="Image 2" descr="Database">    </p:cNvPr>
          <p:cNvPicPr>
            <a:picLocks noChangeAspect="1"/>
          </p:cNvPicPr>
          <p:nvPr/>
        </p:nvPicPr>
        <p:blipFill>
          <a:blip r:embed="rId3"/>
          <a:srcRect l="0" r="0" t="0" b="0"/>
          <a:stretch/>
        </p:blipFill>
        <p:spPr>
          <a:xfrm>
            <a:off x="3968750" y="2285901"/>
            <a:ext cx="254000" cy="254000"/>
          </a:xfrm>
          <a:prstGeom prst="rect">
            <a:avLst/>
          </a:prstGeom>
        </p:spPr>
      </p:pic>
      <p:sp>
        <p:nvSpPr>
          <p:cNvPr id="18" name="Text 13"/>
          <p:cNvSpPr/>
          <p:nvPr/>
        </p:nvSpPr>
        <p:spPr>
          <a:xfrm>
            <a:off x="3835068" y="2743101"/>
            <a:ext cx="52131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2F4F7"/>
                </a:solidFill>
                <a:latin typeface="Manrope" pitchFamily="34" charset="0"/>
                <a:ea typeface="Manrope" pitchFamily="34" charset="-122"/>
                <a:cs typeface="Manrope" pitchFamily="34" charset="-120"/>
              </a:rPr>
              <a:t>Share</a:t>
            </a:r>
            <a:endParaRPr lang="en-US" sz="1200" dirty="0"/>
          </a:p>
        </p:txBody>
      </p:sp>
      <p:sp>
        <p:nvSpPr>
          <p:cNvPr id="19" name="Text 14"/>
          <p:cNvSpPr/>
          <p:nvPr/>
        </p:nvSpPr>
        <p:spPr>
          <a:xfrm>
            <a:off x="3454400" y="3032621"/>
            <a:ext cx="12827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BBC7"/>
                </a:solidFill>
                <a:latin typeface="Manrope" pitchFamily="34" charset="0"/>
                <a:ea typeface="Manrope" pitchFamily="34" charset="-122"/>
                <a:cs typeface="Manrope" pitchFamily="34" charset="-120"/>
              </a:rPr>
              <a:t>Into a 4-second frame pool</a:t>
            </a:r>
            <a:endParaRPr lang="en-US" sz="1200" dirty="0"/>
          </a:p>
        </p:txBody>
      </p:sp>
      <p:sp>
        <p:nvSpPr>
          <p:cNvPr id="20" name="Text 15"/>
          <p:cNvSpPr/>
          <p:nvPr/>
        </p:nvSpPr>
        <p:spPr>
          <a:xfrm>
            <a:off x="5287814" y="1869380"/>
            <a:ext cx="28287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7D8696"/>
                </a:solidFill>
                <a:latin typeface="Archivo" pitchFamily="34" charset="0"/>
                <a:ea typeface="Archivo" pitchFamily="34" charset="-122"/>
                <a:cs typeface="Archivo" pitchFamily="34" charset="-120"/>
              </a:rPr>
              <a:t>04</a:t>
            </a:r>
            <a:endParaRPr lang="en-US" sz="1200" dirty="0"/>
          </a:p>
        </p:txBody>
      </p:sp>
      <p:sp>
        <p:nvSpPr>
          <p:cNvPr id="21" name="Shape 16"/>
          <p:cNvSpPr/>
          <p:nvPr/>
        </p:nvSpPr>
        <p:spPr>
          <a:xfrm>
            <a:off x="5181600" y="2165251"/>
            <a:ext cx="495300" cy="495300"/>
          </a:xfrm>
          <a:prstGeom prst="roundRect">
            <a:avLst>
              <a:gd name="adj" fmla="val 50000"/>
            </a:avLst>
          </a:prstGeom>
          <a:solidFill>
            <a:srgbClr val="0B1018"/>
          </a:solidFill>
          <a:ln w="12700">
            <a:solidFill>
              <a:srgbClr val="DCE2EA"/>
            </a:solidFill>
            <a:prstDash val="solid"/>
          </a:ln>
        </p:spPr>
      </p:sp>
      <p:pic>
        <p:nvPicPr>
          <p:cNvPr id="22" name="Image 3" descr="Settings">    </p:cNvPr>
          <p:cNvPicPr>
            <a:picLocks noChangeAspect="1"/>
          </p:cNvPicPr>
          <p:nvPr/>
        </p:nvPicPr>
        <p:blipFill>
          <a:blip r:embed="rId4"/>
          <a:srcRect l="0" r="0" t="0" b="0"/>
          <a:stretch/>
        </p:blipFill>
        <p:spPr>
          <a:xfrm>
            <a:off x="5302250" y="2285901"/>
            <a:ext cx="254000" cy="254000"/>
          </a:xfrm>
          <a:prstGeom prst="rect">
            <a:avLst/>
          </a:prstGeom>
        </p:spPr>
      </p:pic>
      <p:sp>
        <p:nvSpPr>
          <p:cNvPr id="23" name="Text 17"/>
          <p:cNvSpPr/>
          <p:nvPr/>
        </p:nvSpPr>
        <p:spPr>
          <a:xfrm>
            <a:off x="5233749" y="2743101"/>
            <a:ext cx="391001"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2F4F7"/>
                </a:solidFill>
                <a:latin typeface="Manrope" pitchFamily="34" charset="0"/>
                <a:ea typeface="Manrope" pitchFamily="34" charset="-122"/>
                <a:cs typeface="Manrope" pitchFamily="34" charset="-120"/>
              </a:rPr>
              <a:t>Thin</a:t>
            </a:r>
            <a:endParaRPr lang="en-US" sz="1200" dirty="0"/>
          </a:p>
        </p:txBody>
      </p:sp>
      <p:sp>
        <p:nvSpPr>
          <p:cNvPr id="24" name="Text 18"/>
          <p:cNvSpPr/>
          <p:nvPr/>
        </p:nvSpPr>
        <p:spPr>
          <a:xfrm>
            <a:off x="4787900" y="3032621"/>
            <a:ext cx="12827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BBC7"/>
                </a:solidFill>
                <a:latin typeface="Manrope" pitchFamily="34" charset="0"/>
                <a:ea typeface="Manrope" pitchFamily="34" charset="-122"/>
                <a:cs typeface="Manrope" pitchFamily="34" charset="-120"/>
              </a:rPr>
              <a:t>Fast cameras to about 12 fps</a:t>
            </a:r>
            <a:endParaRPr lang="en-US" sz="1200" dirty="0"/>
          </a:p>
        </p:txBody>
      </p:sp>
      <p:sp>
        <p:nvSpPr>
          <p:cNvPr id="25" name="Text 19"/>
          <p:cNvSpPr/>
          <p:nvPr/>
        </p:nvSpPr>
        <p:spPr>
          <a:xfrm>
            <a:off x="6619974" y="1869380"/>
            <a:ext cx="285552"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5FD3C4"/>
                </a:solidFill>
                <a:latin typeface="Archivo" pitchFamily="34" charset="0"/>
                <a:ea typeface="Archivo" pitchFamily="34" charset="-122"/>
                <a:cs typeface="Archivo" pitchFamily="34" charset="-120"/>
              </a:rPr>
              <a:t>05</a:t>
            </a:r>
            <a:endParaRPr lang="en-US" sz="1200" dirty="0"/>
          </a:p>
        </p:txBody>
      </p:sp>
      <p:sp>
        <p:nvSpPr>
          <p:cNvPr id="26" name="Shape 20"/>
          <p:cNvSpPr/>
          <p:nvPr/>
        </p:nvSpPr>
        <p:spPr>
          <a:xfrm>
            <a:off x="6515100" y="2165251"/>
            <a:ext cx="495300" cy="495300"/>
          </a:xfrm>
          <a:prstGeom prst="roundRect">
            <a:avLst>
              <a:gd name="adj" fmla="val 50000"/>
            </a:avLst>
          </a:prstGeom>
          <a:solidFill>
            <a:srgbClr val="5FD3C4"/>
          </a:solidFill>
          <a:ln w="12700">
            <a:solidFill>
              <a:srgbClr val="5FD3C4"/>
            </a:solidFill>
            <a:prstDash val="solid"/>
          </a:ln>
        </p:spPr>
      </p:sp>
      <p:pic>
        <p:nvPicPr>
          <p:cNvPr id="27" name="Image 4" descr="Search">    </p:cNvPr>
          <p:cNvPicPr>
            <a:picLocks noChangeAspect="1"/>
          </p:cNvPicPr>
          <p:nvPr/>
        </p:nvPicPr>
        <p:blipFill>
          <a:blip r:embed="rId5"/>
          <a:srcRect l="0" r="0" t="0" b="0"/>
          <a:stretch/>
        </p:blipFill>
        <p:spPr>
          <a:xfrm>
            <a:off x="6635750" y="2285901"/>
            <a:ext cx="254000" cy="254000"/>
          </a:xfrm>
          <a:prstGeom prst="rect">
            <a:avLst/>
          </a:prstGeom>
        </p:spPr>
      </p:pic>
      <p:sp>
        <p:nvSpPr>
          <p:cNvPr id="28" name="Text 21"/>
          <p:cNvSpPr/>
          <p:nvPr/>
        </p:nvSpPr>
        <p:spPr>
          <a:xfrm>
            <a:off x="6459205" y="2743101"/>
            <a:ext cx="60704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5FD3C4"/>
                </a:solidFill>
                <a:latin typeface="Manrope" pitchFamily="34" charset="0"/>
                <a:ea typeface="Manrope" pitchFamily="34" charset="-122"/>
                <a:cs typeface="Manrope" pitchFamily="34" charset="-120"/>
              </a:rPr>
              <a:t>Detect</a:t>
            </a:r>
            <a:endParaRPr lang="en-US" sz="1200" dirty="0"/>
          </a:p>
        </p:txBody>
      </p:sp>
      <p:sp>
        <p:nvSpPr>
          <p:cNvPr id="29" name="Text 22"/>
          <p:cNvSpPr/>
          <p:nvPr/>
        </p:nvSpPr>
        <p:spPr>
          <a:xfrm>
            <a:off x="6121400" y="3032621"/>
            <a:ext cx="12827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BBC7"/>
                </a:solidFill>
                <a:latin typeface="Manrope" pitchFamily="34" charset="0"/>
                <a:ea typeface="Manrope" pitchFamily="34" charset="-122"/>
                <a:cs typeface="Manrope" pitchFamily="34" charset="-120"/>
              </a:rPr>
              <a:t>Boxes, plus a full-res face crop</a:t>
            </a:r>
            <a:endParaRPr lang="en-US" sz="1200" dirty="0"/>
          </a:p>
        </p:txBody>
      </p:sp>
      <p:sp>
        <p:nvSpPr>
          <p:cNvPr id="30" name="Text 23"/>
          <p:cNvSpPr/>
          <p:nvPr/>
        </p:nvSpPr>
        <p:spPr>
          <a:xfrm>
            <a:off x="7953226" y="1869380"/>
            <a:ext cx="28599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5FD3C4"/>
                </a:solidFill>
                <a:latin typeface="Archivo" pitchFamily="34" charset="0"/>
                <a:ea typeface="Archivo" pitchFamily="34" charset="-122"/>
                <a:cs typeface="Archivo" pitchFamily="34" charset="-120"/>
              </a:rPr>
              <a:t>06</a:t>
            </a:r>
            <a:endParaRPr lang="en-US" sz="1200" dirty="0"/>
          </a:p>
        </p:txBody>
      </p:sp>
      <p:sp>
        <p:nvSpPr>
          <p:cNvPr id="31" name="Shape 24"/>
          <p:cNvSpPr/>
          <p:nvPr/>
        </p:nvSpPr>
        <p:spPr>
          <a:xfrm>
            <a:off x="7848600" y="2165251"/>
            <a:ext cx="495300" cy="495300"/>
          </a:xfrm>
          <a:prstGeom prst="roundRect">
            <a:avLst>
              <a:gd name="adj" fmla="val 50000"/>
            </a:avLst>
          </a:prstGeom>
          <a:solidFill>
            <a:srgbClr val="5FD3C4"/>
          </a:solidFill>
          <a:ln w="12700">
            <a:solidFill>
              <a:srgbClr val="5FD3C4"/>
            </a:solidFill>
            <a:prstDash val="solid"/>
          </a:ln>
        </p:spPr>
      </p:sp>
      <p:pic>
        <p:nvPicPr>
          <p:cNvPr id="32" name="Image 5" descr="Users">    </p:cNvPr>
          <p:cNvPicPr>
            <a:picLocks noChangeAspect="1"/>
          </p:cNvPicPr>
          <p:nvPr/>
        </p:nvPicPr>
        <p:blipFill>
          <a:blip r:embed="rId6"/>
          <a:srcRect l="0" r="0" t="0" b="0"/>
          <a:stretch/>
        </p:blipFill>
        <p:spPr>
          <a:xfrm>
            <a:off x="7969250" y="2285901"/>
            <a:ext cx="254000" cy="254000"/>
          </a:xfrm>
          <a:prstGeom prst="rect">
            <a:avLst/>
          </a:prstGeom>
        </p:spPr>
      </p:pic>
      <p:sp>
        <p:nvSpPr>
          <p:cNvPr id="33" name="Text 25"/>
          <p:cNvSpPr/>
          <p:nvPr/>
        </p:nvSpPr>
        <p:spPr>
          <a:xfrm>
            <a:off x="7633638" y="2743101"/>
            <a:ext cx="92517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5FD3C4"/>
                </a:solidFill>
                <a:latin typeface="Manrope" pitchFamily="34" charset="0"/>
                <a:ea typeface="Manrope" pitchFamily="34" charset="-122"/>
                <a:cs typeface="Manrope" pitchFamily="34" charset="-120"/>
              </a:rPr>
              <a:t>Recognize</a:t>
            </a:r>
            <a:endParaRPr lang="en-US" sz="1200" dirty="0"/>
          </a:p>
        </p:txBody>
      </p:sp>
      <p:sp>
        <p:nvSpPr>
          <p:cNvPr id="34" name="Text 26"/>
          <p:cNvSpPr/>
          <p:nvPr/>
        </p:nvSpPr>
        <p:spPr>
          <a:xfrm>
            <a:off x="7454900" y="3032621"/>
            <a:ext cx="12827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BBC7"/>
                </a:solidFill>
                <a:latin typeface="Manrope" pitchFamily="34" charset="0"/>
                <a:ea typeface="Manrope" pitchFamily="34" charset="-122"/>
                <a:cs typeface="Manrope" pitchFamily="34" charset="-120"/>
              </a:rPr>
              <a:t>Match faces; fuse plate reads</a:t>
            </a:r>
            <a:endParaRPr lang="en-US" sz="1200" dirty="0"/>
          </a:p>
        </p:txBody>
      </p:sp>
      <p:sp>
        <p:nvSpPr>
          <p:cNvPr id="35" name="Text 27"/>
          <p:cNvSpPr/>
          <p:nvPr/>
        </p:nvSpPr>
        <p:spPr>
          <a:xfrm>
            <a:off x="9292034" y="1869380"/>
            <a:ext cx="275431"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7D8696"/>
                </a:solidFill>
                <a:latin typeface="Archivo" pitchFamily="34" charset="0"/>
                <a:ea typeface="Archivo" pitchFamily="34" charset="-122"/>
                <a:cs typeface="Archivo" pitchFamily="34" charset="-120"/>
              </a:rPr>
              <a:t>07</a:t>
            </a:r>
            <a:endParaRPr lang="en-US" sz="1200" dirty="0"/>
          </a:p>
        </p:txBody>
      </p:sp>
      <p:sp>
        <p:nvSpPr>
          <p:cNvPr id="36" name="Shape 28"/>
          <p:cNvSpPr/>
          <p:nvPr/>
        </p:nvSpPr>
        <p:spPr>
          <a:xfrm>
            <a:off x="9182100" y="2165251"/>
            <a:ext cx="495300" cy="495300"/>
          </a:xfrm>
          <a:prstGeom prst="roundRect">
            <a:avLst>
              <a:gd name="adj" fmla="val 50000"/>
            </a:avLst>
          </a:prstGeom>
          <a:solidFill>
            <a:srgbClr val="0B1018"/>
          </a:solidFill>
          <a:ln w="12700">
            <a:solidFill>
              <a:srgbClr val="DCE2EA"/>
            </a:solidFill>
            <a:prstDash val="solid"/>
          </a:ln>
        </p:spPr>
      </p:sp>
      <p:pic>
        <p:nvPicPr>
          <p:cNvPr id="37" name="Image 6" descr="Book">    </p:cNvPr>
          <p:cNvPicPr>
            <a:picLocks noChangeAspect="1"/>
          </p:cNvPicPr>
          <p:nvPr/>
        </p:nvPicPr>
        <p:blipFill>
          <a:blip r:embed="rId7"/>
          <a:srcRect l="0" r="0" t="0" b="0"/>
          <a:stretch/>
        </p:blipFill>
        <p:spPr>
          <a:xfrm>
            <a:off x="9302750" y="2285901"/>
            <a:ext cx="254000" cy="254000"/>
          </a:xfrm>
          <a:prstGeom prst="rect">
            <a:avLst/>
          </a:prstGeom>
        </p:spPr>
      </p:pic>
      <p:sp>
        <p:nvSpPr>
          <p:cNvPr id="38" name="Text 29"/>
          <p:cNvSpPr/>
          <p:nvPr/>
        </p:nvSpPr>
        <p:spPr>
          <a:xfrm>
            <a:off x="9114532" y="2743101"/>
            <a:ext cx="63043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2F4F7"/>
                </a:solidFill>
                <a:latin typeface="Manrope" pitchFamily="34" charset="0"/>
                <a:ea typeface="Manrope" pitchFamily="34" charset="-122"/>
                <a:cs typeface="Manrope" pitchFamily="34" charset="-120"/>
              </a:rPr>
              <a:t>Record</a:t>
            </a:r>
            <a:endParaRPr lang="en-US" sz="1200" dirty="0"/>
          </a:p>
        </p:txBody>
      </p:sp>
      <p:sp>
        <p:nvSpPr>
          <p:cNvPr id="39" name="Text 30"/>
          <p:cNvSpPr/>
          <p:nvPr/>
        </p:nvSpPr>
        <p:spPr>
          <a:xfrm>
            <a:off x="8788400" y="3032621"/>
            <a:ext cx="1282700" cy="66536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BBC7"/>
                </a:solidFill>
                <a:latin typeface="Manrope" pitchFamily="34" charset="0"/>
                <a:ea typeface="Manrope" pitchFamily="34" charset="-122"/>
                <a:cs typeface="Manrope" pitchFamily="34" charset="-120"/>
              </a:rPr>
              <a:t>Events to the database and alerts</a:t>
            </a:r>
            <a:endParaRPr lang="en-US" sz="1200" dirty="0"/>
          </a:p>
        </p:txBody>
      </p:sp>
      <p:sp>
        <p:nvSpPr>
          <p:cNvPr id="40" name="Text 31"/>
          <p:cNvSpPr/>
          <p:nvPr/>
        </p:nvSpPr>
        <p:spPr>
          <a:xfrm>
            <a:off x="10619383" y="1869380"/>
            <a:ext cx="287734"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7D8696"/>
                </a:solidFill>
                <a:latin typeface="Archivo" pitchFamily="34" charset="0"/>
                <a:ea typeface="Archivo" pitchFamily="34" charset="-122"/>
                <a:cs typeface="Archivo" pitchFamily="34" charset="-120"/>
              </a:rPr>
              <a:t>08</a:t>
            </a:r>
            <a:endParaRPr lang="en-US" sz="1200" dirty="0"/>
          </a:p>
        </p:txBody>
      </p:sp>
      <p:sp>
        <p:nvSpPr>
          <p:cNvPr id="41" name="Shape 32"/>
          <p:cNvSpPr/>
          <p:nvPr/>
        </p:nvSpPr>
        <p:spPr>
          <a:xfrm>
            <a:off x="10515600" y="2165251"/>
            <a:ext cx="495300" cy="495300"/>
          </a:xfrm>
          <a:prstGeom prst="roundRect">
            <a:avLst>
              <a:gd name="adj" fmla="val 50000"/>
            </a:avLst>
          </a:prstGeom>
          <a:solidFill>
            <a:srgbClr val="0B1018"/>
          </a:solidFill>
          <a:ln w="12700">
            <a:solidFill>
              <a:srgbClr val="DCE2EA"/>
            </a:solidFill>
            <a:prstDash val="solid"/>
          </a:ln>
        </p:spPr>
      </p:sp>
      <p:pic>
        <p:nvPicPr>
          <p:cNvPr id="42" name="Image 7" descr="Play">    </p:cNvPr>
          <p:cNvPicPr>
            <a:picLocks noChangeAspect="1"/>
          </p:cNvPicPr>
          <p:nvPr/>
        </p:nvPicPr>
        <p:blipFill>
          <a:blip r:embed="rId8"/>
          <a:srcRect l="0" r="0" t="0" b="0"/>
          <a:stretch/>
        </p:blipFill>
        <p:spPr>
          <a:xfrm>
            <a:off x="10636250" y="2285901"/>
            <a:ext cx="254000" cy="254000"/>
          </a:xfrm>
          <a:prstGeom prst="rect">
            <a:avLst/>
          </a:prstGeom>
        </p:spPr>
      </p:pic>
      <p:sp>
        <p:nvSpPr>
          <p:cNvPr id="43" name="Text 33"/>
          <p:cNvSpPr/>
          <p:nvPr/>
        </p:nvSpPr>
        <p:spPr>
          <a:xfrm>
            <a:off x="10517862" y="2743101"/>
            <a:ext cx="49077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2F4F7"/>
                </a:solidFill>
                <a:latin typeface="Manrope" pitchFamily="34" charset="0"/>
                <a:ea typeface="Manrope" pitchFamily="34" charset="-122"/>
                <a:cs typeface="Manrope" pitchFamily="34" charset="-120"/>
              </a:rPr>
              <a:t>Show</a:t>
            </a:r>
            <a:endParaRPr lang="en-US" sz="1200" dirty="0"/>
          </a:p>
        </p:txBody>
      </p:sp>
      <p:sp>
        <p:nvSpPr>
          <p:cNvPr id="44" name="Text 34"/>
          <p:cNvSpPr/>
          <p:nvPr/>
        </p:nvSpPr>
        <p:spPr>
          <a:xfrm>
            <a:off x="10121900" y="3032621"/>
            <a:ext cx="12827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BBC7"/>
                </a:solidFill>
                <a:latin typeface="Manrope" pitchFamily="34" charset="0"/>
                <a:ea typeface="Manrope" pitchFamily="34" charset="-122"/>
                <a:cs typeface="Manrope" pitchFamily="34" charset="-120"/>
              </a:rPr>
              <a:t>Boxes drawn; live view out</a:t>
            </a:r>
            <a:endParaRPr lang="en-US" sz="1200" dirty="0"/>
          </a:p>
        </p:txBody>
      </p:sp>
      <p:sp>
        <p:nvSpPr>
          <p:cNvPr id="45" name="Shape 35"/>
          <p:cNvSpPr/>
          <p:nvPr/>
        </p:nvSpPr>
        <p:spPr>
          <a:xfrm>
            <a:off x="4480768" y="3963392"/>
            <a:ext cx="139700" cy="139700"/>
          </a:xfrm>
          <a:prstGeom prst="roundRect">
            <a:avLst>
              <a:gd name="adj" fmla="val 50000"/>
            </a:avLst>
          </a:prstGeom>
          <a:solidFill>
            <a:srgbClr val="0B1018"/>
          </a:solidFill>
          <a:ln w="12700">
            <a:solidFill>
              <a:srgbClr val="DCE2EA"/>
            </a:solidFill>
            <a:prstDash val="solid"/>
          </a:ln>
        </p:spPr>
      </p:sp>
      <p:sp>
        <p:nvSpPr>
          <p:cNvPr id="46" name="Text 36"/>
          <p:cNvSpPr/>
          <p:nvPr/>
        </p:nvSpPr>
        <p:spPr>
          <a:xfrm>
            <a:off x="4703018" y="3926582"/>
            <a:ext cx="9012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Video path</a:t>
            </a:r>
            <a:endParaRPr lang="en-US" sz="1200" dirty="0"/>
          </a:p>
        </p:txBody>
      </p:sp>
      <p:sp>
        <p:nvSpPr>
          <p:cNvPr id="47" name="Shape 37"/>
          <p:cNvSpPr/>
          <p:nvPr/>
        </p:nvSpPr>
        <p:spPr>
          <a:xfrm>
            <a:off x="5714405" y="3963392"/>
            <a:ext cx="139700" cy="139700"/>
          </a:xfrm>
          <a:prstGeom prst="roundRect">
            <a:avLst>
              <a:gd name="adj" fmla="val 50000"/>
            </a:avLst>
          </a:prstGeom>
          <a:solidFill>
            <a:srgbClr val="5FD3C4"/>
          </a:solidFill>
          <a:ln w="12700">
            <a:solidFill>
              <a:srgbClr val="5FD3C4"/>
            </a:solidFill>
            <a:prstDash val="solid"/>
          </a:ln>
        </p:spPr>
      </p:sp>
      <p:sp>
        <p:nvSpPr>
          <p:cNvPr id="48" name="Text 38"/>
          <p:cNvSpPr/>
          <p:nvPr/>
        </p:nvSpPr>
        <p:spPr>
          <a:xfrm>
            <a:off x="5936655" y="3926582"/>
            <a:ext cx="2137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D3C4"/>
                </a:solidFill>
                <a:latin typeface="Manrope" pitchFamily="34" charset="0"/>
                <a:ea typeface="Manrope" pitchFamily="34" charset="-122"/>
                <a:cs typeface="Manrope" pitchFamily="34" charset="-120"/>
              </a:rPr>
              <a:t>AI, outside the video path</a:t>
            </a:r>
            <a:endParaRPr lang="en-US" sz="1200" dirty="0"/>
          </a:p>
        </p:txBody>
      </p:sp>
      <p:sp>
        <p:nvSpPr>
          <p:cNvPr id="49" name="Shape 39"/>
          <p:cNvSpPr/>
          <p:nvPr/>
        </p:nvSpPr>
        <p:spPr>
          <a:xfrm>
            <a:off x="812800" y="4393902"/>
            <a:ext cx="10566400" cy="558800"/>
          </a:xfrm>
          <a:prstGeom prst="roundRect">
            <a:avLst>
              <a:gd name="adj" fmla="val 4545"/>
            </a:avLst>
          </a:prstGeom>
          <a:solidFill>
            <a:srgbClr val="0A1A1C"/>
          </a:solidFill>
          <a:ln/>
        </p:spPr>
      </p:sp>
      <p:sp>
        <p:nvSpPr>
          <p:cNvPr id="50" name="Shape 40"/>
          <p:cNvSpPr/>
          <p:nvPr/>
        </p:nvSpPr>
        <p:spPr>
          <a:xfrm>
            <a:off x="812800" y="4393902"/>
            <a:ext cx="10566400" cy="558800"/>
          </a:xfrm>
          <a:custGeom>
            <a:avLst/>
            <a:gdLst/>
            <a:ahLst/>
            <a:cxnLst/>
            <a:rect l="l" t="t" r="r" b="b"/>
            <a:pathLst>
              <a:path w="10566400" h="558800">
                <a:moveTo>
                  <a:pt x="25400" y="558800"/>
                </a:moveTo>
                <a:lnTo>
                  <a:pt x="25400" y="558800"/>
                </a:lnTo>
                <a:arcTo hR="25400" wR="25400" stAng="5400000" swAng="5400000"/>
                <a:lnTo>
                  <a:pt x="0" y="25400"/>
                </a:lnTo>
                <a:arcTo hR="25400" wR="25400" stAng="10800000" swAng="5400000"/>
                <a:lnTo>
                  <a:pt x="25400" y="0"/>
                </a:lnTo>
                <a:lnTo>
                  <a:pt x="25400" y="558800"/>
                </a:lnTo>
                <a:close/>
              </a:path>
            </a:pathLst>
          </a:custGeom>
          <a:solidFill>
            <a:srgbClr val="5FD3C4"/>
          </a:solidFill>
          <a:ln/>
        </p:spPr>
      </p:sp>
      <p:pic>
        <p:nvPicPr>
          <p:cNvPr id="51" name="Image 8" descr="Lightbulb">    </p:cNvPr>
          <p:cNvPicPr>
            <a:picLocks noChangeAspect="1"/>
          </p:cNvPicPr>
          <p:nvPr/>
        </p:nvPicPr>
        <p:blipFill>
          <a:blip r:embed="rId9"/>
          <a:srcRect l="0" r="0" t="0" b="0"/>
          <a:stretch/>
        </p:blipFill>
        <p:spPr>
          <a:xfrm>
            <a:off x="1041400" y="4546302"/>
            <a:ext cx="254000" cy="254000"/>
          </a:xfrm>
          <a:prstGeom prst="rect">
            <a:avLst/>
          </a:prstGeom>
        </p:spPr>
      </p:pic>
      <p:sp>
        <p:nvSpPr>
          <p:cNvPr id="52" name="Text 41"/>
          <p:cNvSpPr/>
          <p:nvPr/>
        </p:nvSpPr>
        <p:spPr>
          <a:xfrm>
            <a:off x="1447800" y="4548832"/>
            <a:ext cx="875895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4F7"/>
                </a:solidFill>
                <a:latin typeface="Manrope" pitchFamily="34" charset="0"/>
                <a:ea typeface="Manrope" pitchFamily="34" charset="-122"/>
                <a:cs typeface="Manrope" pitchFamily="34" charset="-120"/>
              </a:rPr>
              <a:t>If the AI stops, operators lose boxes and names for a while. The picture keeps moving (P4).</a:t>
            </a:r>
            <a:endParaRPr lang="en-US" sz="1400" dirty="0"/>
          </a:p>
        </p:txBody>
      </p:sp>
      <p:sp>
        <p:nvSpPr>
          <p:cNvPr id="53" name="Text 4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PRISM · The system at a glance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3 · HOW IT WORKS, AND WHY</a:t>
            </a:r>
            <a:endParaRPr lang="en-US" sz="1200" dirty="0"/>
          </a:p>
        </p:txBody>
      </p:sp>
      <p:sp>
        <p:nvSpPr>
          <p:cNvPr id="3" name="Text 1"/>
          <p:cNvSpPr/>
          <p:nvPr>
            <p:ph type="title"/>
          </p:nvPr>
        </p:nvSpPr>
        <p:spPr>
          <a:xfrm>
            <a:off x="812800" y="1229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THREE IDEAS </a:t>
            </a:r>
            <a:r>
              <a:rPr lang="en-US" sz="2400" b="1" i="0" spc="150" kern="0" dirty="0">
                <a:solidFill>
                  <a:srgbClr val="5FD3C4"/>
                </a:solidFill>
                <a:latin typeface="Archivo" pitchFamily="34" charset="0"/>
                <a:ea typeface="Archivo" pitchFamily="34" charset="-122"/>
                <a:cs typeface="Archivo" pitchFamily="34" charset="-120"/>
              </a:rPr>
              <a:t>EVERYTHING DEPENDS ON</a:t>
            </a:r>
            <a:endParaRPr lang="en-US" sz="2400" dirty="0"/>
          </a:p>
        </p:txBody>
      </p:sp>
      <p:sp>
        <p:nvSpPr>
          <p:cNvPr id="4" name="Shape 2"/>
          <p:cNvSpPr/>
          <p:nvPr/>
        </p:nvSpPr>
        <p:spPr>
          <a:xfrm>
            <a:off x="815975" y="1770955"/>
            <a:ext cx="3414167" cy="2303661"/>
          </a:xfrm>
          <a:prstGeom prst="roundRect">
            <a:avLst>
              <a:gd name="adj" fmla="val 3170"/>
            </a:avLst>
          </a:prstGeom>
          <a:solidFill>
            <a:srgbClr val="0B1018"/>
          </a:solidFill>
          <a:ln w="6350">
            <a:solidFill>
              <a:srgbClr val="1C2532"/>
            </a:solidFill>
            <a:prstDash val="solid"/>
          </a:ln>
        </p:spPr>
      </p:sp>
      <p:sp>
        <p:nvSpPr>
          <p:cNvPr id="5" name="Shape 3"/>
          <p:cNvSpPr/>
          <p:nvPr/>
        </p:nvSpPr>
        <p:spPr>
          <a:xfrm>
            <a:off x="1050925" y="2005905"/>
            <a:ext cx="552450" cy="552450"/>
          </a:xfrm>
          <a:prstGeom prst="roundRect">
            <a:avLst>
              <a:gd name="adj" fmla="val 13218"/>
            </a:avLst>
          </a:prstGeom>
          <a:solidFill>
            <a:srgbClr val="0E1E21"/>
          </a:solidFill>
          <a:ln w="6350">
            <a:solidFill>
              <a:srgbClr val="1F3E3E"/>
            </a:solidFill>
            <a:prstDash val="solid"/>
          </a:ln>
        </p:spPr>
      </p:sp>
      <p:pic>
        <p:nvPicPr>
          <p:cNvPr id="6" name="Image 0" descr="Play">    </p:cNvPr>
          <p:cNvPicPr>
            <a:picLocks noChangeAspect="1"/>
          </p:cNvPicPr>
          <p:nvPr/>
        </p:nvPicPr>
        <p:blipFill>
          <a:blip r:embed="rId1"/>
          <a:srcRect l="0" r="0" t="0" b="0"/>
          <a:stretch/>
        </p:blipFill>
        <p:spPr>
          <a:xfrm>
            <a:off x="1174750" y="2129730"/>
            <a:ext cx="304800" cy="304800"/>
          </a:xfrm>
          <a:prstGeom prst="rect">
            <a:avLst/>
          </a:prstGeom>
        </p:spPr>
      </p:pic>
      <p:sp>
        <p:nvSpPr>
          <p:cNvPr id="7" name="Text 4"/>
          <p:cNvSpPr/>
          <p:nvPr/>
        </p:nvSpPr>
        <p:spPr>
          <a:xfrm>
            <a:off x="3453537" y="2068761"/>
            <a:ext cx="544830" cy="452090"/>
          </a:xfrm>
          <a:prstGeom prst="rect">
            <a:avLst/>
          </a:prstGeom>
          <a:noFill/>
          <a:ln/>
        </p:spPr>
        <p:txBody>
          <a:bodyPr wrap="square" lIns="0" tIns="0" rIns="0" bIns="0" rtlCol="0" anchor="t">
            <a:normAutofit/>
          </a:bodyPr>
          <a:lstStyle/>
          <a:p>
            <a:pPr algn="r" indent="0" marL="0">
              <a:lnSpc>
                <a:spcPts val="3360"/>
              </a:lnSpc>
              <a:buNone/>
            </a:pPr>
            <a:r>
              <a:rPr lang="en-US" sz="2400" b="1" dirty="0">
                <a:solidFill>
                  <a:srgbClr val="1F3E3E"/>
                </a:solidFill>
                <a:latin typeface="Archivo" pitchFamily="34" charset="0"/>
                <a:ea typeface="Archivo" pitchFamily="34" charset="-122"/>
                <a:cs typeface="Archivo" pitchFamily="34" charset="-120"/>
              </a:rPr>
              <a:t>01</a:t>
            </a:r>
            <a:endParaRPr lang="en-US" sz="2400" dirty="0"/>
          </a:p>
        </p:txBody>
      </p:sp>
      <p:sp>
        <p:nvSpPr>
          <p:cNvPr id="8" name="Text 5"/>
          <p:cNvSpPr/>
          <p:nvPr/>
        </p:nvSpPr>
        <p:spPr>
          <a:xfrm>
            <a:off x="1047750" y="2688530"/>
            <a:ext cx="303913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2F4F7"/>
                </a:solidFill>
                <a:latin typeface="Manrope" pitchFamily="34" charset="0"/>
                <a:ea typeface="Manrope" pitchFamily="34" charset="-122"/>
                <a:cs typeface="Manrope" pitchFamily="34" charset="-120"/>
              </a:rPr>
              <a:t>The video path carries no AI</a:t>
            </a:r>
            <a:endParaRPr lang="en-US" sz="1600" dirty="0"/>
          </a:p>
        </p:txBody>
      </p:sp>
      <p:sp>
        <p:nvSpPr>
          <p:cNvPr id="9" name="Text 6"/>
          <p:cNvSpPr/>
          <p:nvPr/>
        </p:nvSpPr>
        <p:spPr>
          <a:xfrm>
            <a:off x="1047750" y="3069530"/>
            <a:ext cx="3039135"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3BBC7"/>
                </a:solidFill>
                <a:latin typeface="Manrope" pitchFamily="34" charset="0"/>
                <a:ea typeface="Manrope" pitchFamily="34" charset="-122"/>
                <a:cs typeface="Manrope" pitchFamily="34" charset="-120"/>
              </a:rPr>
              <a:t>npipe only moves pictures. Everything that thinks is a separate plugin.</a:t>
            </a:r>
            <a:endParaRPr lang="en-US" sz="1400" dirty="0"/>
          </a:p>
        </p:txBody>
      </p:sp>
      <p:sp>
        <p:nvSpPr>
          <p:cNvPr id="10" name="Shape 7"/>
          <p:cNvSpPr/>
          <p:nvPr/>
        </p:nvSpPr>
        <p:spPr>
          <a:xfrm>
            <a:off x="4388892" y="1770955"/>
            <a:ext cx="3414216" cy="2303661"/>
          </a:xfrm>
          <a:prstGeom prst="roundRect">
            <a:avLst>
              <a:gd name="adj" fmla="val 3170"/>
            </a:avLst>
          </a:prstGeom>
          <a:solidFill>
            <a:srgbClr val="0B1018"/>
          </a:solidFill>
          <a:ln w="6350">
            <a:solidFill>
              <a:srgbClr val="1C2532"/>
            </a:solidFill>
            <a:prstDash val="solid"/>
          </a:ln>
        </p:spPr>
      </p:sp>
      <p:sp>
        <p:nvSpPr>
          <p:cNvPr id="11" name="Shape 8"/>
          <p:cNvSpPr/>
          <p:nvPr/>
        </p:nvSpPr>
        <p:spPr>
          <a:xfrm>
            <a:off x="4623842" y="2005905"/>
            <a:ext cx="552450" cy="552450"/>
          </a:xfrm>
          <a:prstGeom prst="roundRect">
            <a:avLst>
              <a:gd name="adj" fmla="val 13218"/>
            </a:avLst>
          </a:prstGeom>
          <a:solidFill>
            <a:srgbClr val="0E1E21"/>
          </a:solidFill>
          <a:ln w="6350">
            <a:solidFill>
              <a:srgbClr val="1F3E3E"/>
            </a:solidFill>
            <a:prstDash val="solid"/>
          </a:ln>
        </p:spPr>
      </p:sp>
      <p:pic>
        <p:nvPicPr>
          <p:cNvPr id="12" name="Image 1" descr="Lightning">    </p:cNvPr>
          <p:cNvPicPr>
            <a:picLocks noChangeAspect="1"/>
          </p:cNvPicPr>
          <p:nvPr/>
        </p:nvPicPr>
        <p:blipFill>
          <a:blip r:embed="rId2"/>
          <a:srcRect l="0" r="0" t="0" b="0"/>
          <a:stretch/>
        </p:blipFill>
        <p:spPr>
          <a:xfrm>
            <a:off x="4747667" y="2129730"/>
            <a:ext cx="304800" cy="304800"/>
          </a:xfrm>
          <a:prstGeom prst="rect">
            <a:avLst/>
          </a:prstGeom>
        </p:spPr>
      </p:pic>
      <p:sp>
        <p:nvSpPr>
          <p:cNvPr id="13" name="Text 9"/>
          <p:cNvSpPr/>
          <p:nvPr/>
        </p:nvSpPr>
        <p:spPr>
          <a:xfrm>
            <a:off x="6997154" y="2068761"/>
            <a:ext cx="574179" cy="452090"/>
          </a:xfrm>
          <a:prstGeom prst="rect">
            <a:avLst/>
          </a:prstGeom>
          <a:noFill/>
          <a:ln/>
        </p:spPr>
        <p:txBody>
          <a:bodyPr wrap="square" lIns="0" tIns="0" rIns="0" bIns="0" rtlCol="0" anchor="t">
            <a:normAutofit/>
          </a:bodyPr>
          <a:lstStyle/>
          <a:p>
            <a:pPr algn="r" indent="0" marL="0">
              <a:lnSpc>
                <a:spcPts val="3360"/>
              </a:lnSpc>
              <a:buNone/>
            </a:pPr>
            <a:r>
              <a:rPr lang="en-US" sz="2400" b="1" dirty="0">
                <a:solidFill>
                  <a:srgbClr val="1F3E3E"/>
                </a:solidFill>
                <a:latin typeface="Archivo" pitchFamily="34" charset="0"/>
                <a:ea typeface="Archivo" pitchFamily="34" charset="-122"/>
                <a:cs typeface="Archivo" pitchFamily="34" charset="-120"/>
              </a:rPr>
              <a:t>02</a:t>
            </a:r>
            <a:endParaRPr lang="en-US" sz="2400" dirty="0"/>
          </a:p>
        </p:txBody>
      </p:sp>
      <p:sp>
        <p:nvSpPr>
          <p:cNvPr id="14" name="Text 10"/>
          <p:cNvSpPr/>
          <p:nvPr/>
        </p:nvSpPr>
        <p:spPr>
          <a:xfrm>
            <a:off x="4620667" y="2688530"/>
            <a:ext cx="3179266"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2F4F7"/>
                </a:solidFill>
                <a:latin typeface="Manrope" pitchFamily="34" charset="0"/>
                <a:ea typeface="Manrope" pitchFamily="34" charset="-122"/>
                <a:cs typeface="Manrope" pitchFamily="34" charset="-120"/>
              </a:rPr>
              <a:t>Decode once, share the frame</a:t>
            </a:r>
            <a:endParaRPr lang="en-US" sz="1600" dirty="0"/>
          </a:p>
        </p:txBody>
      </p:sp>
      <p:sp>
        <p:nvSpPr>
          <p:cNvPr id="15" name="Text 11"/>
          <p:cNvSpPr/>
          <p:nvPr/>
        </p:nvSpPr>
        <p:spPr>
          <a:xfrm>
            <a:off x="4620667" y="3069530"/>
            <a:ext cx="3039186"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3BBC7"/>
                </a:solidFill>
                <a:latin typeface="Manrope" pitchFamily="34" charset="0"/>
                <a:ea typeface="Manrope" pitchFamily="34" charset="-122"/>
                <a:cs typeface="Manrope" pitchFamily="34" charset="-120"/>
              </a:rPr>
              <a:t>One decode on the GPU; every service reads the same copy.</a:t>
            </a:r>
            <a:endParaRPr lang="en-US" sz="1400" dirty="0"/>
          </a:p>
        </p:txBody>
      </p:sp>
      <p:sp>
        <p:nvSpPr>
          <p:cNvPr id="16" name="Shape 12"/>
          <p:cNvSpPr/>
          <p:nvPr/>
        </p:nvSpPr>
        <p:spPr>
          <a:xfrm>
            <a:off x="7961858" y="1770955"/>
            <a:ext cx="3414167" cy="2303661"/>
          </a:xfrm>
          <a:prstGeom prst="roundRect">
            <a:avLst>
              <a:gd name="adj" fmla="val 3170"/>
            </a:avLst>
          </a:prstGeom>
          <a:solidFill>
            <a:srgbClr val="0B1018"/>
          </a:solidFill>
          <a:ln w="6350">
            <a:solidFill>
              <a:srgbClr val="1C2532"/>
            </a:solidFill>
            <a:prstDash val="solid"/>
          </a:ln>
        </p:spPr>
      </p:sp>
      <p:sp>
        <p:nvSpPr>
          <p:cNvPr id="17" name="Shape 13"/>
          <p:cNvSpPr/>
          <p:nvPr/>
        </p:nvSpPr>
        <p:spPr>
          <a:xfrm>
            <a:off x="8196808" y="2005905"/>
            <a:ext cx="552450" cy="552450"/>
          </a:xfrm>
          <a:prstGeom prst="roundRect">
            <a:avLst>
              <a:gd name="adj" fmla="val 13218"/>
            </a:avLst>
          </a:prstGeom>
          <a:solidFill>
            <a:srgbClr val="0E1E21"/>
          </a:solidFill>
          <a:ln w="6350">
            <a:solidFill>
              <a:srgbClr val="1F3E3E"/>
            </a:solidFill>
            <a:prstDash val="solid"/>
          </a:ln>
        </p:spPr>
      </p:sp>
      <p:pic>
        <p:nvPicPr>
          <p:cNvPr id="18" name="Image 2" descr="PaperPlane">    </p:cNvPr>
          <p:cNvPicPr>
            <a:picLocks noChangeAspect="1"/>
          </p:cNvPicPr>
          <p:nvPr/>
        </p:nvPicPr>
        <p:blipFill>
          <a:blip r:embed="rId3"/>
          <a:srcRect l="0" r="0" t="0" b="0"/>
          <a:stretch/>
        </p:blipFill>
        <p:spPr>
          <a:xfrm>
            <a:off x="8320633" y="2129730"/>
            <a:ext cx="304800" cy="304800"/>
          </a:xfrm>
          <a:prstGeom prst="rect">
            <a:avLst/>
          </a:prstGeom>
        </p:spPr>
      </p:pic>
      <p:sp>
        <p:nvSpPr>
          <p:cNvPr id="19" name="Text 14"/>
          <p:cNvSpPr/>
          <p:nvPr/>
        </p:nvSpPr>
        <p:spPr>
          <a:xfrm>
            <a:off x="10567928" y="2068761"/>
            <a:ext cx="576322" cy="452090"/>
          </a:xfrm>
          <a:prstGeom prst="rect">
            <a:avLst/>
          </a:prstGeom>
          <a:noFill/>
          <a:ln/>
        </p:spPr>
        <p:txBody>
          <a:bodyPr wrap="square" lIns="0" tIns="0" rIns="0" bIns="0" rtlCol="0" anchor="t">
            <a:normAutofit/>
          </a:bodyPr>
          <a:lstStyle/>
          <a:p>
            <a:pPr algn="r" indent="0" marL="0">
              <a:lnSpc>
                <a:spcPts val="3360"/>
              </a:lnSpc>
              <a:buNone/>
            </a:pPr>
            <a:r>
              <a:rPr lang="en-US" sz="2400" b="1" dirty="0">
                <a:solidFill>
                  <a:srgbClr val="1F3E3E"/>
                </a:solidFill>
                <a:latin typeface="Archivo" pitchFamily="34" charset="0"/>
                <a:ea typeface="Archivo" pitchFamily="34" charset="-122"/>
                <a:cs typeface="Archivo" pitchFamily="34" charset="-120"/>
              </a:rPr>
              <a:t>03</a:t>
            </a:r>
            <a:endParaRPr lang="en-US" sz="2400" dirty="0"/>
          </a:p>
        </p:txBody>
      </p:sp>
      <p:sp>
        <p:nvSpPr>
          <p:cNvPr id="20" name="Text 15"/>
          <p:cNvSpPr/>
          <p:nvPr/>
        </p:nvSpPr>
        <p:spPr>
          <a:xfrm>
            <a:off x="8193633" y="2688530"/>
            <a:ext cx="303913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2F4F7"/>
                </a:solidFill>
                <a:latin typeface="Manrope" pitchFamily="34" charset="0"/>
                <a:ea typeface="Manrope" pitchFamily="34" charset="-122"/>
                <a:cs typeface="Manrope" pitchFamily="34" charset="-120"/>
              </a:rPr>
              <a:t>Frames out, findings back</a:t>
            </a:r>
            <a:endParaRPr lang="en-US" sz="1600" dirty="0"/>
          </a:p>
        </p:txBody>
      </p:sp>
      <p:sp>
        <p:nvSpPr>
          <p:cNvPr id="21" name="Text 16"/>
          <p:cNvSpPr/>
          <p:nvPr/>
        </p:nvSpPr>
        <p:spPr>
          <a:xfrm>
            <a:off x="8193633" y="3069530"/>
            <a:ext cx="3039135"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3BBC7"/>
                </a:solidFill>
                <a:latin typeface="Manrope" pitchFamily="34" charset="0"/>
                <a:ea typeface="Manrope" pitchFamily="34" charset="-122"/>
                <a:cs typeface="Manrope" pitchFamily="34" charset="-120"/>
              </a:rPr>
              <a:t>Only boxes, landmarks and IDs cross back to the video.</a:t>
            </a:r>
            <a:endParaRPr lang="en-US" sz="1400" dirty="0"/>
          </a:p>
        </p:txBody>
      </p:sp>
      <p:sp>
        <p:nvSpPr>
          <p:cNvPr id="22" name="Shape 17"/>
          <p:cNvSpPr/>
          <p:nvPr/>
        </p:nvSpPr>
        <p:spPr>
          <a:xfrm>
            <a:off x="812800" y="4280991"/>
            <a:ext cx="10566400" cy="855911"/>
          </a:xfrm>
          <a:prstGeom prst="roundRect">
            <a:avLst>
              <a:gd name="adj" fmla="val 2968"/>
            </a:avLst>
          </a:prstGeom>
          <a:solidFill>
            <a:srgbClr val="0A1A1C"/>
          </a:solidFill>
          <a:ln/>
        </p:spPr>
      </p:sp>
      <p:sp>
        <p:nvSpPr>
          <p:cNvPr id="23" name="Shape 18"/>
          <p:cNvSpPr/>
          <p:nvPr/>
        </p:nvSpPr>
        <p:spPr>
          <a:xfrm>
            <a:off x="812800" y="4280991"/>
            <a:ext cx="10566400" cy="855911"/>
          </a:xfrm>
          <a:custGeom>
            <a:avLst/>
            <a:gdLst/>
            <a:ahLst/>
            <a:cxnLst/>
            <a:rect l="l" t="t" r="r" b="b"/>
            <a:pathLst>
              <a:path w="10566400" h="855911">
                <a:moveTo>
                  <a:pt x="25400" y="855911"/>
                </a:moveTo>
                <a:lnTo>
                  <a:pt x="25400" y="855911"/>
                </a:lnTo>
                <a:arcTo hR="25400" wR="25400" stAng="5400000" swAng="5400000"/>
                <a:lnTo>
                  <a:pt x="0" y="25400"/>
                </a:lnTo>
                <a:arcTo hR="25400" wR="25400" stAng="10800000" swAng="5400000"/>
                <a:lnTo>
                  <a:pt x="25400" y="0"/>
                </a:lnTo>
                <a:lnTo>
                  <a:pt x="25400" y="855911"/>
                </a:lnTo>
                <a:close/>
              </a:path>
            </a:pathLst>
          </a:custGeom>
          <a:solidFill>
            <a:srgbClr val="5FD3C4"/>
          </a:solidFill>
          <a:ln/>
        </p:spPr>
      </p:sp>
      <p:pic>
        <p:nvPicPr>
          <p:cNvPr id="24" name="Image 3" descr="Lightbulb">    </p:cNvPr>
          <p:cNvPicPr>
            <a:picLocks noChangeAspect="1"/>
          </p:cNvPicPr>
          <p:nvPr/>
        </p:nvPicPr>
        <p:blipFill>
          <a:blip r:embed="rId4"/>
          <a:srcRect l="0" r="0" t="0" b="0"/>
          <a:stretch/>
        </p:blipFill>
        <p:spPr>
          <a:xfrm>
            <a:off x="1041400" y="4569222"/>
            <a:ext cx="279400" cy="279400"/>
          </a:xfrm>
          <a:prstGeom prst="rect">
            <a:avLst/>
          </a:prstGeom>
        </p:spPr>
      </p:pic>
      <p:sp>
        <p:nvSpPr>
          <p:cNvPr id="25" name="Text 19"/>
          <p:cNvSpPr/>
          <p:nvPr/>
        </p:nvSpPr>
        <p:spPr>
          <a:xfrm>
            <a:off x="1473200" y="4458791"/>
            <a:ext cx="9993884"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FD3C4"/>
                </a:solidFill>
                <a:latin typeface="Archivo" pitchFamily="34" charset="0"/>
                <a:ea typeface="Archivo" pitchFamily="34" charset="-122"/>
                <a:cs typeface="Archivo" pitchFamily="34" charset="-120"/>
              </a:rPr>
              <a:t>WHY IT MATTERS</a:t>
            </a:r>
            <a:endParaRPr lang="en-US" sz="1200" dirty="0"/>
          </a:p>
        </p:txBody>
      </p:sp>
      <p:sp>
        <p:nvSpPr>
          <p:cNvPr id="26" name="Text 20"/>
          <p:cNvSpPr/>
          <p:nvPr/>
        </p:nvSpPr>
        <p:spPr>
          <a:xfrm>
            <a:off x="1473200" y="4710212"/>
            <a:ext cx="999388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4F7"/>
                </a:solidFill>
                <a:latin typeface="Manrope" pitchFamily="34" charset="0"/>
                <a:ea typeface="Manrope" pitchFamily="34" charset="-122"/>
                <a:cs typeface="Manrope" pitchFamily="34" charset="-120"/>
              </a:rPr>
              <a:t>If a detector crashes, video keeps flowing with no boxes. AI inside the video path would take the cameras down with it.</a:t>
            </a:r>
            <a:endParaRPr lang="en-US" sz="1400" dirty="0"/>
          </a:p>
        </p:txBody>
      </p:sp>
      <p:sp>
        <p:nvSpPr>
          <p:cNvPr id="27"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PRISM · How it works, and why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3 · HOW IT WORKS, AND WHY · AI ON DEMAND</a:t>
            </a:r>
            <a:endParaRPr lang="en-US" sz="1200" dirty="0"/>
          </a:p>
        </p:txBody>
      </p:sp>
      <p:sp>
        <p:nvSpPr>
          <p:cNvPr id="3" name="Text 1"/>
          <p:cNvSpPr/>
          <p:nvPr>
            <p:ph type="title"/>
          </p:nvPr>
        </p:nvSpPr>
        <p:spPr>
          <a:xfrm>
            <a:off x="812800" y="1229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CAMERAS START </a:t>
            </a:r>
            <a:r>
              <a:rPr lang="en-US" sz="2400" b="1" i="0" spc="150" kern="0" dirty="0">
                <a:solidFill>
                  <a:srgbClr val="5FD3C4"/>
                </a:solidFill>
                <a:latin typeface="Archivo" pitchFamily="34" charset="0"/>
                <a:ea typeface="Archivo" pitchFamily="34" charset="-122"/>
                <a:cs typeface="Archivo" pitchFamily="34" charset="-120"/>
              </a:rPr>
              <a:t>WITHOUT AI</a:t>
            </a:r>
            <a:endParaRPr lang="en-US" sz="2400" dirty="0"/>
          </a:p>
        </p:txBody>
      </p:sp>
      <p:sp>
        <p:nvSpPr>
          <p:cNvPr id="4" name="Shape 2"/>
          <p:cNvSpPr/>
          <p:nvPr/>
        </p:nvSpPr>
        <p:spPr>
          <a:xfrm>
            <a:off x="815975" y="1770955"/>
            <a:ext cx="3109367" cy="1934121"/>
          </a:xfrm>
          <a:prstGeom prst="roundRect">
            <a:avLst>
              <a:gd name="adj" fmla="val 3776"/>
            </a:avLst>
          </a:prstGeom>
          <a:solidFill>
            <a:srgbClr val="0B1018"/>
          </a:solidFill>
          <a:ln w="6350">
            <a:solidFill>
              <a:srgbClr val="1C2532"/>
            </a:solidFill>
            <a:prstDash val="solid"/>
          </a:ln>
        </p:spPr>
      </p:sp>
      <p:sp>
        <p:nvSpPr>
          <p:cNvPr id="5" name="Shape 3"/>
          <p:cNvSpPr/>
          <p:nvPr/>
        </p:nvSpPr>
        <p:spPr>
          <a:xfrm>
            <a:off x="1025525" y="1980505"/>
            <a:ext cx="450850" cy="450850"/>
          </a:xfrm>
          <a:prstGeom prst="roundRect">
            <a:avLst>
              <a:gd name="adj" fmla="val 16197"/>
            </a:avLst>
          </a:prstGeom>
          <a:solidFill>
            <a:srgbClr val="0E1E21"/>
          </a:solidFill>
          <a:ln w="6350">
            <a:solidFill>
              <a:srgbClr val="1F3E3E"/>
            </a:solidFill>
            <a:prstDash val="solid"/>
          </a:ln>
        </p:spPr>
      </p:sp>
      <p:pic>
        <p:nvPicPr>
          <p:cNvPr id="6" name="Image 0" descr="Play">    </p:cNvPr>
          <p:cNvPicPr>
            <a:picLocks noChangeAspect="1"/>
          </p:cNvPicPr>
          <p:nvPr/>
        </p:nvPicPr>
        <p:blipFill>
          <a:blip r:embed="rId1"/>
          <a:srcRect l="0" r="0" t="0" b="0"/>
          <a:stretch/>
        </p:blipFill>
        <p:spPr>
          <a:xfrm>
            <a:off x="1123950" y="2078930"/>
            <a:ext cx="254000" cy="254000"/>
          </a:xfrm>
          <a:prstGeom prst="rect">
            <a:avLst/>
          </a:prstGeom>
        </p:spPr>
      </p:pic>
      <p:sp>
        <p:nvSpPr>
          <p:cNvPr id="7" name="Text 4"/>
          <p:cNvSpPr/>
          <p:nvPr/>
        </p:nvSpPr>
        <p:spPr>
          <a:xfrm>
            <a:off x="1022350" y="2536130"/>
            <a:ext cx="277751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VMS camera</a:t>
            </a:r>
            <a:endParaRPr lang="en-US" sz="1600" dirty="0"/>
          </a:p>
        </p:txBody>
      </p:sp>
      <p:sp>
        <p:nvSpPr>
          <p:cNvPr id="8" name="Text 5"/>
          <p:cNvSpPr/>
          <p:nvPr/>
        </p:nvSpPr>
        <p:spPr>
          <a:xfrm>
            <a:off x="1022350" y="2881561"/>
            <a:ext cx="277751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3BBC7"/>
                </a:solidFill>
                <a:latin typeface="Manrope" pitchFamily="34" charset="0"/>
                <a:ea typeface="Manrope" pitchFamily="34" charset="-122"/>
                <a:cs typeface="Manrope" pitchFamily="34" charset="-120"/>
              </a:rPr>
              <a:t>Relayed and recorded. No AI, no GPU.</a:t>
            </a:r>
            <a:endParaRPr lang="en-US" sz="1400" dirty="0"/>
          </a:p>
        </p:txBody>
      </p:sp>
      <p:pic>
        <p:nvPicPr>
          <p:cNvPr id="9" name="Image 1" descr="arrow-right">    </p:cNvPr>
          <p:cNvPicPr>
            <a:picLocks noChangeAspect="1"/>
          </p:cNvPicPr>
          <p:nvPr/>
        </p:nvPicPr>
        <p:blipFill>
          <a:blip r:embed="rId2"/>
          <a:srcRect l="0" r="0" t="0" b="0"/>
          <a:stretch/>
        </p:blipFill>
        <p:spPr>
          <a:xfrm>
            <a:off x="4080917" y="2661791"/>
            <a:ext cx="304800" cy="152400"/>
          </a:xfrm>
          <a:prstGeom prst="rect">
            <a:avLst/>
          </a:prstGeom>
        </p:spPr>
      </p:pic>
      <p:sp>
        <p:nvSpPr>
          <p:cNvPr id="10" name="Shape 6"/>
          <p:cNvSpPr/>
          <p:nvPr/>
        </p:nvSpPr>
        <p:spPr>
          <a:xfrm>
            <a:off x="4541292" y="1770955"/>
            <a:ext cx="3109416" cy="1934121"/>
          </a:xfrm>
          <a:prstGeom prst="roundRect">
            <a:avLst>
              <a:gd name="adj" fmla="val 3776"/>
            </a:avLst>
          </a:prstGeom>
          <a:solidFill>
            <a:srgbClr val="0B1018"/>
          </a:solidFill>
          <a:ln w="6350">
            <a:solidFill>
              <a:srgbClr val="2F8F86"/>
            </a:solidFill>
            <a:prstDash val="solid"/>
          </a:ln>
        </p:spPr>
      </p:sp>
      <p:sp>
        <p:nvSpPr>
          <p:cNvPr id="11" name="Shape 7"/>
          <p:cNvSpPr/>
          <p:nvPr/>
        </p:nvSpPr>
        <p:spPr>
          <a:xfrm>
            <a:off x="4750842" y="1980505"/>
            <a:ext cx="450850" cy="450850"/>
          </a:xfrm>
          <a:prstGeom prst="roundRect">
            <a:avLst>
              <a:gd name="adj" fmla="val 16197"/>
            </a:avLst>
          </a:prstGeom>
          <a:solidFill>
            <a:srgbClr val="0E1E21"/>
          </a:solidFill>
          <a:ln w="6350">
            <a:solidFill>
              <a:srgbClr val="1F3E3E"/>
            </a:solidFill>
            <a:prstDash val="solid"/>
          </a:ln>
        </p:spPr>
      </p:sp>
      <p:pic>
        <p:nvPicPr>
          <p:cNvPr id="12" name="Image 2" descr="Settings">    </p:cNvPr>
          <p:cNvPicPr>
            <a:picLocks noChangeAspect="1"/>
          </p:cNvPicPr>
          <p:nvPr/>
        </p:nvPicPr>
        <p:blipFill>
          <a:blip r:embed="rId3"/>
          <a:srcRect l="0" r="0" t="0" b="0"/>
          <a:stretch/>
        </p:blipFill>
        <p:spPr>
          <a:xfrm>
            <a:off x="4849267" y="2078930"/>
            <a:ext cx="254000" cy="254000"/>
          </a:xfrm>
          <a:prstGeom prst="rect">
            <a:avLst/>
          </a:prstGeom>
        </p:spPr>
      </p:pic>
      <p:sp>
        <p:nvSpPr>
          <p:cNvPr id="13" name="Text 8"/>
          <p:cNvSpPr/>
          <p:nvPr/>
        </p:nvSpPr>
        <p:spPr>
          <a:xfrm>
            <a:off x="4747667" y="2536130"/>
            <a:ext cx="277756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Switch on plugins</a:t>
            </a:r>
            <a:endParaRPr lang="en-US" sz="1600" dirty="0"/>
          </a:p>
        </p:txBody>
      </p:sp>
      <p:sp>
        <p:nvSpPr>
          <p:cNvPr id="14" name="Text 9"/>
          <p:cNvSpPr/>
          <p:nvPr/>
        </p:nvSpPr>
        <p:spPr>
          <a:xfrm>
            <a:off x="4750842" y="2884736"/>
            <a:ext cx="593725" cy="295870"/>
          </a:xfrm>
          <a:prstGeom prst="roundRect">
            <a:avLst>
              <a:gd name="adj" fmla="val 50000"/>
            </a:avLst>
          </a:prstGeom>
          <a:solidFill>
            <a:srgbClr val="0A1A1C"/>
          </a:solidFill>
          <a:ln w="6350">
            <a:solidFill>
              <a:srgbClr val="2F8F86"/>
            </a:solidFill>
            <a:prstDash val="solid"/>
          </a:ln>
        </p:spPr>
        <p:txBody>
          <a:bodyPr wrap="none" lIns="0" tIns="0" rIns="0" bIns="0" rtlCol="0" anchor="ctr">
            <a:normAutofit/>
          </a:bodyPr>
          <a:lstStyle/>
          <a:p>
            <a:pPr algn="ctr" indent="0" marL="0">
              <a:lnSpc>
                <a:spcPts val="1680"/>
              </a:lnSpc>
              <a:buNone/>
            </a:pPr>
            <a:r>
              <a:rPr lang="en-US" sz="1200" dirty="0">
                <a:solidFill>
                  <a:srgbClr val="5FD3C4"/>
                </a:solidFill>
                <a:latin typeface="Manrope" pitchFamily="34" charset="0"/>
                <a:ea typeface="Manrope" pitchFamily="34" charset="-122"/>
                <a:cs typeface="Manrope" pitchFamily="34" charset="-120"/>
              </a:rPr>
              <a:t>Faces</a:t>
            </a:r>
            <a:endParaRPr lang="en-US" sz="1200" dirty="0"/>
          </a:p>
        </p:txBody>
      </p:sp>
      <p:sp>
        <p:nvSpPr>
          <p:cNvPr id="15" name="Text 10"/>
          <p:cNvSpPr/>
          <p:nvPr/>
        </p:nvSpPr>
        <p:spPr>
          <a:xfrm>
            <a:off x="5427117" y="2884736"/>
            <a:ext cx="737344" cy="295870"/>
          </a:xfrm>
          <a:prstGeom prst="roundRect">
            <a:avLst>
              <a:gd name="adj" fmla="val 50000"/>
            </a:avLst>
          </a:prstGeom>
          <a:solidFill>
            <a:srgbClr val="0A1A1C"/>
          </a:solidFill>
          <a:ln w="6350">
            <a:solidFill>
              <a:srgbClr val="2F8F86"/>
            </a:solidFill>
            <a:prstDash val="solid"/>
          </a:ln>
        </p:spPr>
        <p:txBody>
          <a:bodyPr wrap="none" lIns="0" tIns="0" rIns="0" bIns="0" rtlCol="0" anchor="ctr">
            <a:normAutofit/>
          </a:bodyPr>
          <a:lstStyle/>
          <a:p>
            <a:pPr algn="ctr" indent="0" marL="0">
              <a:lnSpc>
                <a:spcPts val="1680"/>
              </a:lnSpc>
              <a:buNone/>
            </a:pPr>
            <a:r>
              <a:rPr lang="en-US" sz="1200" dirty="0">
                <a:solidFill>
                  <a:srgbClr val="5FD3C4"/>
                </a:solidFill>
                <a:latin typeface="Manrope" pitchFamily="34" charset="0"/>
                <a:ea typeface="Manrope" pitchFamily="34" charset="-122"/>
                <a:cs typeface="Manrope" pitchFamily="34" charset="-120"/>
              </a:rPr>
              <a:t>Objects</a:t>
            </a:r>
            <a:endParaRPr lang="en-US" sz="1200" dirty="0"/>
          </a:p>
        </p:txBody>
      </p:sp>
      <p:sp>
        <p:nvSpPr>
          <p:cNvPr id="16" name="Text 11"/>
          <p:cNvSpPr/>
          <p:nvPr/>
        </p:nvSpPr>
        <p:spPr>
          <a:xfrm>
            <a:off x="6247011" y="2884736"/>
            <a:ext cx="1056481" cy="295870"/>
          </a:xfrm>
          <a:prstGeom prst="roundRect">
            <a:avLst>
              <a:gd name="adj" fmla="val 50000"/>
            </a:avLst>
          </a:prstGeom>
          <a:solidFill>
            <a:srgbClr val="0A1A1C"/>
          </a:solidFill>
          <a:ln w="6350">
            <a:solidFill>
              <a:srgbClr val="2F8F86"/>
            </a:solidFill>
            <a:prstDash val="solid"/>
          </a:ln>
        </p:spPr>
        <p:txBody>
          <a:bodyPr wrap="none" lIns="0" tIns="0" rIns="0" bIns="0" rtlCol="0" anchor="ctr">
            <a:normAutofit/>
          </a:bodyPr>
          <a:lstStyle/>
          <a:p>
            <a:pPr algn="ctr" indent="0" marL="0">
              <a:lnSpc>
                <a:spcPts val="1680"/>
              </a:lnSpc>
              <a:buNone/>
            </a:pPr>
            <a:r>
              <a:rPr lang="en-US" sz="1200" dirty="0">
                <a:solidFill>
                  <a:srgbClr val="5FD3C4"/>
                </a:solidFill>
                <a:latin typeface="Manrope" pitchFamily="34" charset="0"/>
                <a:ea typeface="Manrope" pitchFamily="34" charset="-122"/>
                <a:cs typeface="Manrope" pitchFamily="34" charset="-120"/>
              </a:rPr>
              <a:t>Embeddings</a:t>
            </a:r>
            <a:endParaRPr lang="en-US" sz="1200" dirty="0"/>
          </a:p>
        </p:txBody>
      </p:sp>
      <p:sp>
        <p:nvSpPr>
          <p:cNvPr id="17" name="Text 12"/>
          <p:cNvSpPr/>
          <p:nvPr/>
        </p:nvSpPr>
        <p:spPr>
          <a:xfrm>
            <a:off x="4747667" y="3285381"/>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Coming soon: Plates, Cascades</a:t>
            </a:r>
            <a:endParaRPr lang="en-US" sz="1200" dirty="0"/>
          </a:p>
        </p:txBody>
      </p:sp>
      <p:pic>
        <p:nvPicPr>
          <p:cNvPr id="18" name="Image 3" descr="arrow-right">    </p:cNvPr>
          <p:cNvPicPr>
            <a:picLocks noChangeAspect="1"/>
          </p:cNvPicPr>
          <p:nvPr/>
        </p:nvPicPr>
        <p:blipFill>
          <a:blip r:embed="rId4"/>
          <a:srcRect l="0" r="0" t="0" b="0"/>
          <a:stretch/>
        </p:blipFill>
        <p:spPr>
          <a:xfrm>
            <a:off x="7806283" y="2661791"/>
            <a:ext cx="304800" cy="152400"/>
          </a:xfrm>
          <a:prstGeom prst="rect">
            <a:avLst/>
          </a:prstGeom>
        </p:spPr>
      </p:pic>
      <p:sp>
        <p:nvSpPr>
          <p:cNvPr id="19" name="Shape 13"/>
          <p:cNvSpPr/>
          <p:nvPr/>
        </p:nvSpPr>
        <p:spPr>
          <a:xfrm>
            <a:off x="8266658" y="1770955"/>
            <a:ext cx="3109367" cy="1934121"/>
          </a:xfrm>
          <a:prstGeom prst="roundRect">
            <a:avLst>
              <a:gd name="adj" fmla="val 3776"/>
            </a:avLst>
          </a:prstGeom>
          <a:solidFill>
            <a:srgbClr val="0B1018"/>
          </a:solidFill>
          <a:ln w="6350">
            <a:solidFill>
              <a:srgbClr val="1C2532"/>
            </a:solidFill>
            <a:prstDash val="solid"/>
          </a:ln>
        </p:spPr>
      </p:sp>
      <p:sp>
        <p:nvSpPr>
          <p:cNvPr id="20" name="Shape 14"/>
          <p:cNvSpPr/>
          <p:nvPr/>
        </p:nvSpPr>
        <p:spPr>
          <a:xfrm>
            <a:off x="8476208" y="1980505"/>
            <a:ext cx="450850" cy="450850"/>
          </a:xfrm>
          <a:prstGeom prst="roundRect">
            <a:avLst>
              <a:gd name="adj" fmla="val 16197"/>
            </a:avLst>
          </a:prstGeom>
          <a:solidFill>
            <a:srgbClr val="5FD3C4"/>
          </a:solidFill>
          <a:ln w="6350">
            <a:solidFill>
              <a:srgbClr val="5FD3C4"/>
            </a:solidFill>
            <a:prstDash val="solid"/>
          </a:ln>
        </p:spPr>
      </p:sp>
      <p:pic>
        <p:nvPicPr>
          <p:cNvPr id="21" name="Image 4" descr="Activity">    </p:cNvPr>
          <p:cNvPicPr>
            <a:picLocks noChangeAspect="1"/>
          </p:cNvPicPr>
          <p:nvPr/>
        </p:nvPicPr>
        <p:blipFill>
          <a:blip r:embed="rId5"/>
          <a:srcRect l="0" r="0" t="0" b="0"/>
          <a:stretch/>
        </p:blipFill>
        <p:spPr>
          <a:xfrm>
            <a:off x="8574633" y="2078930"/>
            <a:ext cx="254000" cy="254000"/>
          </a:xfrm>
          <a:prstGeom prst="rect">
            <a:avLst/>
          </a:prstGeom>
        </p:spPr>
      </p:pic>
      <p:sp>
        <p:nvSpPr>
          <p:cNvPr id="22" name="Text 15"/>
          <p:cNvSpPr/>
          <p:nvPr/>
        </p:nvSpPr>
        <p:spPr>
          <a:xfrm>
            <a:off x="8473033" y="2536130"/>
            <a:ext cx="277751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4F7"/>
                </a:solidFill>
                <a:latin typeface="Manrope" pitchFamily="34" charset="0"/>
                <a:ea typeface="Manrope" pitchFamily="34" charset="-122"/>
                <a:cs typeface="Manrope" pitchFamily="34" charset="-120"/>
              </a:rPr>
              <a:t>AI camera</a:t>
            </a:r>
            <a:endParaRPr lang="en-US" sz="1600" dirty="0"/>
          </a:p>
        </p:txBody>
      </p:sp>
      <p:sp>
        <p:nvSpPr>
          <p:cNvPr id="23" name="Text 16"/>
          <p:cNvSpPr/>
          <p:nvPr/>
        </p:nvSpPr>
        <p:spPr>
          <a:xfrm>
            <a:off x="8473033" y="2881561"/>
            <a:ext cx="277751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3BBC7"/>
                </a:solidFill>
                <a:latin typeface="Manrope" pitchFamily="34" charset="0"/>
                <a:ea typeface="Manrope" pitchFamily="34" charset="-122"/>
                <a:cs typeface="Manrope" pitchFamily="34" charset="-120"/>
              </a:rPr>
              <a:t>The first plugin starts the AI; the last one off stops it.</a:t>
            </a:r>
            <a:endParaRPr lang="en-US" sz="1400" dirty="0"/>
          </a:p>
        </p:txBody>
      </p:sp>
      <p:sp>
        <p:nvSpPr>
          <p:cNvPr id="24" name="Shape 17"/>
          <p:cNvSpPr/>
          <p:nvPr/>
        </p:nvSpPr>
        <p:spPr>
          <a:xfrm>
            <a:off x="815975" y="3914626"/>
            <a:ext cx="10560050" cy="1243211"/>
          </a:xfrm>
          <a:prstGeom prst="roundRect">
            <a:avLst>
              <a:gd name="adj" fmla="val 5874"/>
            </a:avLst>
          </a:prstGeom>
          <a:solidFill>
            <a:srgbClr val="0B1018"/>
          </a:solidFill>
          <a:ln w="6350">
            <a:solidFill>
              <a:srgbClr val="1C2532"/>
            </a:solidFill>
            <a:prstDash val="solid"/>
          </a:ln>
        </p:spPr>
      </p:sp>
      <p:sp>
        <p:nvSpPr>
          <p:cNvPr id="25" name="Shape 18"/>
          <p:cNvSpPr/>
          <p:nvPr/>
        </p:nvSpPr>
        <p:spPr>
          <a:xfrm>
            <a:off x="1025525" y="4310807"/>
            <a:ext cx="450850" cy="450850"/>
          </a:xfrm>
          <a:prstGeom prst="roundRect">
            <a:avLst>
              <a:gd name="adj" fmla="val 16197"/>
            </a:avLst>
          </a:prstGeom>
          <a:solidFill>
            <a:srgbClr val="0E1E21"/>
          </a:solidFill>
          <a:ln w="6350">
            <a:solidFill>
              <a:srgbClr val="1F3E3E"/>
            </a:solidFill>
            <a:prstDash val="solid"/>
          </a:ln>
        </p:spPr>
      </p:sp>
      <p:pic>
        <p:nvPicPr>
          <p:cNvPr id="26" name="Image 5" descr="Chart">    </p:cNvPr>
          <p:cNvPicPr>
            <a:picLocks noChangeAspect="1"/>
          </p:cNvPicPr>
          <p:nvPr/>
        </p:nvPicPr>
        <p:blipFill>
          <a:blip r:embed="rId6"/>
          <a:srcRect l="0" r="0" t="0" b="0"/>
          <a:stretch/>
        </p:blipFill>
        <p:spPr>
          <a:xfrm>
            <a:off x="1123950" y="4409232"/>
            <a:ext cx="254000" cy="254000"/>
          </a:xfrm>
          <a:prstGeom prst="rect">
            <a:avLst/>
          </a:prstGeom>
        </p:spPr>
      </p:pic>
      <p:sp>
        <p:nvSpPr>
          <p:cNvPr id="27" name="Text 19"/>
          <p:cNvSpPr/>
          <p:nvPr/>
        </p:nvSpPr>
        <p:spPr>
          <a:xfrm>
            <a:off x="1631950" y="4095601"/>
            <a:ext cx="9823831"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FD3C4"/>
                </a:solidFill>
                <a:latin typeface="Archivo" pitchFamily="34" charset="0"/>
                <a:ea typeface="Archivo" pitchFamily="34" charset="-122"/>
                <a:cs typeface="Archivo" pitchFamily="34" charset="-120"/>
              </a:rPr>
              <a:t>PRICED BEFORE APPLIED</a:t>
            </a:r>
            <a:endParaRPr lang="en-US" sz="1200" dirty="0"/>
          </a:p>
        </p:txBody>
      </p:sp>
      <p:sp>
        <p:nvSpPr>
          <p:cNvPr id="28" name="Text 20"/>
          <p:cNvSpPr/>
          <p:nvPr/>
        </p:nvSpPr>
        <p:spPr>
          <a:xfrm>
            <a:off x="1635125" y="4388296"/>
            <a:ext cx="1470670" cy="295870"/>
          </a:xfrm>
          <a:prstGeom prst="roundRect">
            <a:avLst>
              <a:gd name="adj" fmla="val 50000"/>
            </a:avLst>
          </a:prstGeom>
          <a:solidFill>
            <a:srgbClr val="0E141C"/>
          </a:solidFill>
          <a:ln w="6350">
            <a:solidFill>
              <a:srgbClr val="2A3442"/>
            </a:solidFill>
            <a:prstDash val="solid"/>
          </a:ln>
        </p:spPr>
        <p:txBody>
          <a:bodyPr wrap="none" lIns="0" tIns="0" rIns="0" bIns="0" rtlCol="0" anchor="ctr">
            <a:normAutofit/>
          </a:bodyPr>
          <a:lstStyle/>
          <a:p>
            <a:pPr algn="ctr" indent="0" marL="0">
              <a:lnSpc>
                <a:spcPts val="1680"/>
              </a:lnSpc>
              <a:buNone/>
            </a:pPr>
            <a:r>
              <a:rPr lang="en-US" sz="1200" dirty="0">
                <a:solidFill>
                  <a:srgbClr val="DCE2EA"/>
                </a:solidFill>
                <a:latin typeface="Manrope" pitchFamily="34" charset="0"/>
                <a:ea typeface="Manrope" pitchFamily="34" charset="-122"/>
                <a:cs typeface="Manrope" pitchFamily="34" charset="-120"/>
              </a:rPr>
              <a:t>GPU memory · soft</a:t>
            </a:r>
            <a:endParaRPr lang="en-US" sz="1200" dirty="0"/>
          </a:p>
        </p:txBody>
      </p:sp>
      <p:sp>
        <p:nvSpPr>
          <p:cNvPr id="29" name="Text 21"/>
          <p:cNvSpPr/>
          <p:nvPr/>
        </p:nvSpPr>
        <p:spPr>
          <a:xfrm>
            <a:off x="3188345" y="4388296"/>
            <a:ext cx="1464717" cy="295870"/>
          </a:xfrm>
          <a:prstGeom prst="roundRect">
            <a:avLst>
              <a:gd name="adj" fmla="val 50000"/>
            </a:avLst>
          </a:prstGeom>
          <a:solidFill>
            <a:srgbClr val="0E141C"/>
          </a:solidFill>
          <a:ln w="6350">
            <a:solidFill>
              <a:srgbClr val="2A3442"/>
            </a:solidFill>
            <a:prstDash val="solid"/>
          </a:ln>
        </p:spPr>
        <p:txBody>
          <a:bodyPr wrap="none" lIns="0" tIns="0" rIns="0" bIns="0" rtlCol="0" anchor="ctr">
            <a:normAutofit/>
          </a:bodyPr>
          <a:lstStyle/>
          <a:p>
            <a:pPr algn="ctr" indent="0" marL="0">
              <a:lnSpc>
                <a:spcPts val="1680"/>
              </a:lnSpc>
              <a:buNone/>
            </a:pPr>
            <a:r>
              <a:rPr lang="en-US" sz="1200" dirty="0">
                <a:solidFill>
                  <a:srgbClr val="DCE2EA"/>
                </a:solidFill>
                <a:latin typeface="Manrope" pitchFamily="34" charset="0"/>
                <a:ea typeface="Manrope" pitchFamily="34" charset="-122"/>
                <a:cs typeface="Manrope" pitchFamily="34" charset="-120"/>
              </a:rPr>
              <a:t>Face engine batch</a:t>
            </a:r>
            <a:endParaRPr lang="en-US" sz="1200" dirty="0"/>
          </a:p>
        </p:txBody>
      </p:sp>
      <p:sp>
        <p:nvSpPr>
          <p:cNvPr id="30" name="Text 22"/>
          <p:cNvSpPr/>
          <p:nvPr/>
        </p:nvSpPr>
        <p:spPr>
          <a:xfrm>
            <a:off x="4735612" y="4388296"/>
            <a:ext cx="1423541" cy="295870"/>
          </a:xfrm>
          <a:prstGeom prst="roundRect">
            <a:avLst>
              <a:gd name="adj" fmla="val 50000"/>
            </a:avLst>
          </a:prstGeom>
          <a:solidFill>
            <a:srgbClr val="0E141C"/>
          </a:solidFill>
          <a:ln w="6350">
            <a:solidFill>
              <a:srgbClr val="2A3442"/>
            </a:solidFill>
            <a:prstDash val="solid"/>
          </a:ln>
        </p:spPr>
        <p:txBody>
          <a:bodyPr wrap="none" lIns="0" tIns="0" rIns="0" bIns="0" rtlCol="0" anchor="ctr">
            <a:normAutofit/>
          </a:bodyPr>
          <a:lstStyle/>
          <a:p>
            <a:pPr algn="ctr" indent="0" marL="0">
              <a:lnSpc>
                <a:spcPts val="1680"/>
              </a:lnSpc>
              <a:buNone/>
            </a:pPr>
            <a:r>
              <a:rPr lang="en-US" sz="1200" dirty="0">
                <a:solidFill>
                  <a:srgbClr val="DCE2EA"/>
                </a:solidFill>
                <a:latin typeface="Manrope" pitchFamily="34" charset="0"/>
                <a:ea typeface="Manrope" pitchFamily="34" charset="-122"/>
                <a:cs typeface="Manrope" pitchFamily="34" charset="-120"/>
              </a:rPr>
              <a:t>Encoder sessions</a:t>
            </a:r>
            <a:endParaRPr lang="en-US" sz="1200" dirty="0"/>
          </a:p>
        </p:txBody>
      </p:sp>
      <p:sp>
        <p:nvSpPr>
          <p:cNvPr id="31" name="Text 23"/>
          <p:cNvSpPr/>
          <p:nvPr/>
        </p:nvSpPr>
        <p:spPr>
          <a:xfrm>
            <a:off x="6241703" y="4388296"/>
            <a:ext cx="1214537" cy="295870"/>
          </a:xfrm>
          <a:prstGeom prst="roundRect">
            <a:avLst>
              <a:gd name="adj" fmla="val 50000"/>
            </a:avLst>
          </a:prstGeom>
          <a:solidFill>
            <a:srgbClr val="0E141C"/>
          </a:solidFill>
          <a:ln w="6350">
            <a:solidFill>
              <a:srgbClr val="2A3442"/>
            </a:solidFill>
            <a:prstDash val="solid"/>
          </a:ln>
        </p:spPr>
        <p:txBody>
          <a:bodyPr wrap="none" lIns="0" tIns="0" rIns="0" bIns="0" rtlCol="0" anchor="ctr">
            <a:normAutofit/>
          </a:bodyPr>
          <a:lstStyle/>
          <a:p>
            <a:pPr algn="ctr" indent="0" marL="0">
              <a:lnSpc>
                <a:spcPts val="1680"/>
              </a:lnSpc>
              <a:buNone/>
            </a:pPr>
            <a:r>
              <a:rPr lang="en-US" sz="1200" dirty="0">
                <a:solidFill>
                  <a:srgbClr val="DCE2EA"/>
                </a:solidFill>
                <a:latin typeface="Manrope" pitchFamily="34" charset="0"/>
                <a:ea typeface="Manrope" pitchFamily="34" charset="-122"/>
                <a:cs typeface="Manrope" pitchFamily="34" charset="-120"/>
              </a:rPr>
              <a:t>Frame memory</a:t>
            </a:r>
            <a:endParaRPr lang="en-US" sz="1200" dirty="0"/>
          </a:p>
        </p:txBody>
      </p:sp>
      <p:sp>
        <p:nvSpPr>
          <p:cNvPr id="32" name="Text 24"/>
          <p:cNvSpPr/>
          <p:nvPr/>
        </p:nvSpPr>
        <p:spPr>
          <a:xfrm>
            <a:off x="7538789" y="4388296"/>
            <a:ext cx="1151434" cy="295870"/>
          </a:xfrm>
          <a:prstGeom prst="roundRect">
            <a:avLst>
              <a:gd name="adj" fmla="val 50000"/>
            </a:avLst>
          </a:prstGeom>
          <a:solidFill>
            <a:srgbClr val="0E141C"/>
          </a:solidFill>
          <a:ln w="6350">
            <a:solidFill>
              <a:srgbClr val="2A3442"/>
            </a:solidFill>
            <a:prstDash val="solid"/>
          </a:ln>
        </p:spPr>
        <p:txBody>
          <a:bodyPr wrap="none" lIns="0" tIns="0" rIns="0" bIns="0" rtlCol="0" anchor="ctr">
            <a:normAutofit/>
          </a:bodyPr>
          <a:lstStyle/>
          <a:p>
            <a:pPr algn="ctr" indent="0" marL="0">
              <a:lnSpc>
                <a:spcPts val="1680"/>
              </a:lnSpc>
              <a:buNone/>
            </a:pPr>
            <a:r>
              <a:rPr lang="en-US" sz="1200" dirty="0">
                <a:solidFill>
                  <a:srgbClr val="DCE2EA"/>
                </a:solidFill>
                <a:latin typeface="Manrope" pitchFamily="34" charset="0"/>
                <a:ea typeface="Manrope" pitchFamily="34" charset="-122"/>
                <a:cs typeface="Manrope" pitchFamily="34" charset="-120"/>
              </a:rPr>
              <a:t>Licence seats</a:t>
            </a:r>
            <a:endParaRPr lang="en-US" sz="1200" dirty="0"/>
          </a:p>
        </p:txBody>
      </p:sp>
      <p:sp>
        <p:nvSpPr>
          <p:cNvPr id="33" name="Text 25"/>
          <p:cNvSpPr/>
          <p:nvPr/>
        </p:nvSpPr>
        <p:spPr>
          <a:xfrm>
            <a:off x="1631950" y="4763542"/>
            <a:ext cx="98238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A hard ceiling refuses the change; GPU memory can be forced.</a:t>
            </a:r>
            <a:endParaRPr lang="en-US" sz="1200" dirty="0"/>
          </a:p>
        </p:txBody>
      </p:sp>
      <p:sp>
        <p:nvSpPr>
          <p:cNvPr id="34" name="Text 26"/>
          <p:cNvSpPr/>
          <p:nvPr/>
        </p:nvSpPr>
        <p:spPr>
          <a:xfrm>
            <a:off x="812800" y="536421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Faces stays on with any other plugin while every AI camera gets face detection.</a:t>
            </a:r>
            <a:endParaRPr lang="en-US" sz="1200" dirty="0"/>
          </a:p>
        </p:txBody>
      </p:sp>
      <p:sp>
        <p:nvSpPr>
          <p:cNvPr id="35"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PRISM · How it works, and why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3 · HOW IT WORKS, AND WHY · CAMERAS WIN</a:t>
            </a:r>
            <a:endParaRPr lang="en-US" sz="1200" dirty="0"/>
          </a:p>
        </p:txBody>
      </p:sp>
      <p:sp>
        <p:nvSpPr>
          <p:cNvPr id="3" name="Text 1"/>
          <p:cNvSpPr/>
          <p:nvPr>
            <p:ph type="title"/>
          </p:nvPr>
        </p:nvSpPr>
        <p:spPr>
          <a:xfrm>
            <a:off x="812800" y="1229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GPU MEMORY IS </a:t>
            </a:r>
            <a:r>
              <a:rPr lang="en-US" sz="2400" b="1" i="0" spc="150" kern="0" dirty="0">
                <a:solidFill>
                  <a:srgbClr val="5FD3C4"/>
                </a:solidFill>
                <a:latin typeface="Archivo" pitchFamily="34" charset="0"/>
                <a:ea typeface="Archivo" pitchFamily="34" charset="-122"/>
                <a:cs typeface="Archivo" pitchFamily="34" charset="-120"/>
              </a:rPr>
              <a:t>THE CAMERA BUDGET</a:t>
            </a:r>
            <a:endParaRPr lang="en-US" sz="2400" dirty="0"/>
          </a:p>
        </p:txBody>
      </p:sp>
      <p:sp>
        <p:nvSpPr>
          <p:cNvPr id="4" name="Shape 2"/>
          <p:cNvSpPr/>
          <p:nvPr/>
        </p:nvSpPr>
        <p:spPr>
          <a:xfrm>
            <a:off x="815975" y="1770955"/>
            <a:ext cx="5965478" cy="3295452"/>
          </a:xfrm>
          <a:prstGeom prst="roundRect">
            <a:avLst>
              <a:gd name="adj" fmla="val 2216"/>
            </a:avLst>
          </a:prstGeom>
          <a:solidFill>
            <a:srgbClr val="0B1018"/>
          </a:solidFill>
          <a:ln w="6350">
            <a:solidFill>
              <a:srgbClr val="1C2532"/>
            </a:solidFill>
            <a:prstDash val="solid"/>
          </a:ln>
        </p:spPr>
      </p:sp>
      <p:sp>
        <p:nvSpPr>
          <p:cNvPr id="5" name="Text 3"/>
          <p:cNvSpPr/>
          <p:nvPr/>
        </p:nvSpPr>
        <p:spPr>
          <a:xfrm>
            <a:off x="1022350" y="1977330"/>
            <a:ext cx="5719310"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7D8696"/>
                </a:solidFill>
                <a:latin typeface="Archivo" pitchFamily="34" charset="0"/>
                <a:ea typeface="Archivo" pitchFamily="34" charset="-122"/>
                <a:cs typeface="Archivo" pitchFamily="34" charset="-120"/>
              </a:rPr>
              <a:t>ONE GPU · ONE MEMORY BUDGET</a:t>
            </a:r>
            <a:endParaRPr lang="en-US" sz="1200" dirty="0"/>
          </a:p>
        </p:txBody>
      </p:sp>
      <p:sp>
        <p:nvSpPr>
          <p:cNvPr id="6" name="Shape 4"/>
          <p:cNvSpPr/>
          <p:nvPr/>
        </p:nvSpPr>
        <p:spPr>
          <a:xfrm>
            <a:off x="1025525" y="2270026"/>
            <a:ext cx="5546378" cy="509240"/>
          </a:xfrm>
          <a:prstGeom prst="roundRect">
            <a:avLst>
              <a:gd name="adj" fmla="val 9352"/>
            </a:avLst>
          </a:prstGeom>
          <a:solidFill>
            <a:srgbClr val="0F2A2C"/>
          </a:solidFill>
          <a:ln w="6350">
            <a:solidFill>
              <a:srgbClr val="5FD3C4"/>
            </a:solidFill>
            <a:prstDash val="solid"/>
          </a:ln>
        </p:spPr>
      </p:sp>
      <p:pic>
        <p:nvPicPr>
          <p:cNvPr id="7" name="Image 0" descr="Search">    </p:cNvPr>
          <p:cNvPicPr>
            <a:picLocks noChangeAspect="1"/>
          </p:cNvPicPr>
          <p:nvPr/>
        </p:nvPicPr>
        <p:blipFill>
          <a:blip r:embed="rId1"/>
          <a:srcRect l="0" r="0" t="0" b="0"/>
          <a:stretch/>
        </p:blipFill>
        <p:spPr>
          <a:xfrm>
            <a:off x="1181100" y="2423021"/>
            <a:ext cx="203200" cy="203200"/>
          </a:xfrm>
          <a:prstGeom prst="rect">
            <a:avLst/>
          </a:prstGeom>
        </p:spPr>
      </p:pic>
      <p:sp>
        <p:nvSpPr>
          <p:cNvPr id="8" name="Text 5"/>
          <p:cNvSpPr/>
          <p:nvPr/>
        </p:nvSpPr>
        <p:spPr>
          <a:xfrm>
            <a:off x="1485900" y="2400201"/>
            <a:ext cx="382649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4F7"/>
                </a:solidFill>
                <a:latin typeface="Manrope" pitchFamily="34" charset="0"/>
                <a:ea typeface="Manrope" pitchFamily="34" charset="-122"/>
                <a:cs typeface="Manrope" pitchFamily="34" charset="-120"/>
              </a:rPr>
              <a:t>Face engine, one for all cameras</a:t>
            </a:r>
            <a:endParaRPr lang="en-US" sz="1400" dirty="0"/>
          </a:p>
        </p:txBody>
      </p:sp>
      <p:sp>
        <p:nvSpPr>
          <p:cNvPr id="9" name="Text 6"/>
          <p:cNvSpPr/>
          <p:nvPr/>
        </p:nvSpPr>
        <p:spPr>
          <a:xfrm>
            <a:off x="5302548" y="2417961"/>
            <a:ext cx="1266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D3C4"/>
                </a:solidFill>
                <a:latin typeface="Manrope" pitchFamily="34" charset="0"/>
                <a:ea typeface="Manrope" pitchFamily="34" charset="-122"/>
                <a:cs typeface="Manrope" pitchFamily="34" charset="-120"/>
              </a:rPr>
              <a:t>8-camera batch</a:t>
            </a:r>
            <a:endParaRPr lang="en-US" sz="1200" dirty="0"/>
          </a:p>
        </p:txBody>
      </p:sp>
      <p:sp>
        <p:nvSpPr>
          <p:cNvPr id="10" name="Shape 7"/>
          <p:cNvSpPr/>
          <p:nvPr/>
        </p:nvSpPr>
        <p:spPr>
          <a:xfrm>
            <a:off x="1025525" y="2861816"/>
            <a:ext cx="5546378" cy="509240"/>
          </a:xfrm>
          <a:prstGeom prst="roundRect">
            <a:avLst>
              <a:gd name="adj" fmla="val 9352"/>
            </a:avLst>
          </a:prstGeom>
          <a:solidFill>
            <a:srgbClr val="121821"/>
          </a:solidFill>
          <a:ln w="6350">
            <a:solidFill>
              <a:srgbClr val="475263"/>
            </a:solidFill>
            <a:prstDash val="solid"/>
          </a:ln>
        </p:spPr>
      </p:sp>
      <p:pic>
        <p:nvPicPr>
          <p:cNvPr id="11" name="Image 1" descr="Play">    </p:cNvPr>
          <p:cNvPicPr>
            <a:picLocks noChangeAspect="1"/>
          </p:cNvPicPr>
          <p:nvPr/>
        </p:nvPicPr>
        <p:blipFill>
          <a:blip r:embed="rId2"/>
          <a:srcRect l="0" r="0" t="0" b="0"/>
          <a:stretch/>
        </p:blipFill>
        <p:spPr>
          <a:xfrm>
            <a:off x="1181100" y="3014811"/>
            <a:ext cx="203200" cy="203200"/>
          </a:xfrm>
          <a:prstGeom prst="rect">
            <a:avLst/>
          </a:prstGeom>
        </p:spPr>
      </p:pic>
      <p:sp>
        <p:nvSpPr>
          <p:cNvPr id="12" name="Text 8"/>
          <p:cNvSpPr/>
          <p:nvPr/>
        </p:nvSpPr>
        <p:spPr>
          <a:xfrm>
            <a:off x="1485900" y="2991991"/>
            <a:ext cx="325492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4F7"/>
                </a:solidFill>
                <a:latin typeface="Manrope" pitchFamily="34" charset="0"/>
                <a:ea typeface="Manrope" pitchFamily="34" charset="-122"/>
                <a:cs typeface="Manrope" pitchFamily="34" charset="-120"/>
              </a:rPr>
              <a:t>Camera lanes</a:t>
            </a:r>
            <a:endParaRPr lang="en-US" sz="1400" dirty="0"/>
          </a:p>
        </p:txBody>
      </p:sp>
      <p:sp>
        <p:nvSpPr>
          <p:cNvPr id="13" name="Text 9"/>
          <p:cNvSpPr/>
          <p:nvPr/>
        </p:nvSpPr>
        <p:spPr>
          <a:xfrm>
            <a:off x="4747617" y="3009751"/>
            <a:ext cx="182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~150 MB each, estimate</a:t>
            </a:r>
            <a:endParaRPr lang="en-US" sz="1200" dirty="0"/>
          </a:p>
        </p:txBody>
      </p:sp>
      <p:sp>
        <p:nvSpPr>
          <p:cNvPr id="14" name="Shape 10"/>
          <p:cNvSpPr/>
          <p:nvPr/>
        </p:nvSpPr>
        <p:spPr>
          <a:xfrm>
            <a:off x="1025525" y="3453606"/>
            <a:ext cx="5546378" cy="509240"/>
          </a:xfrm>
          <a:prstGeom prst="roundRect">
            <a:avLst>
              <a:gd name="adj" fmla="val 9352"/>
            </a:avLst>
          </a:prstGeom>
          <a:solidFill>
            <a:srgbClr val="15112A"/>
          </a:solidFill>
          <a:ln w="6350">
            <a:solidFill>
              <a:srgbClr val="A99CF0"/>
            </a:solidFill>
            <a:prstDash val="solid"/>
          </a:ln>
        </p:spPr>
      </p:sp>
      <p:pic>
        <p:nvPicPr>
          <p:cNvPr id="15" name="Image 2" descr="Users">    </p:cNvPr>
          <p:cNvPicPr>
            <a:picLocks noChangeAspect="1"/>
          </p:cNvPicPr>
          <p:nvPr/>
        </p:nvPicPr>
        <p:blipFill>
          <a:blip r:embed="rId3"/>
          <a:srcRect l="0" r="0" t="0" b="0"/>
          <a:stretch/>
        </p:blipFill>
        <p:spPr>
          <a:xfrm>
            <a:off x="1181100" y="3606602"/>
            <a:ext cx="203200" cy="203200"/>
          </a:xfrm>
          <a:prstGeom prst="rect">
            <a:avLst/>
          </a:prstGeom>
        </p:spPr>
      </p:pic>
      <p:sp>
        <p:nvSpPr>
          <p:cNvPr id="16" name="Text 11"/>
          <p:cNvSpPr/>
          <p:nvPr/>
        </p:nvSpPr>
        <p:spPr>
          <a:xfrm>
            <a:off x="1485900" y="3583781"/>
            <a:ext cx="429414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4F7"/>
                </a:solidFill>
                <a:latin typeface="Manrope" pitchFamily="34" charset="0"/>
                <a:ea typeface="Manrope" pitchFamily="34" charset="-122"/>
                <a:cs typeface="Manrope" pitchFamily="34" charset="-120"/>
              </a:rPr>
              <a:t>Recognition worker</a:t>
            </a:r>
            <a:endParaRPr lang="en-US" sz="1400" dirty="0"/>
          </a:p>
        </p:txBody>
      </p:sp>
      <p:sp>
        <p:nvSpPr>
          <p:cNvPr id="17" name="Text 12"/>
          <p:cNvSpPr/>
          <p:nvPr/>
        </p:nvSpPr>
        <p:spPr>
          <a:xfrm>
            <a:off x="5756573" y="3601541"/>
            <a:ext cx="7917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AEF6"/>
                </a:solidFill>
                <a:latin typeface="Manrope" pitchFamily="34" charset="0"/>
                <a:ea typeface="Manrope" pitchFamily="34" charset="-122"/>
                <a:cs typeface="Manrope" pitchFamily="34" charset="-120"/>
              </a:rPr>
              <a:t>~480 MiB</a:t>
            </a:r>
            <a:endParaRPr lang="en-US" sz="1200" dirty="0"/>
          </a:p>
        </p:txBody>
      </p:sp>
      <p:sp>
        <p:nvSpPr>
          <p:cNvPr id="18" name="Shape 13"/>
          <p:cNvSpPr/>
          <p:nvPr/>
        </p:nvSpPr>
        <p:spPr>
          <a:xfrm>
            <a:off x="1028700" y="4048571"/>
            <a:ext cx="5540028" cy="515590"/>
          </a:xfrm>
          <a:prstGeom prst="roundRect">
            <a:avLst>
              <a:gd name="adj" fmla="val 8621"/>
            </a:avLst>
          </a:prstGeom>
          <a:solidFill>
            <a:srgbClr val="0B1018"/>
          </a:solidFill>
          <a:ln w="12700">
            <a:solidFill>
              <a:srgbClr val="475263"/>
            </a:solidFill>
            <a:prstDash val="dash"/>
          </a:ln>
        </p:spPr>
      </p:sp>
      <p:pic>
        <p:nvPicPr>
          <p:cNvPr id="19" name="Image 3" descr="CheckCircle">    </p:cNvPr>
          <p:cNvPicPr>
            <a:picLocks noChangeAspect="1"/>
          </p:cNvPicPr>
          <p:nvPr/>
        </p:nvPicPr>
        <p:blipFill>
          <a:blip r:embed="rId4"/>
          <a:srcRect l="0" r="0" t="0" b="0"/>
          <a:stretch/>
        </p:blipFill>
        <p:spPr>
          <a:xfrm>
            <a:off x="1187450" y="4204742"/>
            <a:ext cx="203200" cy="203200"/>
          </a:xfrm>
          <a:prstGeom prst="rect">
            <a:avLst/>
          </a:prstGeom>
        </p:spPr>
      </p:pic>
      <p:sp>
        <p:nvSpPr>
          <p:cNvPr id="20" name="Text 14"/>
          <p:cNvSpPr/>
          <p:nvPr/>
        </p:nvSpPr>
        <p:spPr>
          <a:xfrm>
            <a:off x="1492250" y="4181921"/>
            <a:ext cx="353457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3BBC7"/>
                </a:solidFill>
                <a:latin typeface="Manrope" pitchFamily="34" charset="0"/>
                <a:ea typeface="Manrope" pitchFamily="34" charset="-122"/>
                <a:cs typeface="Manrope" pitchFamily="34" charset="-120"/>
              </a:rPr>
              <a:t>Free headroom</a:t>
            </a:r>
            <a:endParaRPr lang="en-US" sz="1400" dirty="0"/>
          </a:p>
        </p:txBody>
      </p:sp>
      <p:sp>
        <p:nvSpPr>
          <p:cNvPr id="21" name="Text 15"/>
          <p:cNvSpPr/>
          <p:nvPr/>
        </p:nvSpPr>
        <p:spPr>
          <a:xfrm>
            <a:off x="5025479" y="4199682"/>
            <a:ext cx="15368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keep above 300 MiB</a:t>
            </a:r>
            <a:endParaRPr lang="en-US" sz="1200" dirty="0"/>
          </a:p>
        </p:txBody>
      </p:sp>
      <p:sp>
        <p:nvSpPr>
          <p:cNvPr id="22" name="Text 16"/>
          <p:cNvSpPr/>
          <p:nvPr/>
        </p:nvSpPr>
        <p:spPr>
          <a:xfrm>
            <a:off x="1022350" y="4646712"/>
            <a:ext cx="57193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Blocks are not to scale.</a:t>
            </a:r>
            <a:endParaRPr lang="en-US" sz="1200" dirty="0"/>
          </a:p>
        </p:txBody>
      </p:sp>
      <p:sp>
        <p:nvSpPr>
          <p:cNvPr id="23" name="Shape 17"/>
          <p:cNvSpPr/>
          <p:nvPr/>
        </p:nvSpPr>
        <p:spPr>
          <a:xfrm>
            <a:off x="6940203" y="1770955"/>
            <a:ext cx="4435822" cy="1250851"/>
          </a:xfrm>
          <a:prstGeom prst="roundRect">
            <a:avLst>
              <a:gd name="adj" fmla="val 5838"/>
            </a:avLst>
          </a:prstGeom>
          <a:solidFill>
            <a:srgbClr val="0B1018"/>
          </a:solidFill>
          <a:ln w="6350">
            <a:solidFill>
              <a:srgbClr val="1C2532"/>
            </a:solidFill>
            <a:prstDash val="solid"/>
          </a:ln>
        </p:spPr>
      </p:sp>
      <p:pic>
        <p:nvPicPr>
          <p:cNvPr id="24" name="Image 4" descr="Clock">    </p:cNvPr>
          <p:cNvPicPr>
            <a:picLocks noChangeAspect="1"/>
          </p:cNvPicPr>
          <p:nvPr/>
        </p:nvPicPr>
        <p:blipFill>
          <a:blip r:embed="rId5"/>
          <a:srcRect l="0" r="0" t="0" b="0"/>
          <a:stretch/>
        </p:blipFill>
        <p:spPr>
          <a:xfrm>
            <a:off x="7146578" y="2005261"/>
            <a:ext cx="279400" cy="279400"/>
          </a:xfrm>
          <a:prstGeom prst="rect">
            <a:avLst/>
          </a:prstGeom>
        </p:spPr>
      </p:pic>
      <p:sp>
        <p:nvSpPr>
          <p:cNvPr id="25" name="Text 18"/>
          <p:cNvSpPr/>
          <p:nvPr/>
        </p:nvSpPr>
        <p:spPr>
          <a:xfrm>
            <a:off x="7527578" y="1977330"/>
            <a:ext cx="2958584"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5FD3C4"/>
                </a:solidFill>
                <a:latin typeface="Archivo" pitchFamily="34" charset="0"/>
                <a:ea typeface="Archivo" pitchFamily="34" charset="-122"/>
                <a:cs typeface="Archivo" pitchFamily="34" charset="-120"/>
              </a:rPr>
              <a:t>2.7 s → 17 ms</a:t>
            </a:r>
            <a:endParaRPr lang="en-US" sz="2400" dirty="0"/>
          </a:p>
        </p:txBody>
      </p:sp>
      <p:sp>
        <p:nvSpPr>
          <p:cNvPr id="26" name="Text 19"/>
          <p:cNvSpPr/>
          <p:nvPr/>
        </p:nvSpPr>
        <p:spPr>
          <a:xfrm>
            <a:off x="7146578" y="2388791"/>
            <a:ext cx="414376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Recognition latency after scaling inside one worker, with no new memory</a:t>
            </a:r>
            <a:endParaRPr lang="en-US" sz="1200" dirty="0"/>
          </a:p>
        </p:txBody>
      </p:sp>
      <p:pic>
        <p:nvPicPr>
          <p:cNvPr id="27" name="Image 5" descr="CheckCircle">    </p:cNvPr>
          <p:cNvPicPr>
            <a:picLocks noChangeAspect="1"/>
          </p:cNvPicPr>
          <p:nvPr/>
        </p:nvPicPr>
        <p:blipFill>
          <a:blip r:embed="rId6"/>
          <a:srcRect l="0" r="0" t="0" b="0"/>
          <a:stretch/>
        </p:blipFill>
        <p:spPr>
          <a:xfrm>
            <a:off x="6937028" y="3183086"/>
            <a:ext cx="228600" cy="228600"/>
          </a:xfrm>
          <a:prstGeom prst="rect">
            <a:avLst/>
          </a:prstGeom>
        </p:spPr>
      </p:pic>
      <p:sp>
        <p:nvSpPr>
          <p:cNvPr id="28" name="Text 20"/>
          <p:cNvSpPr/>
          <p:nvPr/>
        </p:nvSpPr>
        <p:spPr>
          <a:xfrm>
            <a:off x="7267228" y="3177381"/>
            <a:ext cx="230451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2F4F7"/>
                </a:solidFill>
                <a:latin typeface="Manrope" pitchFamily="34" charset="0"/>
                <a:ea typeface="Manrope" pitchFamily="34" charset="-122"/>
                <a:cs typeface="Manrope" pitchFamily="34" charset="-120"/>
              </a:rPr>
              <a:t>Scale inside one worker</a:t>
            </a:r>
            <a:endParaRPr lang="en-US" sz="1400" dirty="0"/>
          </a:p>
        </p:txBody>
      </p:sp>
      <p:pic>
        <p:nvPicPr>
          <p:cNvPr id="29" name="Image 6" descr="Warning">    </p:cNvPr>
          <p:cNvPicPr>
            <a:picLocks noChangeAspect="1"/>
          </p:cNvPicPr>
          <p:nvPr/>
        </p:nvPicPr>
        <p:blipFill>
          <a:blip r:embed="rId7"/>
          <a:srcRect l="0" r="0" t="0" b="0"/>
          <a:stretch/>
        </p:blipFill>
        <p:spPr>
          <a:xfrm>
            <a:off x="6937028" y="3575496"/>
            <a:ext cx="228600" cy="228600"/>
          </a:xfrm>
          <a:prstGeom prst="rect">
            <a:avLst/>
          </a:prstGeom>
        </p:spPr>
      </p:pic>
      <p:sp>
        <p:nvSpPr>
          <p:cNvPr id="30" name="Text 21"/>
          <p:cNvSpPr/>
          <p:nvPr/>
        </p:nvSpPr>
        <p:spPr>
          <a:xfrm>
            <a:off x="7267228" y="3569791"/>
            <a:ext cx="2778919"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2F4F7"/>
                </a:solidFill>
                <a:latin typeface="Manrope" pitchFamily="34" charset="0"/>
                <a:ea typeface="Manrope" pitchFamily="34" charset="-122"/>
                <a:cs typeface="Manrope" pitchFamily="34" charset="-120"/>
              </a:rPr>
              <a:t>Never add workers for speed</a:t>
            </a:r>
            <a:endParaRPr lang="en-US" sz="1400" dirty="0"/>
          </a:p>
        </p:txBody>
      </p:sp>
      <p:pic>
        <p:nvPicPr>
          <p:cNvPr id="31" name="Image 7" descr="Activity">    </p:cNvPr>
          <p:cNvPicPr>
            <a:picLocks noChangeAspect="1"/>
          </p:cNvPicPr>
          <p:nvPr/>
        </p:nvPicPr>
        <p:blipFill>
          <a:blip r:embed="rId8"/>
          <a:srcRect l="0" r="0" t="0" b="0"/>
          <a:stretch/>
        </p:blipFill>
        <p:spPr>
          <a:xfrm>
            <a:off x="6937028" y="3967907"/>
            <a:ext cx="228600" cy="228600"/>
          </a:xfrm>
          <a:prstGeom prst="rect">
            <a:avLst/>
          </a:prstGeom>
        </p:spPr>
      </p:pic>
      <p:sp>
        <p:nvSpPr>
          <p:cNvPr id="32" name="Text 22"/>
          <p:cNvSpPr/>
          <p:nvPr/>
        </p:nvSpPr>
        <p:spPr>
          <a:xfrm>
            <a:off x="7267228" y="3962202"/>
            <a:ext cx="3556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2F4F7"/>
                </a:solidFill>
                <a:latin typeface="Manrope" pitchFamily="34" charset="0"/>
                <a:ea typeface="Manrope" pitchFamily="34" charset="-122"/>
                <a:cs typeface="Manrope" pitchFamily="34" charset="-120"/>
              </a:rPr>
              <a:t>Motion decides where the GPU goes</a:t>
            </a:r>
            <a:endParaRPr lang="en-US" sz="1400" dirty="0"/>
          </a:p>
        </p:txBody>
      </p:sp>
      <p:sp>
        <p:nvSpPr>
          <p:cNvPr id="33" name="Shape 23"/>
          <p:cNvSpPr/>
          <p:nvPr/>
        </p:nvSpPr>
        <p:spPr>
          <a:xfrm>
            <a:off x="812800" y="5272782"/>
            <a:ext cx="10566400" cy="528290"/>
          </a:xfrm>
          <a:prstGeom prst="roundRect">
            <a:avLst>
              <a:gd name="adj" fmla="val 4808"/>
            </a:avLst>
          </a:prstGeom>
          <a:solidFill>
            <a:srgbClr val="130F27"/>
          </a:solidFill>
          <a:ln/>
        </p:spPr>
      </p:sp>
      <p:sp>
        <p:nvSpPr>
          <p:cNvPr id="34" name="Shape 24"/>
          <p:cNvSpPr/>
          <p:nvPr/>
        </p:nvSpPr>
        <p:spPr>
          <a:xfrm>
            <a:off x="812800" y="5272782"/>
            <a:ext cx="10566400" cy="528290"/>
          </a:xfrm>
          <a:custGeom>
            <a:avLst/>
            <a:gdLst/>
            <a:ahLst/>
            <a:cxnLst/>
            <a:rect l="l" t="t" r="r" b="b"/>
            <a:pathLst>
              <a:path w="10566400" h="528290">
                <a:moveTo>
                  <a:pt x="25400" y="528290"/>
                </a:moveTo>
                <a:lnTo>
                  <a:pt x="25400" y="528290"/>
                </a:lnTo>
                <a:arcTo hR="25400" wR="25400" stAng="5400000" swAng="5400000"/>
                <a:lnTo>
                  <a:pt x="0" y="25400"/>
                </a:lnTo>
                <a:arcTo hR="25400" wR="25400" stAng="10800000" swAng="5400000"/>
                <a:lnTo>
                  <a:pt x="25400" y="0"/>
                </a:lnTo>
                <a:lnTo>
                  <a:pt x="25400" y="528290"/>
                </a:lnTo>
                <a:close/>
              </a:path>
            </a:pathLst>
          </a:custGeom>
          <a:solidFill>
            <a:srgbClr val="A99CF0"/>
          </a:solidFill>
          <a:ln/>
        </p:spPr>
      </p:sp>
      <p:pic>
        <p:nvPicPr>
          <p:cNvPr id="35" name="Image 8" descr="Warning">    </p:cNvPr>
          <p:cNvPicPr>
            <a:picLocks noChangeAspect="1"/>
          </p:cNvPicPr>
          <p:nvPr/>
        </p:nvPicPr>
        <p:blipFill>
          <a:blip r:embed="rId9"/>
          <a:srcRect l="0" r="0" t="0" b="0"/>
          <a:stretch/>
        </p:blipFill>
        <p:spPr>
          <a:xfrm>
            <a:off x="1041400" y="5422602"/>
            <a:ext cx="228600" cy="228600"/>
          </a:xfrm>
          <a:prstGeom prst="rect">
            <a:avLst/>
          </a:prstGeom>
        </p:spPr>
      </p:pic>
      <p:sp>
        <p:nvSpPr>
          <p:cNvPr id="36" name="Text 25"/>
          <p:cNvSpPr/>
          <p:nvPr/>
        </p:nvSpPr>
        <p:spPr>
          <a:xfrm>
            <a:off x="1397000" y="5412482"/>
            <a:ext cx="849260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4F7"/>
                </a:solidFill>
                <a:latin typeface="Manrope" pitchFamily="34" charset="0"/>
                <a:ea typeface="Manrope" pitchFamily="34" charset="-122"/>
                <a:cs typeface="Manrope" pitchFamily="34" charset="-120"/>
              </a:rPr>
              <a:t>Cameras always win.</a:t>
            </a:r>
            <a:r>
              <a:rPr lang="en-US" sz="1400" dirty="0">
                <a:solidFill>
                  <a:srgbClr val="F2F4F7"/>
                </a:solidFill>
                <a:latin typeface="Manrope" pitchFamily="34" charset="0"/>
                <a:ea typeface="Manrope" pitchFamily="34" charset="-122"/>
                <a:cs typeface="Manrope" pitchFamily="34" charset="-120"/>
              </a:rPr>
              <a:t> A scaler that starves a camera reads its own damage as success.</a:t>
            </a:r>
            <a:endParaRPr lang="en-US" sz="1400" dirty="0"/>
          </a:p>
        </p:txBody>
      </p:sp>
      <p:sp>
        <p:nvSpPr>
          <p:cNvPr id="37"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PRISM · How it works, and why · Promise P3: cameras win the GPU budget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3 · HOW IT WORKS, AND WHY · NEVER DARK</a:t>
            </a:r>
            <a:endParaRPr lang="en-US" sz="1200" dirty="0"/>
          </a:p>
        </p:txBody>
      </p:sp>
      <p:sp>
        <p:nvSpPr>
          <p:cNvPr id="3" name="Text 1"/>
          <p:cNvSpPr/>
          <p:nvPr>
            <p:ph type="title"/>
          </p:nvPr>
        </p:nvSpPr>
        <p:spPr>
          <a:xfrm>
            <a:off x="812800" y="1229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LIVE VIDEO </a:t>
            </a:r>
            <a:r>
              <a:rPr lang="en-US" sz="2400" b="1" i="0" spc="150" kern="0" dirty="0">
                <a:solidFill>
                  <a:srgbClr val="5FD3C4"/>
                </a:solidFill>
                <a:latin typeface="Archivo" pitchFamily="34" charset="0"/>
                <a:ea typeface="Archivo" pitchFamily="34" charset="-122"/>
                <a:cs typeface="Archivo" pitchFamily="34" charset="-120"/>
              </a:rPr>
              <a:t>NEVER GOES DARK</a:t>
            </a:r>
            <a:endParaRPr lang="en-US" sz="2400" dirty="0"/>
          </a:p>
        </p:txBody>
      </p:sp>
      <p:sp>
        <p:nvSpPr>
          <p:cNvPr id="4" name="Shape 2"/>
          <p:cNvSpPr/>
          <p:nvPr/>
        </p:nvSpPr>
        <p:spPr>
          <a:xfrm>
            <a:off x="815975" y="1770955"/>
            <a:ext cx="1700510" cy="1596281"/>
          </a:xfrm>
          <a:prstGeom prst="roundRect">
            <a:avLst>
              <a:gd name="adj" fmla="val 4575"/>
            </a:avLst>
          </a:prstGeom>
          <a:solidFill>
            <a:srgbClr val="0B1018"/>
          </a:solidFill>
          <a:ln w="6350">
            <a:solidFill>
              <a:srgbClr val="1C2532"/>
            </a:solidFill>
            <a:prstDash val="solid"/>
          </a:ln>
        </p:spPr>
      </p:sp>
      <p:sp>
        <p:nvSpPr>
          <p:cNvPr id="5" name="Shape 3"/>
          <p:cNvSpPr/>
          <p:nvPr/>
        </p:nvSpPr>
        <p:spPr>
          <a:xfrm>
            <a:off x="1440805" y="1929705"/>
            <a:ext cx="450850" cy="450850"/>
          </a:xfrm>
          <a:prstGeom prst="roundRect">
            <a:avLst>
              <a:gd name="adj" fmla="val 16197"/>
            </a:avLst>
          </a:prstGeom>
          <a:solidFill>
            <a:srgbClr val="0E1E21"/>
          </a:solidFill>
          <a:ln w="6350">
            <a:solidFill>
              <a:srgbClr val="1F3E3E"/>
            </a:solidFill>
            <a:prstDash val="solid"/>
          </a:ln>
        </p:spPr>
      </p:sp>
      <p:pic>
        <p:nvPicPr>
          <p:cNvPr id="6" name="Image 0" descr="Link">    </p:cNvPr>
          <p:cNvPicPr>
            <a:picLocks noChangeAspect="1"/>
          </p:cNvPicPr>
          <p:nvPr/>
        </p:nvPicPr>
        <p:blipFill>
          <a:blip r:embed="rId1"/>
          <a:srcRect l="0" r="0" t="0" b="0"/>
          <a:stretch/>
        </p:blipFill>
        <p:spPr>
          <a:xfrm>
            <a:off x="1539230" y="2028130"/>
            <a:ext cx="254000" cy="254000"/>
          </a:xfrm>
          <a:prstGeom prst="rect">
            <a:avLst/>
          </a:prstGeom>
        </p:spPr>
      </p:pic>
      <p:sp>
        <p:nvSpPr>
          <p:cNvPr id="7" name="Text 4"/>
          <p:cNvSpPr/>
          <p:nvPr/>
        </p:nvSpPr>
        <p:spPr>
          <a:xfrm>
            <a:off x="1263982" y="2459930"/>
            <a:ext cx="804446"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2F4F7"/>
                </a:solidFill>
                <a:latin typeface="Manrope" pitchFamily="34" charset="0"/>
                <a:ea typeface="Manrope" pitchFamily="34" charset="-122"/>
                <a:cs typeface="Manrope" pitchFamily="34" charset="-120"/>
              </a:rPr>
              <a:t>Camera</a:t>
            </a:r>
            <a:endParaRPr lang="en-US" sz="1400" dirty="0"/>
          </a:p>
        </p:txBody>
      </p:sp>
      <p:sp>
        <p:nvSpPr>
          <p:cNvPr id="8" name="Text 5"/>
          <p:cNvSpPr/>
          <p:nvPr/>
        </p:nvSpPr>
        <p:spPr>
          <a:xfrm>
            <a:off x="946150" y="2785021"/>
            <a:ext cx="144016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BBC7"/>
                </a:solidFill>
                <a:latin typeface="Manrope" pitchFamily="34" charset="0"/>
                <a:ea typeface="Manrope" pitchFamily="34" charset="-122"/>
                <a:cs typeface="Manrope" pitchFamily="34" charset="-120"/>
              </a:rPr>
              <a:t>RTSP in, via the relay</a:t>
            </a:r>
            <a:endParaRPr lang="en-US" sz="1200" dirty="0"/>
          </a:p>
        </p:txBody>
      </p:sp>
      <p:pic>
        <p:nvPicPr>
          <p:cNvPr id="9" name="Image 1" descr="arrow-right">    </p:cNvPr>
          <p:cNvPicPr>
            <a:picLocks noChangeAspect="1"/>
          </p:cNvPicPr>
          <p:nvPr/>
        </p:nvPicPr>
        <p:blipFill>
          <a:blip r:embed="rId2"/>
          <a:srcRect l="0" r="0" t="0" b="0"/>
          <a:stretch/>
        </p:blipFill>
        <p:spPr>
          <a:xfrm>
            <a:off x="2621260" y="2492871"/>
            <a:ext cx="304800" cy="152400"/>
          </a:xfrm>
          <a:prstGeom prst="rect">
            <a:avLst/>
          </a:prstGeom>
        </p:spPr>
      </p:pic>
      <p:sp>
        <p:nvSpPr>
          <p:cNvPr id="10" name="Shape 6"/>
          <p:cNvSpPr/>
          <p:nvPr/>
        </p:nvSpPr>
        <p:spPr>
          <a:xfrm>
            <a:off x="3030835" y="1770955"/>
            <a:ext cx="1700560" cy="1596281"/>
          </a:xfrm>
          <a:prstGeom prst="roundRect">
            <a:avLst>
              <a:gd name="adj" fmla="val 4575"/>
            </a:avLst>
          </a:prstGeom>
          <a:solidFill>
            <a:srgbClr val="0B1018"/>
          </a:solidFill>
          <a:ln w="6350">
            <a:solidFill>
              <a:srgbClr val="1C2532"/>
            </a:solidFill>
            <a:prstDash val="solid"/>
          </a:ln>
        </p:spPr>
      </p:sp>
      <p:sp>
        <p:nvSpPr>
          <p:cNvPr id="11" name="Shape 7"/>
          <p:cNvSpPr/>
          <p:nvPr/>
        </p:nvSpPr>
        <p:spPr>
          <a:xfrm>
            <a:off x="3655665" y="1929705"/>
            <a:ext cx="450850" cy="450850"/>
          </a:xfrm>
          <a:prstGeom prst="roundRect">
            <a:avLst>
              <a:gd name="adj" fmla="val 16197"/>
            </a:avLst>
          </a:prstGeom>
          <a:solidFill>
            <a:srgbClr val="0E1E21"/>
          </a:solidFill>
          <a:ln w="6350">
            <a:solidFill>
              <a:srgbClr val="1F3E3E"/>
            </a:solidFill>
            <a:prstDash val="solid"/>
          </a:ln>
        </p:spPr>
      </p:sp>
      <p:pic>
        <p:nvPicPr>
          <p:cNvPr id="12" name="Image 2" descr="Lightning">    </p:cNvPr>
          <p:cNvPicPr>
            <a:picLocks noChangeAspect="1"/>
          </p:cNvPicPr>
          <p:nvPr/>
        </p:nvPicPr>
        <p:blipFill>
          <a:blip r:embed="rId3"/>
          <a:srcRect l="0" r="0" t="0" b="0"/>
          <a:stretch/>
        </p:blipFill>
        <p:spPr>
          <a:xfrm>
            <a:off x="3754090" y="2028130"/>
            <a:ext cx="254000" cy="254000"/>
          </a:xfrm>
          <a:prstGeom prst="rect">
            <a:avLst/>
          </a:prstGeom>
        </p:spPr>
      </p:pic>
      <p:sp>
        <p:nvSpPr>
          <p:cNvPr id="13" name="Text 8"/>
          <p:cNvSpPr/>
          <p:nvPr/>
        </p:nvSpPr>
        <p:spPr>
          <a:xfrm>
            <a:off x="3588787" y="2459930"/>
            <a:ext cx="584656"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2F4F7"/>
                </a:solidFill>
                <a:latin typeface="Manrope" pitchFamily="34" charset="0"/>
                <a:ea typeface="Manrope" pitchFamily="34" charset="-122"/>
                <a:cs typeface="Manrope" pitchFamily="34" charset="-120"/>
              </a:rPr>
              <a:t>npipe</a:t>
            </a:r>
            <a:endParaRPr lang="en-US" sz="1400" dirty="0"/>
          </a:p>
        </p:txBody>
      </p:sp>
      <p:sp>
        <p:nvSpPr>
          <p:cNvPr id="14" name="Text 9"/>
          <p:cNvSpPr/>
          <p:nvPr/>
        </p:nvSpPr>
        <p:spPr>
          <a:xfrm>
            <a:off x="3161010" y="2785021"/>
            <a:ext cx="144021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BBC7"/>
                </a:solidFill>
                <a:latin typeface="Manrope" pitchFamily="34" charset="0"/>
                <a:ea typeface="Manrope" pitchFamily="34" charset="-122"/>
                <a:cs typeface="Manrope" pitchFamily="34" charset="-120"/>
              </a:rPr>
              <a:t>Boxes drawn, video encoded</a:t>
            </a:r>
            <a:endParaRPr lang="en-US" sz="1200" dirty="0"/>
          </a:p>
        </p:txBody>
      </p:sp>
      <p:pic>
        <p:nvPicPr>
          <p:cNvPr id="15" name="Image 3" descr="arrow-right">    </p:cNvPr>
          <p:cNvPicPr>
            <a:picLocks noChangeAspect="1"/>
          </p:cNvPicPr>
          <p:nvPr/>
        </p:nvPicPr>
        <p:blipFill>
          <a:blip r:embed="rId4"/>
          <a:srcRect l="0" r="0" t="0" b="0"/>
          <a:stretch/>
        </p:blipFill>
        <p:spPr>
          <a:xfrm>
            <a:off x="4836170" y="2492871"/>
            <a:ext cx="304800" cy="152400"/>
          </a:xfrm>
          <a:prstGeom prst="rect">
            <a:avLst/>
          </a:prstGeom>
        </p:spPr>
      </p:pic>
      <p:sp>
        <p:nvSpPr>
          <p:cNvPr id="16" name="Shape 10"/>
          <p:cNvSpPr/>
          <p:nvPr/>
        </p:nvSpPr>
        <p:spPr>
          <a:xfrm>
            <a:off x="5245745" y="1770955"/>
            <a:ext cx="1700510" cy="1596281"/>
          </a:xfrm>
          <a:prstGeom prst="roundRect">
            <a:avLst>
              <a:gd name="adj" fmla="val 4575"/>
            </a:avLst>
          </a:prstGeom>
          <a:solidFill>
            <a:srgbClr val="0F2A2C"/>
          </a:solidFill>
          <a:ln w="6350">
            <a:solidFill>
              <a:srgbClr val="5FD3C4"/>
            </a:solidFill>
            <a:prstDash val="solid"/>
          </a:ln>
        </p:spPr>
      </p:sp>
      <p:sp>
        <p:nvSpPr>
          <p:cNvPr id="17" name="Shape 11"/>
          <p:cNvSpPr/>
          <p:nvPr/>
        </p:nvSpPr>
        <p:spPr>
          <a:xfrm>
            <a:off x="5870575" y="1929705"/>
            <a:ext cx="450850" cy="450850"/>
          </a:xfrm>
          <a:prstGeom prst="roundRect">
            <a:avLst>
              <a:gd name="adj" fmla="val 16197"/>
            </a:avLst>
          </a:prstGeom>
          <a:solidFill>
            <a:srgbClr val="5FD3C4"/>
          </a:solidFill>
          <a:ln w="6350">
            <a:solidFill>
              <a:srgbClr val="5FD3C4"/>
            </a:solidFill>
            <a:prstDash val="solid"/>
          </a:ln>
        </p:spPr>
      </p:sp>
      <p:pic>
        <p:nvPicPr>
          <p:cNvPr id="18" name="Image 4" descr="Play">    </p:cNvPr>
          <p:cNvPicPr>
            <a:picLocks noChangeAspect="1"/>
          </p:cNvPicPr>
          <p:nvPr/>
        </p:nvPicPr>
        <p:blipFill>
          <a:blip r:embed="rId5"/>
          <a:srcRect l="0" r="0" t="0" b="0"/>
          <a:stretch/>
        </p:blipFill>
        <p:spPr>
          <a:xfrm>
            <a:off x="5969000" y="2028130"/>
            <a:ext cx="254000" cy="254000"/>
          </a:xfrm>
          <a:prstGeom prst="rect">
            <a:avLst/>
          </a:prstGeom>
        </p:spPr>
      </p:pic>
      <p:sp>
        <p:nvSpPr>
          <p:cNvPr id="19" name="Text 12"/>
          <p:cNvSpPr/>
          <p:nvPr/>
        </p:nvSpPr>
        <p:spPr>
          <a:xfrm>
            <a:off x="5473363" y="2459930"/>
            <a:ext cx="1245275"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2F4F7"/>
                </a:solidFill>
                <a:latin typeface="Manrope" pitchFamily="34" charset="0"/>
                <a:ea typeface="Manrope" pitchFamily="34" charset="-122"/>
                <a:cs typeface="Manrope" pitchFamily="34" charset="-120"/>
              </a:rPr>
              <a:t>stream-sink</a:t>
            </a:r>
            <a:endParaRPr lang="en-US" sz="1400" dirty="0"/>
          </a:p>
        </p:txBody>
      </p:sp>
      <p:sp>
        <p:nvSpPr>
          <p:cNvPr id="20" name="Text 13"/>
          <p:cNvSpPr/>
          <p:nvPr/>
        </p:nvSpPr>
        <p:spPr>
          <a:xfrm>
            <a:off x="5375920" y="2785021"/>
            <a:ext cx="144016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CE2EA"/>
                </a:solidFill>
                <a:latin typeface="Manrope" pitchFamily="34" charset="0"/>
                <a:ea typeface="Manrope" pitchFamily="34" charset="-122"/>
                <a:cs typeface="Manrope" pitchFamily="34" charset="-120"/>
              </a:rPr>
              <a:t>Fills any stall with a placeholder</a:t>
            </a:r>
            <a:endParaRPr lang="en-US" sz="1200" dirty="0"/>
          </a:p>
        </p:txBody>
      </p:sp>
      <p:pic>
        <p:nvPicPr>
          <p:cNvPr id="21" name="Image 5" descr="arrow-right">    </p:cNvPr>
          <p:cNvPicPr>
            <a:picLocks noChangeAspect="1"/>
          </p:cNvPicPr>
          <p:nvPr/>
        </p:nvPicPr>
        <p:blipFill>
          <a:blip r:embed="rId6"/>
          <a:srcRect l="0" r="0" t="0" b="0"/>
          <a:stretch/>
        </p:blipFill>
        <p:spPr>
          <a:xfrm>
            <a:off x="7051030" y="2492871"/>
            <a:ext cx="304800" cy="152400"/>
          </a:xfrm>
          <a:prstGeom prst="rect">
            <a:avLst/>
          </a:prstGeom>
        </p:spPr>
      </p:pic>
      <p:sp>
        <p:nvSpPr>
          <p:cNvPr id="22" name="Shape 14"/>
          <p:cNvSpPr/>
          <p:nvPr/>
        </p:nvSpPr>
        <p:spPr>
          <a:xfrm>
            <a:off x="7460605" y="1770955"/>
            <a:ext cx="1700560" cy="1596281"/>
          </a:xfrm>
          <a:prstGeom prst="roundRect">
            <a:avLst>
              <a:gd name="adj" fmla="val 4575"/>
            </a:avLst>
          </a:prstGeom>
          <a:solidFill>
            <a:srgbClr val="0B1018"/>
          </a:solidFill>
          <a:ln w="6350">
            <a:solidFill>
              <a:srgbClr val="1C2532"/>
            </a:solidFill>
            <a:prstDash val="solid"/>
          </a:ln>
        </p:spPr>
      </p:sp>
      <p:sp>
        <p:nvSpPr>
          <p:cNvPr id="23" name="Shape 15"/>
          <p:cNvSpPr/>
          <p:nvPr/>
        </p:nvSpPr>
        <p:spPr>
          <a:xfrm>
            <a:off x="8085435" y="1929705"/>
            <a:ext cx="450850" cy="450850"/>
          </a:xfrm>
          <a:prstGeom prst="roundRect">
            <a:avLst>
              <a:gd name="adj" fmla="val 16197"/>
            </a:avLst>
          </a:prstGeom>
          <a:solidFill>
            <a:srgbClr val="0E1E21"/>
          </a:solidFill>
          <a:ln w="6350">
            <a:solidFill>
              <a:srgbClr val="1F3E3E"/>
            </a:solidFill>
            <a:prstDash val="solid"/>
          </a:ln>
        </p:spPr>
      </p:sp>
      <p:pic>
        <p:nvPicPr>
          <p:cNvPr id="24" name="Image 6" descr="Globe">    </p:cNvPr>
          <p:cNvPicPr>
            <a:picLocks noChangeAspect="1"/>
          </p:cNvPicPr>
          <p:nvPr/>
        </p:nvPicPr>
        <p:blipFill>
          <a:blip r:embed="rId7"/>
          <a:srcRect l="0" r="0" t="0" b="0"/>
          <a:stretch/>
        </p:blipFill>
        <p:spPr>
          <a:xfrm>
            <a:off x="8183860" y="2028130"/>
            <a:ext cx="254000" cy="254000"/>
          </a:xfrm>
          <a:prstGeom prst="rect">
            <a:avLst/>
          </a:prstGeom>
        </p:spPr>
      </p:pic>
      <p:sp>
        <p:nvSpPr>
          <p:cNvPr id="25" name="Text 16"/>
          <p:cNvSpPr/>
          <p:nvPr/>
        </p:nvSpPr>
        <p:spPr>
          <a:xfrm>
            <a:off x="7772340" y="2459930"/>
            <a:ext cx="1077039"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2F4F7"/>
                </a:solidFill>
                <a:latin typeface="Manrope" pitchFamily="34" charset="0"/>
                <a:ea typeface="Manrope" pitchFamily="34" charset="-122"/>
                <a:cs typeface="Manrope" pitchFamily="34" charset="-120"/>
              </a:rPr>
              <a:t>MediaMTX</a:t>
            </a:r>
            <a:endParaRPr lang="en-US" sz="1400" dirty="0"/>
          </a:p>
        </p:txBody>
      </p:sp>
      <p:sp>
        <p:nvSpPr>
          <p:cNvPr id="26" name="Text 17"/>
          <p:cNvSpPr/>
          <p:nvPr/>
        </p:nvSpPr>
        <p:spPr>
          <a:xfrm>
            <a:off x="7503314" y="2785021"/>
            <a:ext cx="161514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BBC7"/>
                </a:solidFill>
                <a:latin typeface="Manrope" pitchFamily="34" charset="0"/>
                <a:ea typeface="Manrope" pitchFamily="34" charset="-122"/>
                <a:cs typeface="Manrope" pitchFamily="34" charset="-120"/>
              </a:rPr>
              <a:t>Serves and records</a:t>
            </a:r>
            <a:endParaRPr lang="en-US" sz="1200" dirty="0"/>
          </a:p>
        </p:txBody>
      </p:sp>
      <p:pic>
        <p:nvPicPr>
          <p:cNvPr id="27" name="Image 7" descr="arrow-right">    </p:cNvPr>
          <p:cNvPicPr>
            <a:picLocks noChangeAspect="1"/>
          </p:cNvPicPr>
          <p:nvPr/>
        </p:nvPicPr>
        <p:blipFill>
          <a:blip r:embed="rId8"/>
          <a:srcRect l="0" r="0" t="0" b="0"/>
          <a:stretch/>
        </p:blipFill>
        <p:spPr>
          <a:xfrm>
            <a:off x="9265940" y="2492871"/>
            <a:ext cx="304800" cy="152400"/>
          </a:xfrm>
          <a:prstGeom prst="rect">
            <a:avLst/>
          </a:prstGeom>
        </p:spPr>
      </p:pic>
      <p:sp>
        <p:nvSpPr>
          <p:cNvPr id="28" name="Shape 18"/>
          <p:cNvSpPr/>
          <p:nvPr/>
        </p:nvSpPr>
        <p:spPr>
          <a:xfrm>
            <a:off x="9675515" y="1770955"/>
            <a:ext cx="1700510" cy="1596281"/>
          </a:xfrm>
          <a:prstGeom prst="roundRect">
            <a:avLst>
              <a:gd name="adj" fmla="val 4575"/>
            </a:avLst>
          </a:prstGeom>
          <a:solidFill>
            <a:srgbClr val="0B1018"/>
          </a:solidFill>
          <a:ln w="6350">
            <a:solidFill>
              <a:srgbClr val="1C2532"/>
            </a:solidFill>
            <a:prstDash val="solid"/>
          </a:ln>
        </p:spPr>
      </p:sp>
      <p:sp>
        <p:nvSpPr>
          <p:cNvPr id="29" name="Shape 19"/>
          <p:cNvSpPr/>
          <p:nvPr/>
        </p:nvSpPr>
        <p:spPr>
          <a:xfrm>
            <a:off x="10300345" y="1929705"/>
            <a:ext cx="450850" cy="450850"/>
          </a:xfrm>
          <a:prstGeom prst="roundRect">
            <a:avLst>
              <a:gd name="adj" fmla="val 16197"/>
            </a:avLst>
          </a:prstGeom>
          <a:solidFill>
            <a:srgbClr val="0E1E21"/>
          </a:solidFill>
          <a:ln w="6350">
            <a:solidFill>
              <a:srgbClr val="1F3E3E"/>
            </a:solidFill>
            <a:prstDash val="solid"/>
          </a:ln>
        </p:spPr>
      </p:sp>
      <p:pic>
        <p:nvPicPr>
          <p:cNvPr id="30" name="Image 8" descr="Users">    </p:cNvPr>
          <p:cNvPicPr>
            <a:picLocks noChangeAspect="1"/>
          </p:cNvPicPr>
          <p:nvPr/>
        </p:nvPicPr>
        <p:blipFill>
          <a:blip r:embed="rId9"/>
          <a:srcRect l="0" r="0" t="0" b="0"/>
          <a:stretch/>
        </p:blipFill>
        <p:spPr>
          <a:xfrm>
            <a:off x="10398770" y="2028130"/>
            <a:ext cx="254000" cy="254000"/>
          </a:xfrm>
          <a:prstGeom prst="rect">
            <a:avLst/>
          </a:prstGeom>
        </p:spPr>
      </p:pic>
      <p:sp>
        <p:nvSpPr>
          <p:cNvPr id="31" name="Text 20"/>
          <p:cNvSpPr/>
          <p:nvPr/>
        </p:nvSpPr>
        <p:spPr>
          <a:xfrm>
            <a:off x="10177219" y="2459930"/>
            <a:ext cx="697051"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2F4F7"/>
                </a:solidFill>
                <a:latin typeface="Manrope" pitchFamily="34" charset="0"/>
                <a:ea typeface="Manrope" pitchFamily="34" charset="-122"/>
                <a:cs typeface="Manrope" pitchFamily="34" charset="-120"/>
              </a:rPr>
              <a:t>Viewer</a:t>
            </a:r>
            <a:endParaRPr lang="en-US" sz="1400" dirty="0"/>
          </a:p>
        </p:txBody>
      </p:sp>
      <p:sp>
        <p:nvSpPr>
          <p:cNvPr id="32" name="Text 21"/>
          <p:cNvSpPr/>
          <p:nvPr/>
        </p:nvSpPr>
        <p:spPr>
          <a:xfrm>
            <a:off x="9701208" y="2785021"/>
            <a:ext cx="16490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BBC7"/>
                </a:solidFill>
                <a:latin typeface="Manrope" pitchFamily="34" charset="0"/>
                <a:ea typeface="Manrope" pitchFamily="34" charset="-122"/>
                <a:cs typeface="Manrope" pitchFamily="34" charset="-120"/>
              </a:rPr>
              <a:t>Browser, any device</a:t>
            </a:r>
            <a:endParaRPr lang="en-US" sz="1200" dirty="0"/>
          </a:p>
        </p:txBody>
      </p:sp>
      <p:sp>
        <p:nvSpPr>
          <p:cNvPr id="33" name="Shape 22"/>
          <p:cNvSpPr/>
          <p:nvPr/>
        </p:nvSpPr>
        <p:spPr>
          <a:xfrm>
            <a:off x="815975" y="3576786"/>
            <a:ext cx="3414167" cy="1040011"/>
          </a:xfrm>
          <a:prstGeom prst="roundRect">
            <a:avLst>
              <a:gd name="adj" fmla="val 7022"/>
            </a:avLst>
          </a:prstGeom>
          <a:solidFill>
            <a:srgbClr val="0B1018"/>
          </a:solidFill>
          <a:ln w="6350">
            <a:solidFill>
              <a:srgbClr val="1C2532"/>
            </a:solidFill>
            <a:prstDash val="solid"/>
          </a:ln>
        </p:spPr>
      </p:sp>
      <p:sp>
        <p:nvSpPr>
          <p:cNvPr id="34" name="Shape 23"/>
          <p:cNvSpPr/>
          <p:nvPr/>
        </p:nvSpPr>
        <p:spPr>
          <a:xfrm>
            <a:off x="1000125" y="3896767"/>
            <a:ext cx="400050" cy="400050"/>
          </a:xfrm>
          <a:prstGeom prst="roundRect">
            <a:avLst>
              <a:gd name="adj" fmla="val 18254"/>
            </a:avLst>
          </a:prstGeom>
          <a:solidFill>
            <a:srgbClr val="0E1E21"/>
          </a:solidFill>
          <a:ln w="6350">
            <a:solidFill>
              <a:srgbClr val="1F3E3E"/>
            </a:solidFill>
            <a:prstDash val="solid"/>
          </a:ln>
        </p:spPr>
      </p:sp>
      <p:pic>
        <p:nvPicPr>
          <p:cNvPr id="35" name="Image 9" descr="Lightning">    </p:cNvPr>
          <p:cNvPicPr>
            <a:picLocks noChangeAspect="1"/>
          </p:cNvPicPr>
          <p:nvPr/>
        </p:nvPicPr>
        <p:blipFill>
          <a:blip r:embed="rId10"/>
          <a:srcRect l="0" r="0" t="0" b="0"/>
          <a:stretch/>
        </p:blipFill>
        <p:spPr>
          <a:xfrm>
            <a:off x="1085850" y="3982492"/>
            <a:ext cx="228600" cy="228600"/>
          </a:xfrm>
          <a:prstGeom prst="rect">
            <a:avLst/>
          </a:prstGeom>
        </p:spPr>
      </p:pic>
      <p:sp>
        <p:nvSpPr>
          <p:cNvPr id="36" name="Text 24"/>
          <p:cNvSpPr/>
          <p:nvPr/>
        </p:nvSpPr>
        <p:spPr>
          <a:xfrm>
            <a:off x="1530350" y="3864421"/>
            <a:ext cx="259438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F4F7"/>
                </a:solidFill>
                <a:latin typeface="Manrope" pitchFamily="34" charset="0"/>
                <a:ea typeface="Manrope" pitchFamily="34" charset="-122"/>
                <a:cs typeface="Manrope" pitchFamily="34" charset="-120"/>
              </a:rPr>
              <a:t>Passthrough</a:t>
            </a:r>
            <a:endParaRPr lang="en-US" sz="1400" dirty="0"/>
          </a:p>
        </p:txBody>
      </p:sp>
      <p:sp>
        <p:nvSpPr>
          <p:cNvPr id="37" name="Text 25"/>
          <p:cNvSpPr/>
          <p:nvPr/>
        </p:nvSpPr>
        <p:spPr>
          <a:xfrm>
            <a:off x="1530350" y="4115842"/>
            <a:ext cx="26966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No re-encode: low latency, low CPU.</a:t>
            </a:r>
            <a:endParaRPr lang="en-US" sz="1200" dirty="0"/>
          </a:p>
        </p:txBody>
      </p:sp>
      <p:sp>
        <p:nvSpPr>
          <p:cNvPr id="38" name="Shape 26"/>
          <p:cNvSpPr/>
          <p:nvPr/>
        </p:nvSpPr>
        <p:spPr>
          <a:xfrm>
            <a:off x="4388892" y="3576786"/>
            <a:ext cx="3414167" cy="1040011"/>
          </a:xfrm>
          <a:prstGeom prst="roundRect">
            <a:avLst>
              <a:gd name="adj" fmla="val 7022"/>
            </a:avLst>
          </a:prstGeom>
          <a:solidFill>
            <a:srgbClr val="0B1018"/>
          </a:solidFill>
          <a:ln w="6350">
            <a:solidFill>
              <a:srgbClr val="1C2532"/>
            </a:solidFill>
            <a:prstDash val="solid"/>
          </a:ln>
        </p:spPr>
      </p:sp>
      <p:sp>
        <p:nvSpPr>
          <p:cNvPr id="39" name="Shape 27"/>
          <p:cNvSpPr/>
          <p:nvPr/>
        </p:nvSpPr>
        <p:spPr>
          <a:xfrm>
            <a:off x="4573042" y="3896767"/>
            <a:ext cx="400050" cy="400050"/>
          </a:xfrm>
          <a:prstGeom prst="roundRect">
            <a:avLst>
              <a:gd name="adj" fmla="val 18254"/>
            </a:avLst>
          </a:prstGeom>
          <a:solidFill>
            <a:srgbClr val="0E1E21"/>
          </a:solidFill>
          <a:ln w="6350">
            <a:solidFill>
              <a:srgbClr val="1F3E3E"/>
            </a:solidFill>
            <a:prstDash val="solid"/>
          </a:ln>
        </p:spPr>
      </p:sp>
      <p:pic>
        <p:nvPicPr>
          <p:cNvPr id="40" name="Image 10" descr="Play">    </p:cNvPr>
          <p:cNvPicPr>
            <a:picLocks noChangeAspect="1"/>
          </p:cNvPicPr>
          <p:nvPr/>
        </p:nvPicPr>
        <p:blipFill>
          <a:blip r:embed="rId11"/>
          <a:srcRect l="0" r="0" t="0" b="0"/>
          <a:stretch/>
        </p:blipFill>
        <p:spPr>
          <a:xfrm>
            <a:off x="4658767" y="3982492"/>
            <a:ext cx="228600" cy="228600"/>
          </a:xfrm>
          <a:prstGeom prst="rect">
            <a:avLst/>
          </a:prstGeom>
        </p:spPr>
      </p:pic>
      <p:sp>
        <p:nvSpPr>
          <p:cNvPr id="41" name="Text 28"/>
          <p:cNvSpPr/>
          <p:nvPr/>
        </p:nvSpPr>
        <p:spPr>
          <a:xfrm>
            <a:off x="5103267" y="3757761"/>
            <a:ext cx="259438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F4F7"/>
                </a:solidFill>
                <a:latin typeface="Manrope" pitchFamily="34" charset="0"/>
                <a:ea typeface="Manrope" pitchFamily="34" charset="-122"/>
                <a:cs typeface="Manrope" pitchFamily="34" charset="-120"/>
              </a:rPr>
              <a:t>Placeholder frames</a:t>
            </a:r>
            <a:endParaRPr lang="en-US" sz="1400" dirty="0"/>
          </a:p>
        </p:txBody>
      </p:sp>
      <p:sp>
        <p:nvSpPr>
          <p:cNvPr id="42" name="Text 29"/>
          <p:cNvSpPr/>
          <p:nvPr/>
        </p:nvSpPr>
        <p:spPr>
          <a:xfrm>
            <a:off x="5103267" y="4009182"/>
            <a:ext cx="259438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A stall shows a holding image, not black.</a:t>
            </a:r>
            <a:endParaRPr lang="en-US" sz="1200" dirty="0"/>
          </a:p>
        </p:txBody>
      </p:sp>
      <p:sp>
        <p:nvSpPr>
          <p:cNvPr id="43" name="Shape 30"/>
          <p:cNvSpPr/>
          <p:nvPr/>
        </p:nvSpPr>
        <p:spPr>
          <a:xfrm>
            <a:off x="7961809" y="3576786"/>
            <a:ext cx="3414216" cy="1040011"/>
          </a:xfrm>
          <a:prstGeom prst="roundRect">
            <a:avLst>
              <a:gd name="adj" fmla="val 7022"/>
            </a:avLst>
          </a:prstGeom>
          <a:solidFill>
            <a:srgbClr val="0B1018"/>
          </a:solidFill>
          <a:ln w="6350">
            <a:solidFill>
              <a:srgbClr val="1C2532"/>
            </a:solidFill>
            <a:prstDash val="solid"/>
          </a:ln>
        </p:spPr>
      </p:sp>
      <p:sp>
        <p:nvSpPr>
          <p:cNvPr id="44" name="Shape 31"/>
          <p:cNvSpPr/>
          <p:nvPr/>
        </p:nvSpPr>
        <p:spPr>
          <a:xfrm>
            <a:off x="8145959" y="3896767"/>
            <a:ext cx="400050" cy="400050"/>
          </a:xfrm>
          <a:prstGeom prst="roundRect">
            <a:avLst>
              <a:gd name="adj" fmla="val 18254"/>
            </a:avLst>
          </a:prstGeom>
          <a:solidFill>
            <a:srgbClr val="0E1E21"/>
          </a:solidFill>
          <a:ln w="6350">
            <a:solidFill>
              <a:srgbClr val="1F3E3E"/>
            </a:solidFill>
            <a:prstDash val="solid"/>
          </a:ln>
        </p:spPr>
      </p:sp>
      <p:pic>
        <p:nvPicPr>
          <p:cNvPr id="45" name="Image 11" descr="CheckCircle">    </p:cNvPr>
          <p:cNvPicPr>
            <a:picLocks noChangeAspect="1"/>
          </p:cNvPicPr>
          <p:nvPr/>
        </p:nvPicPr>
        <p:blipFill>
          <a:blip r:embed="rId12"/>
          <a:srcRect l="0" r="0" t="0" b="0"/>
          <a:stretch/>
        </p:blipFill>
        <p:spPr>
          <a:xfrm>
            <a:off x="8231684" y="3982492"/>
            <a:ext cx="228600" cy="228600"/>
          </a:xfrm>
          <a:prstGeom prst="rect">
            <a:avLst/>
          </a:prstGeom>
        </p:spPr>
      </p:pic>
      <p:sp>
        <p:nvSpPr>
          <p:cNvPr id="46" name="Text 32"/>
          <p:cNvSpPr/>
          <p:nvPr/>
        </p:nvSpPr>
        <p:spPr>
          <a:xfrm>
            <a:off x="8676184" y="3757761"/>
            <a:ext cx="25944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F4F7"/>
                </a:solidFill>
                <a:latin typeface="Manrope" pitchFamily="34" charset="0"/>
                <a:ea typeface="Manrope" pitchFamily="34" charset="-122"/>
                <a:cs typeface="Manrope" pitchFamily="34" charset="-120"/>
              </a:rPr>
              <a:t>Isolated cameras</a:t>
            </a:r>
            <a:endParaRPr lang="en-US" sz="1400" dirty="0"/>
          </a:p>
        </p:txBody>
      </p:sp>
      <p:sp>
        <p:nvSpPr>
          <p:cNvPr id="47" name="Text 33"/>
          <p:cNvSpPr/>
          <p:nvPr/>
        </p:nvSpPr>
        <p:spPr>
          <a:xfrm>
            <a:off x="8676184" y="4009182"/>
            <a:ext cx="259443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BBC7"/>
                </a:solidFill>
                <a:latin typeface="Manrope" pitchFamily="34" charset="0"/>
                <a:ea typeface="Manrope" pitchFamily="34" charset="-122"/>
                <a:cs typeface="Manrope" pitchFamily="34" charset="-120"/>
              </a:rPr>
              <a:t>One broken camera can’t stop the rest.</a:t>
            </a:r>
            <a:endParaRPr lang="en-US" sz="1200" dirty="0"/>
          </a:p>
        </p:txBody>
      </p:sp>
      <p:sp>
        <p:nvSpPr>
          <p:cNvPr id="48" name="Text 34"/>
          <p:cNvSpPr/>
          <p:nvPr/>
        </p:nvSpPr>
        <p:spPr>
          <a:xfrm>
            <a:off x="812800" y="482317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Every service watches itself and restarts with a growing delay. A quiet scene is never treated as a broken one.</a:t>
            </a:r>
            <a:endParaRPr lang="en-US" sz="1200" dirty="0"/>
          </a:p>
        </p:txBody>
      </p:sp>
      <p:sp>
        <p:nvSpPr>
          <p:cNvPr id="49" name="Text 3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PRISM · How it works, and why · Promise P4: live video never goes dark</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3 · HOW IT WORKS, AND WHY · DECIDING WHO</a:t>
            </a:r>
            <a:endParaRPr lang="en-US" sz="1200" dirty="0"/>
          </a:p>
        </p:txBody>
      </p:sp>
      <p:sp>
        <p:nvSpPr>
          <p:cNvPr id="3" name="Text 1"/>
          <p:cNvSpPr/>
          <p:nvPr>
            <p:ph type="title"/>
          </p:nvPr>
        </p:nvSpPr>
        <p:spPr>
          <a:xfrm>
            <a:off x="812800" y="1229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PEOPLE DECIDE </a:t>
            </a:r>
            <a:r>
              <a:rPr lang="en-US" sz="2400" b="1" i="0" spc="150" kern="0" dirty="0">
                <a:solidFill>
                  <a:srgbClr val="5FD3C4"/>
                </a:solidFill>
                <a:latin typeface="Archivo" pitchFamily="34" charset="0"/>
                <a:ea typeface="Archivo" pitchFamily="34" charset="-122"/>
                <a:cs typeface="Archivo" pitchFamily="34" charset="-120"/>
              </a:rPr>
              <a:t>WHO IS WHO</a:t>
            </a:r>
            <a:endParaRPr lang="en-US" sz="2400" dirty="0"/>
          </a:p>
        </p:txBody>
      </p:sp>
      <p:sp>
        <p:nvSpPr>
          <p:cNvPr id="4" name="Shape 2"/>
          <p:cNvSpPr/>
          <p:nvPr/>
        </p:nvSpPr>
        <p:spPr>
          <a:xfrm>
            <a:off x="815975" y="1770955"/>
            <a:ext cx="5200650" cy="1215330"/>
          </a:xfrm>
          <a:prstGeom prst="roundRect">
            <a:avLst>
              <a:gd name="adj" fmla="val 6009"/>
            </a:avLst>
          </a:prstGeom>
          <a:solidFill>
            <a:srgbClr val="0B1018"/>
          </a:solidFill>
          <a:ln w="6350">
            <a:solidFill>
              <a:srgbClr val="1C2532"/>
            </a:solidFill>
            <a:prstDash val="solid"/>
          </a:ln>
        </p:spPr>
      </p:sp>
      <p:sp>
        <p:nvSpPr>
          <p:cNvPr id="5" name="Shape 3"/>
          <p:cNvSpPr/>
          <p:nvPr/>
        </p:nvSpPr>
        <p:spPr>
          <a:xfrm>
            <a:off x="1025525" y="2127796"/>
            <a:ext cx="501650" cy="501650"/>
          </a:xfrm>
          <a:prstGeom prst="roundRect">
            <a:avLst>
              <a:gd name="adj" fmla="val 14557"/>
            </a:avLst>
          </a:prstGeom>
          <a:solidFill>
            <a:srgbClr val="0E1E21"/>
          </a:solidFill>
          <a:ln w="6350">
            <a:solidFill>
              <a:srgbClr val="1F3E3E"/>
            </a:solidFill>
            <a:prstDash val="solid"/>
          </a:ln>
        </p:spPr>
      </p:sp>
      <p:pic>
        <p:nvPicPr>
          <p:cNvPr id="6" name="Image 0" descr="Users">    </p:cNvPr>
          <p:cNvPicPr>
            <a:picLocks noChangeAspect="1"/>
          </p:cNvPicPr>
          <p:nvPr/>
        </p:nvPicPr>
        <p:blipFill>
          <a:blip r:embed="rId1"/>
          <a:srcRect l="0" r="0" t="0" b="0"/>
          <a:stretch/>
        </p:blipFill>
        <p:spPr>
          <a:xfrm>
            <a:off x="1136650" y="2238921"/>
            <a:ext cx="279400" cy="279400"/>
          </a:xfrm>
          <a:prstGeom prst="rect">
            <a:avLst/>
          </a:prstGeom>
        </p:spPr>
      </p:pic>
      <p:sp>
        <p:nvSpPr>
          <p:cNvPr id="7" name="Text 4"/>
          <p:cNvSpPr/>
          <p:nvPr/>
        </p:nvSpPr>
        <p:spPr>
          <a:xfrm>
            <a:off x="1682750" y="1977330"/>
            <a:ext cx="425132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2F4F7"/>
                </a:solidFill>
                <a:latin typeface="Manrope" pitchFamily="34" charset="0"/>
                <a:ea typeface="Manrope" pitchFamily="34" charset="-122"/>
                <a:cs typeface="Manrope" pitchFamily="34" charset="-120"/>
              </a:rPr>
              <a:t>Only faces carry identity</a:t>
            </a:r>
            <a:endParaRPr lang="en-US" sz="1600" dirty="0"/>
          </a:p>
        </p:txBody>
      </p:sp>
      <p:sp>
        <p:nvSpPr>
          <p:cNvPr id="8" name="Text 5"/>
          <p:cNvSpPr/>
          <p:nvPr/>
        </p:nvSpPr>
        <p:spPr>
          <a:xfrm>
            <a:off x="1682750" y="2282130"/>
            <a:ext cx="425132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3BBC7"/>
                </a:solidFill>
                <a:latin typeface="Manrope" pitchFamily="34" charset="0"/>
                <a:ea typeface="Manrope" pitchFamily="34" charset="-122"/>
                <a:cs typeface="Manrope" pitchFamily="34" charset="-120"/>
              </a:rPr>
              <a:t>Faces follow a person across cameras; objects don’t.</a:t>
            </a:r>
            <a:endParaRPr lang="en-US" sz="1400" dirty="0"/>
          </a:p>
        </p:txBody>
      </p:sp>
      <p:sp>
        <p:nvSpPr>
          <p:cNvPr id="9" name="Shape 6"/>
          <p:cNvSpPr/>
          <p:nvPr/>
        </p:nvSpPr>
        <p:spPr>
          <a:xfrm>
            <a:off x="6175375" y="1770955"/>
            <a:ext cx="5200650" cy="1215330"/>
          </a:xfrm>
          <a:prstGeom prst="roundRect">
            <a:avLst>
              <a:gd name="adj" fmla="val 6009"/>
            </a:avLst>
          </a:prstGeom>
          <a:solidFill>
            <a:srgbClr val="0B1018"/>
          </a:solidFill>
          <a:ln w="6350">
            <a:solidFill>
              <a:srgbClr val="1C2532"/>
            </a:solidFill>
            <a:prstDash val="solid"/>
          </a:ln>
        </p:spPr>
      </p:sp>
      <p:sp>
        <p:nvSpPr>
          <p:cNvPr id="10" name="Shape 7"/>
          <p:cNvSpPr/>
          <p:nvPr/>
        </p:nvSpPr>
        <p:spPr>
          <a:xfrm>
            <a:off x="6384925" y="2127796"/>
            <a:ext cx="501650" cy="501650"/>
          </a:xfrm>
          <a:prstGeom prst="roundRect">
            <a:avLst>
              <a:gd name="adj" fmla="val 14557"/>
            </a:avLst>
          </a:prstGeom>
          <a:solidFill>
            <a:srgbClr val="0E1E21"/>
          </a:solidFill>
          <a:ln w="6350">
            <a:solidFill>
              <a:srgbClr val="1F3E3E"/>
            </a:solidFill>
            <a:prstDash val="solid"/>
          </a:ln>
        </p:spPr>
      </p:sp>
      <p:pic>
        <p:nvPicPr>
          <p:cNvPr id="11" name="Image 1" descr="Verified">    </p:cNvPr>
          <p:cNvPicPr>
            <a:picLocks noChangeAspect="1"/>
          </p:cNvPicPr>
          <p:nvPr/>
        </p:nvPicPr>
        <p:blipFill>
          <a:blip r:embed="rId2"/>
          <a:srcRect l="0" r="0" t="0" b="0"/>
          <a:stretch/>
        </p:blipFill>
        <p:spPr>
          <a:xfrm>
            <a:off x="6496050" y="2238921"/>
            <a:ext cx="279400" cy="279400"/>
          </a:xfrm>
          <a:prstGeom prst="rect">
            <a:avLst/>
          </a:prstGeom>
        </p:spPr>
      </p:pic>
      <p:sp>
        <p:nvSpPr>
          <p:cNvPr id="12" name="Text 8"/>
          <p:cNvSpPr/>
          <p:nvPr/>
        </p:nvSpPr>
        <p:spPr>
          <a:xfrm>
            <a:off x="7042150" y="1977330"/>
            <a:ext cx="425132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2F4F7"/>
                </a:solidFill>
                <a:latin typeface="Manrope" pitchFamily="34" charset="0"/>
                <a:ea typeface="Manrope" pitchFamily="34" charset="-122"/>
                <a:cs typeface="Manrope" pitchFamily="34" charset="-120"/>
              </a:rPr>
              <a:t>Unknowns enrolled, then reviewed</a:t>
            </a:r>
            <a:endParaRPr lang="en-US" sz="1600" dirty="0"/>
          </a:p>
        </p:txBody>
      </p:sp>
      <p:sp>
        <p:nvSpPr>
          <p:cNvPr id="13" name="Text 9"/>
          <p:cNvSpPr/>
          <p:nvPr/>
        </p:nvSpPr>
        <p:spPr>
          <a:xfrm>
            <a:off x="7042150" y="2282130"/>
            <a:ext cx="425132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3BBC7"/>
                </a:solidFill>
                <a:latin typeface="Manrope" pitchFamily="34" charset="0"/>
                <a:ea typeface="Manrope" pitchFamily="34" charset="-122"/>
                <a:cs typeface="Manrope" pitchFamily="34" charset="-120"/>
              </a:rPr>
              <a:t>The system groups unknown faces; an operator names them.</a:t>
            </a:r>
            <a:endParaRPr lang="en-US" sz="1400" dirty="0"/>
          </a:p>
        </p:txBody>
      </p:sp>
      <p:sp>
        <p:nvSpPr>
          <p:cNvPr id="14" name="Shape 10"/>
          <p:cNvSpPr/>
          <p:nvPr/>
        </p:nvSpPr>
        <p:spPr>
          <a:xfrm>
            <a:off x="815975" y="3145036"/>
            <a:ext cx="5200650" cy="1215330"/>
          </a:xfrm>
          <a:prstGeom prst="roundRect">
            <a:avLst>
              <a:gd name="adj" fmla="val 6009"/>
            </a:avLst>
          </a:prstGeom>
          <a:solidFill>
            <a:srgbClr val="0B1018"/>
          </a:solidFill>
          <a:ln w="6350">
            <a:solidFill>
              <a:srgbClr val="1C2532"/>
            </a:solidFill>
            <a:prstDash val="solid"/>
          </a:ln>
        </p:spPr>
      </p:sp>
      <p:sp>
        <p:nvSpPr>
          <p:cNvPr id="15" name="Shape 11"/>
          <p:cNvSpPr/>
          <p:nvPr/>
        </p:nvSpPr>
        <p:spPr>
          <a:xfrm>
            <a:off x="1025525" y="3501876"/>
            <a:ext cx="501650" cy="501650"/>
          </a:xfrm>
          <a:prstGeom prst="roundRect">
            <a:avLst>
              <a:gd name="adj" fmla="val 14557"/>
            </a:avLst>
          </a:prstGeom>
          <a:solidFill>
            <a:srgbClr val="0E1E21"/>
          </a:solidFill>
          <a:ln w="6350">
            <a:solidFill>
              <a:srgbClr val="1F3E3E"/>
            </a:solidFill>
            <a:prstDash val="solid"/>
          </a:ln>
        </p:spPr>
      </p:sp>
      <p:pic>
        <p:nvPicPr>
          <p:cNvPr id="16" name="Image 2" descr="Star">    </p:cNvPr>
          <p:cNvPicPr>
            <a:picLocks noChangeAspect="1"/>
          </p:cNvPicPr>
          <p:nvPr/>
        </p:nvPicPr>
        <p:blipFill>
          <a:blip r:embed="rId3"/>
          <a:srcRect l="0" r="0" t="0" b="0"/>
          <a:stretch/>
        </p:blipFill>
        <p:spPr>
          <a:xfrm>
            <a:off x="1136650" y="3613001"/>
            <a:ext cx="279400" cy="279400"/>
          </a:xfrm>
          <a:prstGeom prst="rect">
            <a:avLst/>
          </a:prstGeom>
        </p:spPr>
      </p:pic>
      <p:sp>
        <p:nvSpPr>
          <p:cNvPr id="17" name="Text 12"/>
          <p:cNvSpPr/>
          <p:nvPr/>
        </p:nvSpPr>
        <p:spPr>
          <a:xfrm>
            <a:off x="1682750" y="3351411"/>
            <a:ext cx="425132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2F4F7"/>
                </a:solidFill>
                <a:latin typeface="Manrope" pitchFamily="34" charset="0"/>
                <a:ea typeface="Manrope" pitchFamily="34" charset="-122"/>
                <a:cs typeface="Manrope" pitchFamily="34" charset="-120"/>
              </a:rPr>
              <a:t>The gallery improves by itself</a:t>
            </a:r>
            <a:endParaRPr lang="en-US" sz="1600" dirty="0"/>
          </a:p>
        </p:txBody>
      </p:sp>
      <p:sp>
        <p:nvSpPr>
          <p:cNvPr id="18" name="Text 13"/>
          <p:cNvSpPr/>
          <p:nvPr/>
        </p:nvSpPr>
        <p:spPr>
          <a:xfrm>
            <a:off x="1682750" y="3656211"/>
            <a:ext cx="425132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3BBC7"/>
                </a:solidFill>
                <a:latin typeface="Manrope" pitchFamily="34" charset="0"/>
                <a:ea typeface="Manrope" pitchFamily="34" charset="-122"/>
                <a:cs typeface="Manrope" pitchFamily="34" charset="-120"/>
              </a:rPr>
              <a:t>Better pictures replace weaker ones, up to 10 per person.</a:t>
            </a:r>
            <a:endParaRPr lang="en-US" sz="1400" dirty="0"/>
          </a:p>
        </p:txBody>
      </p:sp>
      <p:sp>
        <p:nvSpPr>
          <p:cNvPr id="19" name="Shape 14"/>
          <p:cNvSpPr/>
          <p:nvPr/>
        </p:nvSpPr>
        <p:spPr>
          <a:xfrm>
            <a:off x="6175375" y="3145036"/>
            <a:ext cx="5200650" cy="1215330"/>
          </a:xfrm>
          <a:prstGeom prst="roundRect">
            <a:avLst>
              <a:gd name="adj" fmla="val 6009"/>
            </a:avLst>
          </a:prstGeom>
          <a:solidFill>
            <a:srgbClr val="0B1018"/>
          </a:solidFill>
          <a:ln w="6350">
            <a:solidFill>
              <a:srgbClr val="1C2532"/>
            </a:solidFill>
            <a:prstDash val="solid"/>
          </a:ln>
        </p:spPr>
      </p:sp>
      <p:sp>
        <p:nvSpPr>
          <p:cNvPr id="20" name="Shape 15"/>
          <p:cNvSpPr/>
          <p:nvPr/>
        </p:nvSpPr>
        <p:spPr>
          <a:xfrm>
            <a:off x="6384925" y="3501876"/>
            <a:ext cx="501650" cy="501650"/>
          </a:xfrm>
          <a:prstGeom prst="roundRect">
            <a:avLst>
              <a:gd name="adj" fmla="val 14557"/>
            </a:avLst>
          </a:prstGeom>
          <a:solidFill>
            <a:srgbClr val="0E1E21"/>
          </a:solidFill>
          <a:ln w="6350">
            <a:solidFill>
              <a:srgbClr val="1F3E3E"/>
            </a:solidFill>
            <a:prstDash val="solid"/>
          </a:ln>
        </p:spPr>
      </p:sp>
      <p:pic>
        <p:nvPicPr>
          <p:cNvPr id="21" name="Image 3" descr="Trust">    </p:cNvPr>
          <p:cNvPicPr>
            <a:picLocks noChangeAspect="1"/>
          </p:cNvPicPr>
          <p:nvPr/>
        </p:nvPicPr>
        <p:blipFill>
          <a:blip r:embed="rId4"/>
          <a:srcRect l="0" r="0" t="0" b="0"/>
          <a:stretch/>
        </p:blipFill>
        <p:spPr>
          <a:xfrm>
            <a:off x="6496050" y="3613001"/>
            <a:ext cx="279400" cy="279400"/>
          </a:xfrm>
          <a:prstGeom prst="rect">
            <a:avLst/>
          </a:prstGeom>
        </p:spPr>
      </p:pic>
      <p:sp>
        <p:nvSpPr>
          <p:cNvPr id="22" name="Text 16"/>
          <p:cNvSpPr/>
          <p:nvPr/>
        </p:nvSpPr>
        <p:spPr>
          <a:xfrm>
            <a:off x="7042150" y="3475831"/>
            <a:ext cx="425132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2F4F7"/>
                </a:solidFill>
                <a:latin typeface="Manrope" pitchFamily="34" charset="0"/>
                <a:ea typeface="Manrope" pitchFamily="34" charset="-122"/>
                <a:cs typeface="Manrope" pitchFamily="34" charset="-120"/>
              </a:rPr>
              <a:t>Liveness never accuses</a:t>
            </a:r>
            <a:endParaRPr lang="en-US" sz="1600" dirty="0"/>
          </a:p>
        </p:txBody>
      </p:sp>
      <p:sp>
        <p:nvSpPr>
          <p:cNvPr id="23" name="Text 17"/>
          <p:cNvSpPr/>
          <p:nvPr/>
        </p:nvSpPr>
        <p:spPr>
          <a:xfrm>
            <a:off x="7042150" y="3780631"/>
            <a:ext cx="425132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3BBC7"/>
                </a:solidFill>
                <a:latin typeface="Manrope" pitchFamily="34" charset="0"/>
                <a:ea typeface="Manrope" pitchFamily="34" charset="-122"/>
                <a:cs typeface="Manrope" pitchFamily="34" charset="-120"/>
              </a:rPr>
              <a:t>If it can’t judge, it says unverifiable, never spoof.</a:t>
            </a:r>
            <a:endParaRPr lang="en-US" sz="1400" dirty="0"/>
          </a:p>
        </p:txBody>
      </p:sp>
      <p:sp>
        <p:nvSpPr>
          <p:cNvPr id="24" name="Shape 18"/>
          <p:cNvSpPr/>
          <p:nvPr/>
        </p:nvSpPr>
        <p:spPr>
          <a:xfrm>
            <a:off x="812800" y="4566741"/>
            <a:ext cx="10566400" cy="558800"/>
          </a:xfrm>
          <a:prstGeom prst="roundRect">
            <a:avLst>
              <a:gd name="adj" fmla="val 4545"/>
            </a:avLst>
          </a:prstGeom>
          <a:solidFill>
            <a:srgbClr val="0A1A1C"/>
          </a:solidFill>
          <a:ln/>
        </p:spPr>
      </p:sp>
      <p:sp>
        <p:nvSpPr>
          <p:cNvPr id="25" name="Shape 19"/>
          <p:cNvSpPr/>
          <p:nvPr/>
        </p:nvSpPr>
        <p:spPr>
          <a:xfrm>
            <a:off x="812800" y="4566741"/>
            <a:ext cx="10566400" cy="558800"/>
          </a:xfrm>
          <a:custGeom>
            <a:avLst/>
            <a:gdLst/>
            <a:ahLst/>
            <a:cxnLst/>
            <a:rect l="l" t="t" r="r" b="b"/>
            <a:pathLst>
              <a:path w="10566400" h="558800">
                <a:moveTo>
                  <a:pt x="25400" y="558800"/>
                </a:moveTo>
                <a:lnTo>
                  <a:pt x="25400" y="558800"/>
                </a:lnTo>
                <a:arcTo hR="25400" wR="25400" stAng="5400000" swAng="5400000"/>
                <a:lnTo>
                  <a:pt x="0" y="25400"/>
                </a:lnTo>
                <a:arcTo hR="25400" wR="25400" stAng="10800000" swAng="5400000"/>
                <a:lnTo>
                  <a:pt x="25400" y="0"/>
                </a:lnTo>
                <a:lnTo>
                  <a:pt x="25400" y="558800"/>
                </a:lnTo>
                <a:close/>
              </a:path>
            </a:pathLst>
          </a:custGeom>
          <a:solidFill>
            <a:srgbClr val="5FD3C4"/>
          </a:solidFill>
          <a:ln/>
        </p:spPr>
      </p:sp>
      <p:pic>
        <p:nvPicPr>
          <p:cNvPr id="26" name="Image 4" descr="Lightbulb">    </p:cNvPr>
          <p:cNvPicPr>
            <a:picLocks noChangeAspect="1"/>
          </p:cNvPicPr>
          <p:nvPr/>
        </p:nvPicPr>
        <p:blipFill>
          <a:blip r:embed="rId5"/>
          <a:srcRect l="0" r="0" t="0" b="0"/>
          <a:stretch/>
        </p:blipFill>
        <p:spPr>
          <a:xfrm>
            <a:off x="1041400" y="4719141"/>
            <a:ext cx="254000" cy="254000"/>
          </a:xfrm>
          <a:prstGeom prst="rect">
            <a:avLst/>
          </a:prstGeom>
        </p:spPr>
      </p:pic>
      <p:sp>
        <p:nvSpPr>
          <p:cNvPr id="27" name="Text 20"/>
          <p:cNvSpPr/>
          <p:nvPr/>
        </p:nvSpPr>
        <p:spPr>
          <a:xfrm>
            <a:off x="1447800" y="4721671"/>
            <a:ext cx="9931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4F7"/>
                </a:solidFill>
                <a:latin typeface="Manrope" pitchFamily="34" charset="0"/>
                <a:ea typeface="Manrope" pitchFamily="34" charset="-122"/>
                <a:cs typeface="Manrope" pitchFamily="34" charset="-120"/>
              </a:rPr>
              <a:t>Why:</a:t>
            </a:r>
            <a:r>
              <a:rPr lang="en-US" sz="1400" dirty="0">
                <a:solidFill>
                  <a:srgbClr val="F2F4F7"/>
                </a:solidFill>
                <a:latin typeface="Manrope" pitchFamily="34" charset="0"/>
                <a:ea typeface="Manrope" pitchFamily="34" charset="-122"/>
                <a:cs typeface="Manrope" pitchFamily="34" charset="-120"/>
              </a:rPr>
              <a:t> a wrong name on screen costs more trust than a missing one. The system proposes; a person decides.</a:t>
            </a:r>
            <a:endParaRPr lang="en-US" sz="1400" dirty="0"/>
          </a:p>
        </p:txBody>
      </p:sp>
      <p:sp>
        <p:nvSpPr>
          <p:cNvPr id="28"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PRISM · How it works, and why · Promise P5 · Design rules 8–11</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3 · HOW IT WORKS, AND WHY · TRUST</a:t>
            </a:r>
            <a:endParaRPr lang="en-US" sz="1200" dirty="0"/>
          </a:p>
        </p:txBody>
      </p:sp>
      <p:sp>
        <p:nvSpPr>
          <p:cNvPr id="3" name="Text 1"/>
          <p:cNvSpPr/>
          <p:nvPr>
            <p:ph type="title"/>
          </p:nvPr>
        </p:nvSpPr>
        <p:spPr>
          <a:xfrm>
            <a:off x="812800" y="1229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RESPECT FOR </a:t>
            </a:r>
            <a:r>
              <a:rPr lang="en-US" sz="2400" b="1" i="0" spc="150" kern="0" dirty="0">
                <a:solidFill>
                  <a:srgbClr val="5FD3C4"/>
                </a:solidFill>
                <a:latin typeface="Archivo" pitchFamily="34" charset="0"/>
                <a:ea typeface="Archivo" pitchFamily="34" charset="-122"/>
                <a:cs typeface="Archivo" pitchFamily="34" charset="-120"/>
              </a:rPr>
              <a:t>DEVICES AND DATA</a:t>
            </a:r>
            <a:endParaRPr lang="en-US" sz="2400" dirty="0"/>
          </a:p>
        </p:txBody>
      </p:sp>
      <p:sp>
        <p:nvSpPr>
          <p:cNvPr id="4" name="Shape 2"/>
          <p:cNvSpPr/>
          <p:nvPr/>
        </p:nvSpPr>
        <p:spPr>
          <a:xfrm>
            <a:off x="815975" y="1770955"/>
            <a:ext cx="5200650" cy="1215330"/>
          </a:xfrm>
          <a:prstGeom prst="roundRect">
            <a:avLst>
              <a:gd name="adj" fmla="val 6009"/>
            </a:avLst>
          </a:prstGeom>
          <a:solidFill>
            <a:srgbClr val="0B1018"/>
          </a:solidFill>
          <a:ln w="6350">
            <a:solidFill>
              <a:srgbClr val="1C2532"/>
            </a:solidFill>
            <a:prstDash val="solid"/>
          </a:ln>
        </p:spPr>
      </p:sp>
      <p:sp>
        <p:nvSpPr>
          <p:cNvPr id="5" name="Shape 3"/>
          <p:cNvSpPr/>
          <p:nvPr/>
        </p:nvSpPr>
        <p:spPr>
          <a:xfrm>
            <a:off x="1025525" y="2127796"/>
            <a:ext cx="501650" cy="501650"/>
          </a:xfrm>
          <a:prstGeom prst="roundRect">
            <a:avLst>
              <a:gd name="adj" fmla="val 14557"/>
            </a:avLst>
          </a:prstGeom>
          <a:solidFill>
            <a:srgbClr val="0E1E21"/>
          </a:solidFill>
          <a:ln w="6350">
            <a:solidFill>
              <a:srgbClr val="1F3E3E"/>
            </a:solidFill>
            <a:prstDash val="solid"/>
          </a:ln>
        </p:spPr>
      </p:sp>
      <p:pic>
        <p:nvPicPr>
          <p:cNvPr id="6" name="Image 0" descr="Key">    </p:cNvPr>
          <p:cNvPicPr>
            <a:picLocks noChangeAspect="1"/>
          </p:cNvPicPr>
          <p:nvPr/>
        </p:nvPicPr>
        <p:blipFill>
          <a:blip r:embed="rId1"/>
          <a:srcRect l="0" r="0" t="0" b="0"/>
          <a:stretch/>
        </p:blipFill>
        <p:spPr>
          <a:xfrm>
            <a:off x="1136650" y="2238921"/>
            <a:ext cx="279400" cy="279400"/>
          </a:xfrm>
          <a:prstGeom prst="rect">
            <a:avLst/>
          </a:prstGeom>
        </p:spPr>
      </p:pic>
      <p:sp>
        <p:nvSpPr>
          <p:cNvPr id="7" name="Text 4"/>
          <p:cNvSpPr/>
          <p:nvPr/>
        </p:nvSpPr>
        <p:spPr>
          <a:xfrm>
            <a:off x="1682750" y="1977330"/>
            <a:ext cx="425132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2F4F7"/>
                </a:solidFill>
                <a:latin typeface="Manrope" pitchFamily="34" charset="0"/>
                <a:ea typeface="Manrope" pitchFamily="34" charset="-122"/>
                <a:cs typeface="Manrope" pitchFamily="34" charset="-120"/>
              </a:rPr>
              <a:t>Never lock a camera out</a:t>
            </a:r>
            <a:endParaRPr lang="en-US" sz="1600" dirty="0"/>
          </a:p>
        </p:txBody>
      </p:sp>
      <p:sp>
        <p:nvSpPr>
          <p:cNvPr id="8" name="Text 5"/>
          <p:cNvSpPr/>
          <p:nvPr/>
        </p:nvSpPr>
        <p:spPr>
          <a:xfrm>
            <a:off x="1682750" y="2282130"/>
            <a:ext cx="425132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3BBC7"/>
                </a:solidFill>
                <a:latin typeface="Manrope" pitchFamily="34" charset="0"/>
                <a:ea typeface="Manrope" pitchFamily="34" charset="-122"/>
                <a:cs typeface="Manrope" pitchFamily="34" charset="-120"/>
              </a:rPr>
              <a:t>Known password first, at most 3 new ones, then stop.</a:t>
            </a:r>
            <a:endParaRPr lang="en-US" sz="1400" dirty="0"/>
          </a:p>
        </p:txBody>
      </p:sp>
      <p:sp>
        <p:nvSpPr>
          <p:cNvPr id="9" name="Shape 6"/>
          <p:cNvSpPr/>
          <p:nvPr/>
        </p:nvSpPr>
        <p:spPr>
          <a:xfrm>
            <a:off x="6175375" y="1770955"/>
            <a:ext cx="5200650" cy="1215330"/>
          </a:xfrm>
          <a:prstGeom prst="roundRect">
            <a:avLst>
              <a:gd name="adj" fmla="val 6009"/>
            </a:avLst>
          </a:prstGeom>
          <a:solidFill>
            <a:srgbClr val="0B1018"/>
          </a:solidFill>
          <a:ln w="6350">
            <a:solidFill>
              <a:srgbClr val="1C2532"/>
            </a:solidFill>
            <a:prstDash val="solid"/>
          </a:ln>
        </p:spPr>
      </p:sp>
      <p:sp>
        <p:nvSpPr>
          <p:cNvPr id="10" name="Shape 7"/>
          <p:cNvSpPr/>
          <p:nvPr/>
        </p:nvSpPr>
        <p:spPr>
          <a:xfrm>
            <a:off x="6384925" y="2127796"/>
            <a:ext cx="501650" cy="501650"/>
          </a:xfrm>
          <a:prstGeom prst="roundRect">
            <a:avLst>
              <a:gd name="adj" fmla="val 14557"/>
            </a:avLst>
          </a:prstGeom>
          <a:solidFill>
            <a:srgbClr val="0E1E21"/>
          </a:solidFill>
          <a:ln w="6350">
            <a:solidFill>
              <a:srgbClr val="1F3E3E"/>
            </a:solidFill>
            <a:prstDash val="solid"/>
          </a:ln>
        </p:spPr>
      </p:sp>
      <p:pic>
        <p:nvPicPr>
          <p:cNvPr id="11" name="Image 1" descr="Book">    </p:cNvPr>
          <p:cNvPicPr>
            <a:picLocks noChangeAspect="1"/>
          </p:cNvPicPr>
          <p:nvPr/>
        </p:nvPicPr>
        <p:blipFill>
          <a:blip r:embed="rId2"/>
          <a:srcRect l="0" r="0" t="0" b="0"/>
          <a:stretch/>
        </p:blipFill>
        <p:spPr>
          <a:xfrm>
            <a:off x="6496050" y="2238921"/>
            <a:ext cx="279400" cy="279400"/>
          </a:xfrm>
          <a:prstGeom prst="rect">
            <a:avLst/>
          </a:prstGeom>
        </p:spPr>
      </p:pic>
      <p:sp>
        <p:nvSpPr>
          <p:cNvPr id="12" name="Text 8"/>
          <p:cNvSpPr/>
          <p:nvPr/>
        </p:nvSpPr>
        <p:spPr>
          <a:xfrm>
            <a:off x="7042150" y="1977330"/>
            <a:ext cx="425132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2F4F7"/>
                </a:solidFill>
                <a:latin typeface="Manrope" pitchFamily="34" charset="0"/>
                <a:ea typeface="Manrope" pitchFamily="34" charset="-122"/>
                <a:cs typeface="Manrope" pitchFamily="34" charset="-120"/>
              </a:rPr>
              <a:t>Never change a recorder</a:t>
            </a:r>
            <a:endParaRPr lang="en-US" sz="1600" dirty="0"/>
          </a:p>
        </p:txBody>
      </p:sp>
      <p:sp>
        <p:nvSpPr>
          <p:cNvPr id="13" name="Text 9"/>
          <p:cNvSpPr/>
          <p:nvPr/>
        </p:nvSpPr>
        <p:spPr>
          <a:xfrm>
            <a:off x="7042150" y="2282130"/>
            <a:ext cx="425132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3BBC7"/>
                </a:solidFill>
                <a:latin typeface="Manrope" pitchFamily="34" charset="0"/>
                <a:ea typeface="Manrope" pitchFamily="34" charset="-122"/>
                <a:cs typeface="Manrope" pitchFamily="34" charset="-120"/>
              </a:rPr>
              <a:t>We read an NVR’s settings and name the menu to change.</a:t>
            </a:r>
            <a:endParaRPr lang="en-US" sz="1400" dirty="0"/>
          </a:p>
        </p:txBody>
      </p:sp>
      <p:sp>
        <p:nvSpPr>
          <p:cNvPr id="14" name="Shape 10"/>
          <p:cNvSpPr/>
          <p:nvPr/>
        </p:nvSpPr>
        <p:spPr>
          <a:xfrm>
            <a:off x="815975" y="3145036"/>
            <a:ext cx="5200650" cy="1215330"/>
          </a:xfrm>
          <a:prstGeom prst="roundRect">
            <a:avLst>
              <a:gd name="adj" fmla="val 6009"/>
            </a:avLst>
          </a:prstGeom>
          <a:solidFill>
            <a:srgbClr val="0B1018"/>
          </a:solidFill>
          <a:ln w="6350">
            <a:solidFill>
              <a:srgbClr val="1C2532"/>
            </a:solidFill>
            <a:prstDash val="solid"/>
          </a:ln>
        </p:spPr>
      </p:sp>
      <p:sp>
        <p:nvSpPr>
          <p:cNvPr id="15" name="Shape 11"/>
          <p:cNvSpPr/>
          <p:nvPr/>
        </p:nvSpPr>
        <p:spPr>
          <a:xfrm>
            <a:off x="1025525" y="3501876"/>
            <a:ext cx="501650" cy="501650"/>
          </a:xfrm>
          <a:prstGeom prst="roundRect">
            <a:avLst>
              <a:gd name="adj" fmla="val 14557"/>
            </a:avLst>
          </a:prstGeom>
          <a:solidFill>
            <a:srgbClr val="0E1E21"/>
          </a:solidFill>
          <a:ln w="6350">
            <a:solidFill>
              <a:srgbClr val="1F3E3E"/>
            </a:solidFill>
            <a:prstDash val="solid"/>
          </a:ln>
        </p:spPr>
      </p:sp>
      <p:pic>
        <p:nvPicPr>
          <p:cNvPr id="16" name="Image 2" descr="Lock">    </p:cNvPr>
          <p:cNvPicPr>
            <a:picLocks noChangeAspect="1"/>
          </p:cNvPicPr>
          <p:nvPr/>
        </p:nvPicPr>
        <p:blipFill>
          <a:blip r:embed="rId3"/>
          <a:srcRect l="0" r="0" t="0" b="0"/>
          <a:stretch/>
        </p:blipFill>
        <p:spPr>
          <a:xfrm>
            <a:off x="1136650" y="3613001"/>
            <a:ext cx="279400" cy="279400"/>
          </a:xfrm>
          <a:prstGeom prst="rect">
            <a:avLst/>
          </a:prstGeom>
        </p:spPr>
      </p:pic>
      <p:sp>
        <p:nvSpPr>
          <p:cNvPr id="17" name="Text 12"/>
          <p:cNvSpPr/>
          <p:nvPr/>
        </p:nvSpPr>
        <p:spPr>
          <a:xfrm>
            <a:off x="1682750" y="3351411"/>
            <a:ext cx="425132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2F4F7"/>
                </a:solidFill>
                <a:latin typeface="Manrope" pitchFamily="34" charset="0"/>
                <a:ea typeface="Manrope" pitchFamily="34" charset="-122"/>
                <a:cs typeface="Manrope" pitchFamily="34" charset="-120"/>
              </a:rPr>
              <a:t>The data stays on the box</a:t>
            </a:r>
            <a:endParaRPr lang="en-US" sz="1600" dirty="0"/>
          </a:p>
        </p:txBody>
      </p:sp>
      <p:sp>
        <p:nvSpPr>
          <p:cNvPr id="18" name="Text 13"/>
          <p:cNvSpPr/>
          <p:nvPr/>
        </p:nvSpPr>
        <p:spPr>
          <a:xfrm>
            <a:off x="1682750" y="3656211"/>
            <a:ext cx="425132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3BBC7"/>
                </a:solidFill>
                <a:latin typeface="Manrope" pitchFamily="34" charset="0"/>
                <a:ea typeface="Manrope" pitchFamily="34" charset="-122"/>
                <a:cs typeface="Manrope" pitchFamily="34" charset="-120"/>
              </a:rPr>
              <a:t>Faces, plates and passwords stay local; we store labels.</a:t>
            </a:r>
            <a:endParaRPr lang="en-US" sz="1400" dirty="0"/>
          </a:p>
        </p:txBody>
      </p:sp>
      <p:sp>
        <p:nvSpPr>
          <p:cNvPr id="19" name="Shape 14"/>
          <p:cNvSpPr/>
          <p:nvPr/>
        </p:nvSpPr>
        <p:spPr>
          <a:xfrm>
            <a:off x="6175375" y="3145036"/>
            <a:ext cx="5200650" cy="1215330"/>
          </a:xfrm>
          <a:prstGeom prst="roundRect">
            <a:avLst>
              <a:gd name="adj" fmla="val 6009"/>
            </a:avLst>
          </a:prstGeom>
          <a:solidFill>
            <a:srgbClr val="0B1018"/>
          </a:solidFill>
          <a:ln w="6350">
            <a:solidFill>
              <a:srgbClr val="1C2532"/>
            </a:solidFill>
            <a:prstDash val="solid"/>
          </a:ln>
        </p:spPr>
      </p:sp>
      <p:sp>
        <p:nvSpPr>
          <p:cNvPr id="20" name="Shape 15"/>
          <p:cNvSpPr/>
          <p:nvPr/>
        </p:nvSpPr>
        <p:spPr>
          <a:xfrm>
            <a:off x="6384925" y="3501876"/>
            <a:ext cx="501650" cy="501650"/>
          </a:xfrm>
          <a:prstGeom prst="roundRect">
            <a:avLst>
              <a:gd name="adj" fmla="val 14557"/>
            </a:avLst>
          </a:prstGeom>
          <a:solidFill>
            <a:srgbClr val="0E1E21"/>
          </a:solidFill>
          <a:ln w="6350">
            <a:solidFill>
              <a:srgbClr val="1F3E3E"/>
            </a:solidFill>
            <a:prstDash val="solid"/>
          </a:ln>
        </p:spPr>
      </p:sp>
      <p:pic>
        <p:nvPicPr>
          <p:cNvPr id="21" name="Image 3" descr="Clock">    </p:cNvPr>
          <p:cNvPicPr>
            <a:picLocks noChangeAspect="1"/>
          </p:cNvPicPr>
          <p:nvPr/>
        </p:nvPicPr>
        <p:blipFill>
          <a:blip r:embed="rId4"/>
          <a:srcRect l="0" r="0" t="0" b="0"/>
          <a:stretch/>
        </p:blipFill>
        <p:spPr>
          <a:xfrm>
            <a:off x="6496050" y="3613001"/>
            <a:ext cx="279400" cy="279400"/>
          </a:xfrm>
          <a:prstGeom prst="rect">
            <a:avLst/>
          </a:prstGeom>
        </p:spPr>
      </p:pic>
      <p:sp>
        <p:nvSpPr>
          <p:cNvPr id="22" name="Text 16"/>
          <p:cNvSpPr/>
          <p:nvPr/>
        </p:nvSpPr>
        <p:spPr>
          <a:xfrm>
            <a:off x="7042150" y="3475831"/>
            <a:ext cx="425132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2F4F7"/>
                </a:solidFill>
                <a:latin typeface="Manrope" pitchFamily="34" charset="0"/>
                <a:ea typeface="Manrope" pitchFamily="34" charset="-122"/>
                <a:cs typeface="Manrope" pitchFamily="34" charset="-120"/>
              </a:rPr>
              <a:t>Moving hardware always stops</a:t>
            </a:r>
            <a:endParaRPr lang="en-US" sz="1600" dirty="0"/>
          </a:p>
        </p:txBody>
      </p:sp>
      <p:sp>
        <p:nvSpPr>
          <p:cNvPr id="23" name="Text 17"/>
          <p:cNvSpPr/>
          <p:nvPr/>
        </p:nvSpPr>
        <p:spPr>
          <a:xfrm>
            <a:off x="7042150" y="3780631"/>
            <a:ext cx="425132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3BBC7"/>
                </a:solidFill>
                <a:latin typeface="Manrope" pitchFamily="34" charset="0"/>
                <a:ea typeface="Manrope" pitchFamily="34" charset="-122"/>
                <a:cs typeface="Manrope" pitchFamily="34" charset="-120"/>
              </a:rPr>
              <a:t>Every PTZ move times out after 10 seconds.</a:t>
            </a:r>
            <a:endParaRPr lang="en-US" sz="1400" dirty="0"/>
          </a:p>
        </p:txBody>
      </p:sp>
      <p:sp>
        <p:nvSpPr>
          <p:cNvPr id="24" name="Shape 18"/>
          <p:cNvSpPr/>
          <p:nvPr/>
        </p:nvSpPr>
        <p:spPr>
          <a:xfrm>
            <a:off x="812800" y="4566741"/>
            <a:ext cx="10566400" cy="558800"/>
          </a:xfrm>
          <a:prstGeom prst="roundRect">
            <a:avLst>
              <a:gd name="adj" fmla="val 4545"/>
            </a:avLst>
          </a:prstGeom>
          <a:solidFill>
            <a:srgbClr val="0A1A1C"/>
          </a:solidFill>
          <a:ln/>
        </p:spPr>
      </p:sp>
      <p:sp>
        <p:nvSpPr>
          <p:cNvPr id="25" name="Shape 19"/>
          <p:cNvSpPr/>
          <p:nvPr/>
        </p:nvSpPr>
        <p:spPr>
          <a:xfrm>
            <a:off x="812800" y="4566741"/>
            <a:ext cx="10566400" cy="558800"/>
          </a:xfrm>
          <a:custGeom>
            <a:avLst/>
            <a:gdLst/>
            <a:ahLst/>
            <a:cxnLst/>
            <a:rect l="l" t="t" r="r" b="b"/>
            <a:pathLst>
              <a:path w="10566400" h="558800">
                <a:moveTo>
                  <a:pt x="25400" y="558800"/>
                </a:moveTo>
                <a:lnTo>
                  <a:pt x="25400" y="558800"/>
                </a:lnTo>
                <a:arcTo hR="25400" wR="25400" stAng="5400000" swAng="5400000"/>
                <a:lnTo>
                  <a:pt x="0" y="25400"/>
                </a:lnTo>
                <a:arcTo hR="25400" wR="25400" stAng="10800000" swAng="5400000"/>
                <a:lnTo>
                  <a:pt x="25400" y="0"/>
                </a:lnTo>
                <a:lnTo>
                  <a:pt x="25400" y="558800"/>
                </a:lnTo>
                <a:close/>
              </a:path>
            </a:pathLst>
          </a:custGeom>
          <a:solidFill>
            <a:srgbClr val="5FD3C4"/>
          </a:solidFill>
          <a:ln/>
        </p:spPr>
      </p:sp>
      <p:pic>
        <p:nvPicPr>
          <p:cNvPr id="26" name="Image 4" descr="Lightbulb">    </p:cNvPr>
          <p:cNvPicPr>
            <a:picLocks noChangeAspect="1"/>
          </p:cNvPicPr>
          <p:nvPr/>
        </p:nvPicPr>
        <p:blipFill>
          <a:blip r:embed="rId5"/>
          <a:srcRect l="0" r="0" t="0" b="0"/>
          <a:stretch/>
        </p:blipFill>
        <p:spPr>
          <a:xfrm>
            <a:off x="1041400" y="4719141"/>
            <a:ext cx="254000" cy="254000"/>
          </a:xfrm>
          <a:prstGeom prst="rect">
            <a:avLst/>
          </a:prstGeom>
        </p:spPr>
      </p:pic>
      <p:sp>
        <p:nvSpPr>
          <p:cNvPr id="27" name="Text 20"/>
          <p:cNvSpPr/>
          <p:nvPr/>
        </p:nvSpPr>
        <p:spPr>
          <a:xfrm>
            <a:off x="1447800" y="4721671"/>
            <a:ext cx="9931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4F7"/>
                </a:solidFill>
                <a:latin typeface="Manrope" pitchFamily="34" charset="0"/>
                <a:ea typeface="Manrope" pitchFamily="34" charset="-122"/>
                <a:cs typeface="Manrope" pitchFamily="34" charset="-120"/>
              </a:rPr>
              <a:t>Why:</a:t>
            </a:r>
            <a:r>
              <a:rPr lang="en-US" sz="1400" dirty="0">
                <a:solidFill>
                  <a:srgbClr val="F2F4F7"/>
                </a:solidFill>
                <a:latin typeface="Manrope" pitchFamily="34" charset="0"/>
                <a:ea typeface="Manrope" pitchFamily="34" charset="-122"/>
                <a:cs typeface="Manrope" pitchFamily="34" charset="-120"/>
              </a:rPr>
              <a:t> these are the customer’s cameras, recorders and data. One lockout on site undoes a lot of goodwill.</a:t>
            </a:r>
            <a:endParaRPr lang="en-US" sz="1400" dirty="0"/>
          </a:p>
        </p:txBody>
      </p:sp>
      <p:sp>
        <p:nvSpPr>
          <p:cNvPr id="28"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PRISM · How it works, and why · Promises P7, P8 · Design rules 31–32</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3 · HOW IT WORKS, AND WHY · HALF-CLOSED</a:t>
            </a:r>
            <a:endParaRPr lang="en-US" sz="1200" dirty="0"/>
          </a:p>
        </p:txBody>
      </p:sp>
      <p:sp>
        <p:nvSpPr>
          <p:cNvPr id="3" name="Text 1"/>
          <p:cNvSpPr/>
          <p:nvPr>
            <p:ph type="title"/>
          </p:nvPr>
        </p:nvSpPr>
        <p:spPr>
          <a:xfrm>
            <a:off x="812800" y="1229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HALF-CLOSED </a:t>
            </a:r>
            <a:r>
              <a:rPr lang="en-US" sz="2400" b="1" i="0" spc="150" kern="0" dirty="0">
                <a:solidFill>
                  <a:srgbClr val="5FD3C4"/>
                </a:solidFill>
                <a:latin typeface="Archivo" pitchFamily="34" charset="0"/>
                <a:ea typeface="Archivo" pitchFamily="34" charset="-122"/>
                <a:cs typeface="Archivo" pitchFamily="34" charset="-120"/>
              </a:rPr>
              <a:t>ON PURPOSE</a:t>
            </a:r>
            <a:endParaRPr lang="en-US" sz="2400" dirty="0"/>
          </a:p>
        </p:txBody>
      </p:sp>
      <p:sp>
        <p:nvSpPr>
          <p:cNvPr id="4" name="Shape 2"/>
          <p:cNvSpPr/>
          <p:nvPr/>
        </p:nvSpPr>
        <p:spPr>
          <a:xfrm>
            <a:off x="815975" y="1770955"/>
            <a:ext cx="10560050" cy="819150"/>
          </a:xfrm>
          <a:prstGeom prst="roundRect">
            <a:avLst>
              <a:gd name="adj" fmla="val 8915"/>
            </a:avLst>
          </a:prstGeom>
          <a:solidFill>
            <a:srgbClr val="120F24"/>
          </a:solidFill>
          <a:ln w="6350">
            <a:solidFill>
              <a:srgbClr val="A99CF0"/>
            </a:solidFill>
            <a:prstDash val="solid"/>
          </a:ln>
        </p:spPr>
      </p:sp>
      <p:sp>
        <p:nvSpPr>
          <p:cNvPr id="5" name="Shape 3"/>
          <p:cNvSpPr/>
          <p:nvPr/>
        </p:nvSpPr>
        <p:spPr>
          <a:xfrm>
            <a:off x="1025525" y="1955105"/>
            <a:ext cx="450850" cy="450850"/>
          </a:xfrm>
          <a:prstGeom prst="roundRect">
            <a:avLst>
              <a:gd name="adj" fmla="val 16197"/>
            </a:avLst>
          </a:prstGeom>
          <a:solidFill>
            <a:srgbClr val="1A1533"/>
          </a:solidFill>
          <a:ln w="6350">
            <a:solidFill>
              <a:srgbClr val="A99CF0"/>
            </a:solidFill>
            <a:prstDash val="solid"/>
          </a:ln>
        </p:spPr>
      </p:sp>
      <p:pic>
        <p:nvPicPr>
          <p:cNvPr id="6" name="Image 0" descr="Globe">    </p:cNvPr>
          <p:cNvPicPr>
            <a:picLocks noChangeAspect="1"/>
          </p:cNvPicPr>
          <p:nvPr/>
        </p:nvPicPr>
        <p:blipFill>
          <a:blip r:embed="rId1"/>
          <a:srcRect l="0" r="0" t="0" b="0"/>
          <a:stretch/>
        </p:blipFill>
        <p:spPr>
          <a:xfrm>
            <a:off x="1123950" y="2053530"/>
            <a:ext cx="254000" cy="254000"/>
          </a:xfrm>
          <a:prstGeom prst="rect">
            <a:avLst/>
          </a:prstGeom>
        </p:spPr>
      </p:pic>
      <p:sp>
        <p:nvSpPr>
          <p:cNvPr id="7" name="Text 4"/>
          <p:cNvSpPr/>
          <p:nvPr/>
        </p:nvSpPr>
        <p:spPr>
          <a:xfrm>
            <a:off x="1631950" y="2056061"/>
            <a:ext cx="1831340"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B9AEF6"/>
                </a:solidFill>
                <a:latin typeface="Archivo" pitchFamily="34" charset="0"/>
                <a:ea typeface="Archivo" pitchFamily="34" charset="-122"/>
                <a:cs typeface="Archivo" pitchFamily="34" charset="-120"/>
              </a:rPr>
              <a:t>OPEN</a:t>
            </a:r>
            <a:endParaRPr lang="en-US" sz="1400" dirty="0"/>
          </a:p>
        </p:txBody>
      </p:sp>
      <p:sp>
        <p:nvSpPr>
          <p:cNvPr id="8" name="Text 5"/>
          <p:cNvSpPr/>
          <p:nvPr/>
        </p:nvSpPr>
        <p:spPr>
          <a:xfrm>
            <a:off x="3562350" y="2056061"/>
            <a:ext cx="783551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4F7"/>
                </a:solidFill>
                <a:latin typeface="Manrope" pitchFamily="34" charset="0"/>
                <a:ea typeface="Manrope" pitchFamily="34" charset="-122"/>
                <a:cs typeface="Manrope" pitchFamily="34" charset="-120"/>
              </a:rPr>
              <a:t>What customers build on: the API, data models, settings, metrics and the dashboard.</a:t>
            </a:r>
            <a:endParaRPr lang="en-US" sz="1400" dirty="0"/>
          </a:p>
        </p:txBody>
      </p:sp>
      <p:sp>
        <p:nvSpPr>
          <p:cNvPr id="9" name="Shape 6"/>
          <p:cNvSpPr/>
          <p:nvPr/>
        </p:nvSpPr>
        <p:spPr>
          <a:xfrm>
            <a:off x="1400175" y="2698055"/>
            <a:ext cx="9391650" cy="859730"/>
          </a:xfrm>
          <a:prstGeom prst="roundRect">
            <a:avLst>
              <a:gd name="adj" fmla="val 8494"/>
            </a:avLst>
          </a:prstGeom>
          <a:solidFill>
            <a:srgbClr val="0B1F21"/>
          </a:solidFill>
          <a:ln w="6350">
            <a:solidFill>
              <a:srgbClr val="5FD3C4"/>
            </a:solidFill>
            <a:prstDash val="solid"/>
          </a:ln>
        </p:spPr>
      </p:sp>
      <p:sp>
        <p:nvSpPr>
          <p:cNvPr id="10" name="Shape 7"/>
          <p:cNvSpPr/>
          <p:nvPr/>
        </p:nvSpPr>
        <p:spPr>
          <a:xfrm>
            <a:off x="1609725" y="2902496"/>
            <a:ext cx="450850" cy="450850"/>
          </a:xfrm>
          <a:prstGeom prst="roundRect">
            <a:avLst>
              <a:gd name="adj" fmla="val 16197"/>
            </a:avLst>
          </a:prstGeom>
          <a:solidFill>
            <a:srgbClr val="0F2A2C"/>
          </a:solidFill>
          <a:ln w="6350">
            <a:solidFill>
              <a:srgbClr val="5FD3C4"/>
            </a:solidFill>
            <a:prstDash val="solid"/>
          </a:ln>
        </p:spPr>
      </p:sp>
      <p:pic>
        <p:nvPicPr>
          <p:cNvPr id="11" name="Image 1" descr="Code">    </p:cNvPr>
          <p:cNvPicPr>
            <a:picLocks noChangeAspect="1"/>
          </p:cNvPicPr>
          <p:nvPr/>
        </p:nvPicPr>
        <p:blipFill>
          <a:blip r:embed="rId2"/>
          <a:srcRect l="0" r="0" t="0" b="0"/>
          <a:stretch/>
        </p:blipFill>
        <p:spPr>
          <a:xfrm>
            <a:off x="1708150" y="3000921"/>
            <a:ext cx="254000" cy="254000"/>
          </a:xfrm>
          <a:prstGeom prst="rect">
            <a:avLst/>
          </a:prstGeom>
        </p:spPr>
      </p:pic>
      <p:sp>
        <p:nvSpPr>
          <p:cNvPr id="12" name="Text 8"/>
          <p:cNvSpPr/>
          <p:nvPr/>
        </p:nvSpPr>
        <p:spPr>
          <a:xfrm>
            <a:off x="2216150" y="3003451"/>
            <a:ext cx="1831340"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5FD3C4"/>
                </a:solidFill>
                <a:latin typeface="Archivo" pitchFamily="34" charset="0"/>
                <a:ea typeface="Archivo" pitchFamily="34" charset="-122"/>
                <a:cs typeface="Archivo" pitchFamily="34" charset="-120"/>
              </a:rPr>
              <a:t>PROTECTED</a:t>
            </a:r>
            <a:endParaRPr lang="en-US" sz="1400" dirty="0"/>
          </a:p>
        </p:txBody>
      </p:sp>
      <p:sp>
        <p:nvSpPr>
          <p:cNvPr id="13" name="Text 9"/>
          <p:cNvSpPr/>
          <p:nvPr/>
        </p:nvSpPr>
        <p:spPr>
          <a:xfrm>
            <a:off x="4146550" y="2879030"/>
            <a:ext cx="663206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4F7"/>
                </a:solidFill>
                <a:latin typeface="Manrope" pitchFamily="34" charset="0"/>
                <a:ea typeface="Manrope" pitchFamily="34" charset="-122"/>
                <a:cs typeface="Manrope" pitchFamily="34" charset="-120"/>
              </a:rPr>
              <a:t>Our tuned judgement, compiled: matcher, search planner, plate grammar, quality gates.</a:t>
            </a:r>
            <a:endParaRPr lang="en-US" sz="1400" dirty="0"/>
          </a:p>
        </p:txBody>
      </p:sp>
      <p:sp>
        <p:nvSpPr>
          <p:cNvPr id="14" name="Shape 10"/>
          <p:cNvSpPr/>
          <p:nvPr/>
        </p:nvSpPr>
        <p:spPr>
          <a:xfrm>
            <a:off x="1984375" y="3665736"/>
            <a:ext cx="8223250" cy="819150"/>
          </a:xfrm>
          <a:prstGeom prst="roundRect">
            <a:avLst>
              <a:gd name="adj" fmla="val 8915"/>
            </a:avLst>
          </a:prstGeom>
          <a:solidFill>
            <a:srgbClr val="121821"/>
          </a:solidFill>
          <a:ln w="6350">
            <a:solidFill>
              <a:srgbClr val="DCE2EA"/>
            </a:solidFill>
            <a:prstDash val="solid"/>
          </a:ln>
        </p:spPr>
      </p:sp>
      <p:sp>
        <p:nvSpPr>
          <p:cNvPr id="15" name="Shape 11"/>
          <p:cNvSpPr/>
          <p:nvPr/>
        </p:nvSpPr>
        <p:spPr>
          <a:xfrm>
            <a:off x="2193925" y="3849886"/>
            <a:ext cx="450850" cy="450850"/>
          </a:xfrm>
          <a:prstGeom prst="roundRect">
            <a:avLst>
              <a:gd name="adj" fmla="val 16197"/>
            </a:avLst>
          </a:prstGeom>
          <a:solidFill>
            <a:srgbClr val="1A222D"/>
          </a:solidFill>
          <a:ln w="6350">
            <a:solidFill>
              <a:srgbClr val="DCE2EA"/>
            </a:solidFill>
            <a:prstDash val="solid"/>
          </a:ln>
        </p:spPr>
      </p:sp>
      <p:pic>
        <p:nvPicPr>
          <p:cNvPr id="16" name="Image 2" descr="Lock">    </p:cNvPr>
          <p:cNvPicPr>
            <a:picLocks noChangeAspect="1"/>
          </p:cNvPicPr>
          <p:nvPr/>
        </p:nvPicPr>
        <p:blipFill>
          <a:blip r:embed="rId3"/>
          <a:srcRect l="0" r="0" t="0" b="0"/>
          <a:stretch/>
        </p:blipFill>
        <p:spPr>
          <a:xfrm>
            <a:off x="2292350" y="3948311"/>
            <a:ext cx="254000" cy="254000"/>
          </a:xfrm>
          <a:prstGeom prst="rect">
            <a:avLst/>
          </a:prstGeom>
        </p:spPr>
      </p:pic>
      <p:sp>
        <p:nvSpPr>
          <p:cNvPr id="17" name="Text 12"/>
          <p:cNvSpPr/>
          <p:nvPr/>
        </p:nvSpPr>
        <p:spPr>
          <a:xfrm>
            <a:off x="2800350" y="3950841"/>
            <a:ext cx="1831340"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F4F7"/>
                </a:solidFill>
                <a:latin typeface="Archivo" pitchFamily="34" charset="0"/>
                <a:ea typeface="Archivo" pitchFamily="34" charset="-122"/>
                <a:cs typeface="Archivo" pitchFamily="34" charset="-120"/>
              </a:rPr>
              <a:t>SEALED</a:t>
            </a:r>
            <a:endParaRPr lang="en-US" sz="1400" dirty="0"/>
          </a:p>
        </p:txBody>
      </p:sp>
      <p:sp>
        <p:nvSpPr>
          <p:cNvPr id="18" name="Text 13"/>
          <p:cNvSpPr/>
          <p:nvPr/>
        </p:nvSpPr>
        <p:spPr>
          <a:xfrm>
            <a:off x="4730750" y="3950841"/>
            <a:ext cx="542861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4F7"/>
                </a:solidFill>
                <a:latin typeface="Manrope" pitchFamily="34" charset="0"/>
                <a:ea typeface="Manrope" pitchFamily="34" charset="-122"/>
                <a:cs typeface="Manrope" pitchFamily="34" charset="-120"/>
              </a:rPr>
              <a:t>Model weights, opened only in memory.</a:t>
            </a:r>
            <a:endParaRPr lang="en-US" sz="1400" dirty="0"/>
          </a:p>
        </p:txBody>
      </p:sp>
      <p:pic>
        <p:nvPicPr>
          <p:cNvPr id="19" name="Image 3" descr="Settings">    </p:cNvPr>
          <p:cNvPicPr>
            <a:picLocks noChangeAspect="1"/>
          </p:cNvPicPr>
          <p:nvPr/>
        </p:nvPicPr>
        <p:blipFill>
          <a:blip r:embed="rId4"/>
          <a:srcRect l="0" r="0" t="0" b="0"/>
          <a:stretch/>
        </p:blipFill>
        <p:spPr>
          <a:xfrm>
            <a:off x="2982664" y="4696321"/>
            <a:ext cx="203200" cy="203200"/>
          </a:xfrm>
          <a:prstGeom prst="rect">
            <a:avLst/>
          </a:prstGeom>
        </p:spPr>
      </p:pic>
      <p:sp>
        <p:nvSpPr>
          <p:cNvPr id="20" name="Text 14"/>
          <p:cNvSpPr/>
          <p:nvPr/>
        </p:nvSpPr>
        <p:spPr>
          <a:xfrm>
            <a:off x="3262064" y="4691261"/>
            <a:ext cx="35063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A list in each service decides what is compiled</a:t>
            </a:r>
            <a:endParaRPr lang="en-US" sz="1200" dirty="0"/>
          </a:p>
        </p:txBody>
      </p:sp>
      <p:pic>
        <p:nvPicPr>
          <p:cNvPr id="21" name="Image 4" descr="CheckCircle">    </p:cNvPr>
          <p:cNvPicPr>
            <a:picLocks noChangeAspect="1"/>
          </p:cNvPicPr>
          <p:nvPr/>
        </p:nvPicPr>
        <p:blipFill>
          <a:blip r:embed="rId5"/>
          <a:srcRect l="0" r="0" t="0" b="0"/>
          <a:stretch/>
        </p:blipFill>
        <p:spPr>
          <a:xfrm>
            <a:off x="6768405" y="4696321"/>
            <a:ext cx="203200" cy="203200"/>
          </a:xfrm>
          <a:prstGeom prst="rect">
            <a:avLst/>
          </a:prstGeom>
        </p:spPr>
      </p:pic>
      <p:sp>
        <p:nvSpPr>
          <p:cNvPr id="22" name="Text 15"/>
          <p:cNvSpPr/>
          <p:nvPr/>
        </p:nvSpPr>
        <p:spPr>
          <a:xfrm>
            <a:off x="7047805" y="4691261"/>
            <a:ext cx="25938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The build check fails both ways</a:t>
            </a:r>
            <a:endParaRPr lang="en-US" sz="1200" dirty="0"/>
          </a:p>
        </p:txBody>
      </p:sp>
      <p:sp>
        <p:nvSpPr>
          <p:cNvPr id="23"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PRISM · How it works, and why · Promise P6 · Honest limit: it does not stop the root user of a licensed machine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4 · SERVICE BY SERVICE · VIDEO PATH</a:t>
            </a:r>
            <a:endParaRPr lang="en-US" sz="1200" dirty="0"/>
          </a:p>
        </p:txBody>
      </p:sp>
      <p:sp>
        <p:nvSpPr>
          <p:cNvPr id="3" name="Shape 1"/>
          <p:cNvSpPr/>
          <p:nvPr/>
        </p:nvSpPr>
        <p:spPr>
          <a:xfrm>
            <a:off x="815975" y="1232495"/>
            <a:ext cx="450850" cy="450850"/>
          </a:xfrm>
          <a:prstGeom prst="roundRect">
            <a:avLst>
              <a:gd name="adj" fmla="val 10563"/>
            </a:avLst>
          </a:prstGeom>
          <a:solidFill>
            <a:srgbClr val="0E1E21"/>
          </a:solidFill>
          <a:ln w="6350">
            <a:solidFill>
              <a:srgbClr val="1F3E3E"/>
            </a:solidFill>
            <a:prstDash val="solid"/>
          </a:ln>
        </p:spPr>
      </p:sp>
      <p:pic>
        <p:nvPicPr>
          <p:cNvPr id="4" name="Image 0" descr="Play">    </p:cNvPr>
          <p:cNvPicPr>
            <a:picLocks noChangeAspect="1"/>
          </p:cNvPicPr>
          <p:nvPr/>
        </p:nvPicPr>
        <p:blipFill>
          <a:blip r:embed="rId1"/>
          <a:srcRect l="0" r="0" t="0" b="0"/>
          <a:stretch/>
        </p:blipFill>
        <p:spPr>
          <a:xfrm>
            <a:off x="914400" y="1330920"/>
            <a:ext cx="254000" cy="254000"/>
          </a:xfrm>
          <a:prstGeom prst="rect">
            <a:avLst/>
          </a:prstGeom>
        </p:spPr>
      </p:pic>
      <p:sp>
        <p:nvSpPr>
          <p:cNvPr id="5" name="Text 2"/>
          <p:cNvSpPr/>
          <p:nvPr>
            <p:ph type="title"/>
          </p:nvPr>
        </p:nvSpPr>
        <p:spPr>
          <a:xfrm>
            <a:off x="1422400" y="1290290"/>
            <a:ext cx="10255504"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VIDEO PATH: </a:t>
            </a:r>
            <a:r>
              <a:rPr lang="en-US" sz="2400" b="1" i="0" spc="150" kern="0" dirty="0">
                <a:solidFill>
                  <a:srgbClr val="5FD3C4"/>
                </a:solidFill>
                <a:latin typeface="Archivo" pitchFamily="34" charset="0"/>
                <a:ea typeface="Archivo" pitchFamily="34" charset="-122"/>
                <a:cs typeface="Archivo" pitchFamily="34" charset="-120"/>
              </a:rPr>
              <a:t>ALWAYS ON SCREEN</a:t>
            </a:r>
            <a:endParaRPr lang="en-US" sz="2400" dirty="0"/>
          </a:p>
        </p:txBody>
      </p:sp>
      <p:sp>
        <p:nvSpPr>
          <p:cNvPr id="6" name="Shape 3"/>
          <p:cNvSpPr/>
          <p:nvPr/>
        </p:nvSpPr>
        <p:spPr>
          <a:xfrm>
            <a:off x="815975" y="1892895"/>
            <a:ext cx="3414167" cy="3090962"/>
          </a:xfrm>
          <a:prstGeom prst="roundRect">
            <a:avLst>
              <a:gd name="adj" fmla="val 2363"/>
            </a:avLst>
          </a:prstGeom>
          <a:solidFill>
            <a:srgbClr val="0B1018"/>
          </a:solidFill>
          <a:ln w="6350">
            <a:solidFill>
              <a:srgbClr val="1C2532"/>
            </a:solidFill>
            <a:prstDash val="solid"/>
          </a:ln>
        </p:spPr>
      </p:sp>
      <p:sp>
        <p:nvSpPr>
          <p:cNvPr id="7" name="Shape 4"/>
          <p:cNvSpPr/>
          <p:nvPr/>
        </p:nvSpPr>
        <p:spPr>
          <a:xfrm>
            <a:off x="1025525" y="2102445"/>
            <a:ext cx="349250" cy="349250"/>
          </a:xfrm>
          <a:prstGeom prst="roundRect">
            <a:avLst>
              <a:gd name="adj" fmla="val 17273"/>
            </a:avLst>
          </a:prstGeom>
          <a:solidFill>
            <a:srgbClr val="0E1E21"/>
          </a:solidFill>
          <a:ln w="6350">
            <a:solidFill>
              <a:srgbClr val="1F3E3E"/>
            </a:solidFill>
            <a:prstDash val="solid"/>
          </a:ln>
        </p:spPr>
      </p:sp>
      <p:pic>
        <p:nvPicPr>
          <p:cNvPr id="8" name="Image 1" descr="Lightning">    </p:cNvPr>
          <p:cNvPicPr>
            <a:picLocks noChangeAspect="1"/>
          </p:cNvPicPr>
          <p:nvPr/>
        </p:nvPicPr>
        <p:blipFill>
          <a:blip r:embed="rId2"/>
          <a:srcRect l="0" r="0" t="0" b="0"/>
          <a:stretch/>
        </p:blipFill>
        <p:spPr>
          <a:xfrm>
            <a:off x="1098550" y="2175470"/>
            <a:ext cx="203200" cy="203200"/>
          </a:xfrm>
          <a:prstGeom prst="rect">
            <a:avLst/>
          </a:prstGeom>
        </p:spPr>
      </p:pic>
      <p:sp>
        <p:nvSpPr>
          <p:cNvPr id="9" name="Text 5"/>
          <p:cNvSpPr/>
          <p:nvPr/>
        </p:nvSpPr>
        <p:spPr>
          <a:xfrm>
            <a:off x="1479550" y="2170410"/>
            <a:ext cx="262054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prism-npipe</a:t>
            </a:r>
            <a:endParaRPr lang="en-US" sz="1200" dirty="0"/>
          </a:p>
        </p:txBody>
      </p:sp>
      <p:sp>
        <p:nvSpPr>
          <p:cNvPr id="10" name="Text 6"/>
          <p:cNvSpPr/>
          <p:nvPr/>
        </p:nvSpPr>
        <p:spPr>
          <a:xfrm>
            <a:off x="1022350" y="2556470"/>
            <a:ext cx="3091459"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Every AI camera decoded once and shared with all the AI</a:t>
            </a:r>
            <a:endParaRPr lang="en-US" sz="1400" dirty="0"/>
          </a:p>
        </p:txBody>
      </p:sp>
      <p:pic>
        <p:nvPicPr>
          <p:cNvPr id="11" name="Image 2" descr="line">    </p:cNvPr>
          <p:cNvPicPr>
            <a:picLocks noChangeAspect="1"/>
          </p:cNvPicPr>
          <p:nvPr/>
        </p:nvPicPr>
        <p:blipFill>
          <a:blip r:embed="rId3"/>
          <a:srcRect l="0" r="0" t="-39" b="-39"/>
          <a:stretch/>
        </p:blipFill>
        <p:spPr>
          <a:xfrm>
            <a:off x="1022350" y="3120330"/>
            <a:ext cx="3001417" cy="6350"/>
          </a:xfrm>
          <a:prstGeom prst="rect">
            <a:avLst/>
          </a:prstGeom>
        </p:spPr>
      </p:pic>
      <p:sp>
        <p:nvSpPr>
          <p:cNvPr id="12" name="Text 7"/>
          <p:cNvSpPr/>
          <p:nvPr/>
        </p:nvSpPr>
        <p:spPr>
          <a:xfrm>
            <a:off x="1022350" y="322828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13" name="Text 8"/>
          <p:cNvSpPr/>
          <p:nvPr/>
        </p:nvSpPr>
        <p:spPr>
          <a:xfrm>
            <a:off x="1022350" y="354320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About 4 s of full-resolution frames kept in memory</a:t>
            </a:r>
            <a:endParaRPr lang="en-US" sz="1200" dirty="0"/>
          </a:p>
        </p:txBody>
      </p:sp>
      <p:sp>
        <p:nvSpPr>
          <p:cNvPr id="14" name="Shape 9"/>
          <p:cNvSpPr/>
          <p:nvPr/>
        </p:nvSpPr>
        <p:spPr>
          <a:xfrm>
            <a:off x="1022350" y="4173041"/>
            <a:ext cx="3001417" cy="604441"/>
          </a:xfrm>
          <a:prstGeom prst="roundRect">
            <a:avLst>
              <a:gd name="adj" fmla="val 8404"/>
            </a:avLst>
          </a:prstGeom>
          <a:solidFill>
            <a:srgbClr val="130F27"/>
          </a:solidFill>
          <a:ln/>
        </p:spPr>
      </p:sp>
      <p:pic>
        <p:nvPicPr>
          <p:cNvPr id="15" name="Image 3" descr="Warning">    </p:cNvPr>
          <p:cNvPicPr>
            <a:picLocks noChangeAspect="1"/>
          </p:cNvPicPr>
          <p:nvPr/>
        </p:nvPicPr>
        <p:blipFill>
          <a:blip r:embed="rId4"/>
          <a:srcRect l="0" r="0" t="0" b="0"/>
          <a:stretch/>
        </p:blipFill>
        <p:spPr>
          <a:xfrm>
            <a:off x="1123950" y="4261941"/>
            <a:ext cx="177800" cy="177800"/>
          </a:xfrm>
          <a:prstGeom prst="rect">
            <a:avLst/>
          </a:prstGeom>
        </p:spPr>
      </p:pic>
      <p:sp>
        <p:nvSpPr>
          <p:cNvPr id="16" name="Text 10"/>
          <p:cNvSpPr/>
          <p:nvPr/>
        </p:nvSpPr>
        <p:spPr>
          <a:xfrm>
            <a:off x="1377950" y="4261941"/>
            <a:ext cx="262054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Past the encoder cap, a camera shows the placeholder</a:t>
            </a:r>
            <a:endParaRPr lang="en-US" sz="1200" dirty="0"/>
          </a:p>
        </p:txBody>
      </p:sp>
      <p:sp>
        <p:nvSpPr>
          <p:cNvPr id="17" name="Shape 11"/>
          <p:cNvSpPr/>
          <p:nvPr/>
        </p:nvSpPr>
        <p:spPr>
          <a:xfrm>
            <a:off x="4388892" y="1892895"/>
            <a:ext cx="3414216" cy="3090962"/>
          </a:xfrm>
          <a:prstGeom prst="roundRect">
            <a:avLst>
              <a:gd name="adj" fmla="val 2363"/>
            </a:avLst>
          </a:prstGeom>
          <a:solidFill>
            <a:srgbClr val="0B1018"/>
          </a:solidFill>
          <a:ln w="6350">
            <a:solidFill>
              <a:srgbClr val="1C2532"/>
            </a:solidFill>
            <a:prstDash val="solid"/>
          </a:ln>
        </p:spPr>
      </p:sp>
      <p:sp>
        <p:nvSpPr>
          <p:cNvPr id="18" name="Shape 12"/>
          <p:cNvSpPr/>
          <p:nvPr/>
        </p:nvSpPr>
        <p:spPr>
          <a:xfrm>
            <a:off x="4598442" y="2102445"/>
            <a:ext cx="349250" cy="349250"/>
          </a:xfrm>
          <a:prstGeom prst="roundRect">
            <a:avLst>
              <a:gd name="adj" fmla="val 17273"/>
            </a:avLst>
          </a:prstGeom>
          <a:solidFill>
            <a:srgbClr val="0E1E21"/>
          </a:solidFill>
          <a:ln w="6350">
            <a:solidFill>
              <a:srgbClr val="1F3E3E"/>
            </a:solidFill>
            <a:prstDash val="solid"/>
          </a:ln>
        </p:spPr>
      </p:sp>
      <p:pic>
        <p:nvPicPr>
          <p:cNvPr id="19" name="Image 4" descr="Play">    </p:cNvPr>
          <p:cNvPicPr>
            <a:picLocks noChangeAspect="1"/>
          </p:cNvPicPr>
          <p:nvPr/>
        </p:nvPicPr>
        <p:blipFill>
          <a:blip r:embed="rId5"/>
          <a:srcRect l="0" r="0" t="0" b="0"/>
          <a:stretch/>
        </p:blipFill>
        <p:spPr>
          <a:xfrm>
            <a:off x="4671467" y="2175470"/>
            <a:ext cx="203200" cy="203200"/>
          </a:xfrm>
          <a:prstGeom prst="rect">
            <a:avLst/>
          </a:prstGeom>
        </p:spPr>
      </p:pic>
      <p:sp>
        <p:nvSpPr>
          <p:cNvPr id="20" name="Text 13"/>
          <p:cNvSpPr/>
          <p:nvPr/>
        </p:nvSpPr>
        <p:spPr>
          <a:xfrm>
            <a:off x="5052467" y="2170410"/>
            <a:ext cx="262059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prism-stream-sink</a:t>
            </a:r>
            <a:endParaRPr lang="en-US" sz="1200" dirty="0"/>
          </a:p>
        </p:txBody>
      </p:sp>
      <p:sp>
        <p:nvSpPr>
          <p:cNvPr id="21" name="Text 14"/>
          <p:cNvSpPr/>
          <p:nvPr/>
        </p:nvSpPr>
        <p:spPr>
          <a:xfrm>
            <a:off x="4595267" y="2556470"/>
            <a:ext cx="309151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A live view that never goes dark</a:t>
            </a:r>
            <a:endParaRPr lang="en-US" sz="1400" dirty="0"/>
          </a:p>
        </p:txBody>
      </p:sp>
      <p:pic>
        <p:nvPicPr>
          <p:cNvPr id="22" name="Image 5" descr="line">    </p:cNvPr>
          <p:cNvPicPr>
            <a:picLocks noChangeAspect="1"/>
          </p:cNvPicPr>
          <p:nvPr/>
        </p:nvPicPr>
        <p:blipFill>
          <a:blip r:embed="rId6"/>
          <a:srcRect l="0" r="0" t="-32" b="-32"/>
          <a:stretch/>
        </p:blipFill>
        <p:spPr>
          <a:xfrm>
            <a:off x="4595267" y="2889200"/>
            <a:ext cx="3001466" cy="6350"/>
          </a:xfrm>
          <a:prstGeom prst="rect">
            <a:avLst/>
          </a:prstGeom>
        </p:spPr>
      </p:pic>
      <p:sp>
        <p:nvSpPr>
          <p:cNvPr id="23" name="Text 15"/>
          <p:cNvSpPr/>
          <p:nvPr/>
        </p:nvSpPr>
        <p:spPr>
          <a:xfrm>
            <a:off x="4595267" y="2997150"/>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24" name="Text 16"/>
          <p:cNvSpPr/>
          <p:nvPr/>
        </p:nvSpPr>
        <p:spPr>
          <a:xfrm>
            <a:off x="4595267" y="331207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Fills stalls with a placeholder; never re-encodes</a:t>
            </a:r>
            <a:endParaRPr lang="en-US" sz="1200" dirty="0"/>
          </a:p>
        </p:txBody>
      </p:sp>
      <p:sp>
        <p:nvSpPr>
          <p:cNvPr id="25" name="Shape 17"/>
          <p:cNvSpPr/>
          <p:nvPr/>
        </p:nvSpPr>
        <p:spPr>
          <a:xfrm>
            <a:off x="4595267" y="4173041"/>
            <a:ext cx="3001466" cy="604441"/>
          </a:xfrm>
          <a:prstGeom prst="roundRect">
            <a:avLst>
              <a:gd name="adj" fmla="val 8404"/>
            </a:avLst>
          </a:prstGeom>
          <a:solidFill>
            <a:srgbClr val="130F27"/>
          </a:solidFill>
          <a:ln/>
        </p:spPr>
      </p:sp>
      <p:pic>
        <p:nvPicPr>
          <p:cNvPr id="26" name="Image 6" descr="Warning">    </p:cNvPr>
          <p:cNvPicPr>
            <a:picLocks noChangeAspect="1"/>
          </p:cNvPicPr>
          <p:nvPr/>
        </p:nvPicPr>
        <p:blipFill>
          <a:blip r:embed="rId7"/>
          <a:srcRect l="0" r="0" t="0" b="0"/>
          <a:stretch/>
        </p:blipFill>
        <p:spPr>
          <a:xfrm>
            <a:off x="4696867" y="4261941"/>
            <a:ext cx="177800" cy="177800"/>
          </a:xfrm>
          <a:prstGeom prst="rect">
            <a:avLst/>
          </a:prstGeom>
        </p:spPr>
      </p:pic>
      <p:sp>
        <p:nvSpPr>
          <p:cNvPr id="27" name="Text 18"/>
          <p:cNvSpPr/>
          <p:nvPr/>
        </p:nvSpPr>
        <p:spPr>
          <a:xfrm>
            <a:off x="4950867" y="4261941"/>
            <a:ext cx="26205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It can’t draw overlays; boxes are drawn upstream</a:t>
            </a:r>
            <a:endParaRPr lang="en-US" sz="1200" dirty="0"/>
          </a:p>
        </p:txBody>
      </p:sp>
      <p:sp>
        <p:nvSpPr>
          <p:cNvPr id="28" name="Shape 19"/>
          <p:cNvSpPr/>
          <p:nvPr/>
        </p:nvSpPr>
        <p:spPr>
          <a:xfrm>
            <a:off x="7961858" y="1892895"/>
            <a:ext cx="3414167" cy="3090962"/>
          </a:xfrm>
          <a:prstGeom prst="roundRect">
            <a:avLst>
              <a:gd name="adj" fmla="val 2363"/>
            </a:avLst>
          </a:prstGeom>
          <a:solidFill>
            <a:srgbClr val="0B1018"/>
          </a:solidFill>
          <a:ln w="6350">
            <a:solidFill>
              <a:srgbClr val="1C2532"/>
            </a:solidFill>
            <a:prstDash val="solid"/>
          </a:ln>
        </p:spPr>
      </p:sp>
      <p:sp>
        <p:nvSpPr>
          <p:cNvPr id="29" name="Shape 20"/>
          <p:cNvSpPr/>
          <p:nvPr/>
        </p:nvSpPr>
        <p:spPr>
          <a:xfrm>
            <a:off x="8171408" y="2102445"/>
            <a:ext cx="349250" cy="349250"/>
          </a:xfrm>
          <a:prstGeom prst="roundRect">
            <a:avLst>
              <a:gd name="adj" fmla="val 17273"/>
            </a:avLst>
          </a:prstGeom>
          <a:solidFill>
            <a:srgbClr val="0E1E21"/>
          </a:solidFill>
          <a:ln w="6350">
            <a:solidFill>
              <a:srgbClr val="1F3E3E"/>
            </a:solidFill>
            <a:prstDash val="solid"/>
          </a:ln>
        </p:spPr>
      </p:sp>
      <p:pic>
        <p:nvPicPr>
          <p:cNvPr id="30" name="Image 7" descr="Globe">    </p:cNvPr>
          <p:cNvPicPr>
            <a:picLocks noChangeAspect="1"/>
          </p:cNvPicPr>
          <p:nvPr/>
        </p:nvPicPr>
        <p:blipFill>
          <a:blip r:embed="rId8"/>
          <a:srcRect l="0" r="0" t="0" b="0"/>
          <a:stretch/>
        </p:blipFill>
        <p:spPr>
          <a:xfrm>
            <a:off x="8244433" y="2175470"/>
            <a:ext cx="203200" cy="203200"/>
          </a:xfrm>
          <a:prstGeom prst="rect">
            <a:avLst/>
          </a:prstGeom>
        </p:spPr>
      </p:pic>
      <p:sp>
        <p:nvSpPr>
          <p:cNvPr id="31" name="Text 21"/>
          <p:cNvSpPr/>
          <p:nvPr/>
        </p:nvSpPr>
        <p:spPr>
          <a:xfrm>
            <a:off x="8625433" y="2170410"/>
            <a:ext cx="262054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MediaMTX</a:t>
            </a:r>
            <a:endParaRPr lang="en-US" sz="1200" dirty="0"/>
          </a:p>
        </p:txBody>
      </p:sp>
      <p:sp>
        <p:nvSpPr>
          <p:cNvPr id="32" name="Text 22"/>
          <p:cNvSpPr/>
          <p:nvPr/>
        </p:nvSpPr>
        <p:spPr>
          <a:xfrm>
            <a:off x="8168233" y="2556470"/>
            <a:ext cx="3091459"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Live view in any browser, and recording of every camera</a:t>
            </a:r>
            <a:endParaRPr lang="en-US" sz="1400" dirty="0"/>
          </a:p>
        </p:txBody>
      </p:sp>
      <p:pic>
        <p:nvPicPr>
          <p:cNvPr id="33" name="Image 8" descr="line">    </p:cNvPr>
          <p:cNvPicPr>
            <a:picLocks noChangeAspect="1"/>
          </p:cNvPicPr>
          <p:nvPr/>
        </p:nvPicPr>
        <p:blipFill>
          <a:blip r:embed="rId9"/>
          <a:srcRect l="0" r="0" t="-39" b="-39"/>
          <a:stretch/>
        </p:blipFill>
        <p:spPr>
          <a:xfrm>
            <a:off x="8168233" y="3120330"/>
            <a:ext cx="3001417" cy="6350"/>
          </a:xfrm>
          <a:prstGeom prst="rect">
            <a:avLst/>
          </a:prstGeom>
        </p:spPr>
      </p:pic>
      <p:sp>
        <p:nvSpPr>
          <p:cNvPr id="34" name="Text 23"/>
          <p:cNvSpPr/>
          <p:nvPr/>
        </p:nvSpPr>
        <p:spPr>
          <a:xfrm>
            <a:off x="8168233" y="322828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35" name="Text 24"/>
          <p:cNvSpPr/>
          <p:nvPr/>
        </p:nvSpPr>
        <p:spPr>
          <a:xfrm>
            <a:off x="8168233" y="354320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Relays main and sub streams; serves WebRTC, HLS, RTSP</a:t>
            </a:r>
            <a:endParaRPr lang="en-US" sz="1200" dirty="0"/>
          </a:p>
        </p:txBody>
      </p:sp>
      <p:sp>
        <p:nvSpPr>
          <p:cNvPr id="36" name="Shape 25"/>
          <p:cNvSpPr/>
          <p:nvPr/>
        </p:nvSpPr>
        <p:spPr>
          <a:xfrm>
            <a:off x="8168233" y="4173041"/>
            <a:ext cx="3001417" cy="604441"/>
          </a:xfrm>
          <a:prstGeom prst="roundRect">
            <a:avLst>
              <a:gd name="adj" fmla="val 8404"/>
            </a:avLst>
          </a:prstGeom>
          <a:solidFill>
            <a:srgbClr val="130F27"/>
          </a:solidFill>
          <a:ln/>
        </p:spPr>
      </p:sp>
      <p:pic>
        <p:nvPicPr>
          <p:cNvPr id="37" name="Image 9" descr="Warning">    </p:cNvPr>
          <p:cNvPicPr>
            <a:picLocks noChangeAspect="1"/>
          </p:cNvPicPr>
          <p:nvPr/>
        </p:nvPicPr>
        <p:blipFill>
          <a:blip r:embed="rId10"/>
          <a:srcRect l="0" r="0" t="0" b="0"/>
          <a:stretch/>
        </p:blipFill>
        <p:spPr>
          <a:xfrm>
            <a:off x="8269833" y="4261941"/>
            <a:ext cx="177800" cy="177800"/>
          </a:xfrm>
          <a:prstGeom prst="rect">
            <a:avLst/>
          </a:prstGeom>
        </p:spPr>
      </p:pic>
      <p:sp>
        <p:nvSpPr>
          <p:cNvPr id="38" name="Text 26"/>
          <p:cNvSpPr/>
          <p:nvPr/>
        </p:nvSpPr>
        <p:spPr>
          <a:xfrm>
            <a:off x="8523833" y="4261941"/>
            <a:ext cx="262054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Cameras cap sessions, so everything reads the relay</a:t>
            </a:r>
            <a:endParaRPr lang="en-US" sz="1200" dirty="0"/>
          </a:p>
        </p:txBody>
      </p:sp>
      <p:sp>
        <p:nvSpPr>
          <p:cNvPr id="39"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D3C4"/>
                </a:solidFill>
                <a:latin typeface="Manrope" pitchFamily="34" charset="0"/>
                <a:ea typeface="Manrope" pitchFamily="34" charset="-122"/>
                <a:cs typeface="Manrope" pitchFamily="34" charset="-120"/>
              </a:rPr>
              <a:t>Product view:</a:t>
            </a:r>
            <a:r>
              <a:rPr lang="en-US" sz="1200" dirty="0">
                <a:solidFill>
                  <a:srgbClr val="7D8696"/>
                </a:solidFill>
                <a:latin typeface="Manrope" pitchFamily="34" charset="0"/>
                <a:ea typeface="Manrope" pitchFamily="34" charset="-122"/>
                <a:cs typeface="Manrope" pitchFamily="34" charset="-120"/>
              </a:rPr>
              <a:t> what a customer notices first when it fails, so it only moves pictures.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4 · SERVICE BY SERVICE · DETECTION</a:t>
            </a:r>
            <a:endParaRPr lang="en-US" sz="1200" dirty="0"/>
          </a:p>
        </p:txBody>
      </p:sp>
      <p:sp>
        <p:nvSpPr>
          <p:cNvPr id="3" name="Shape 1"/>
          <p:cNvSpPr/>
          <p:nvPr/>
        </p:nvSpPr>
        <p:spPr>
          <a:xfrm>
            <a:off x="815975" y="1232495"/>
            <a:ext cx="450850" cy="450850"/>
          </a:xfrm>
          <a:prstGeom prst="roundRect">
            <a:avLst>
              <a:gd name="adj" fmla="val 10563"/>
            </a:avLst>
          </a:prstGeom>
          <a:solidFill>
            <a:srgbClr val="0E1E21"/>
          </a:solidFill>
          <a:ln w="6350">
            <a:solidFill>
              <a:srgbClr val="1F3E3E"/>
            </a:solidFill>
            <a:prstDash val="solid"/>
          </a:ln>
        </p:spPr>
      </p:sp>
      <p:pic>
        <p:nvPicPr>
          <p:cNvPr id="4" name="Image 0" descr="Activity">    </p:cNvPr>
          <p:cNvPicPr>
            <a:picLocks noChangeAspect="1"/>
          </p:cNvPicPr>
          <p:nvPr/>
        </p:nvPicPr>
        <p:blipFill>
          <a:blip r:embed="rId1"/>
          <a:srcRect l="0" r="0" t="0" b="0"/>
          <a:stretch/>
        </p:blipFill>
        <p:spPr>
          <a:xfrm>
            <a:off x="914400" y="1330920"/>
            <a:ext cx="254000" cy="254000"/>
          </a:xfrm>
          <a:prstGeom prst="rect">
            <a:avLst/>
          </a:prstGeom>
        </p:spPr>
      </p:pic>
      <p:sp>
        <p:nvSpPr>
          <p:cNvPr id="5" name="Text 2"/>
          <p:cNvSpPr/>
          <p:nvPr>
            <p:ph type="title"/>
          </p:nvPr>
        </p:nvSpPr>
        <p:spPr>
          <a:xfrm>
            <a:off x="1422400" y="1290290"/>
            <a:ext cx="10255504"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DETECTION: </a:t>
            </a:r>
            <a:r>
              <a:rPr lang="en-US" sz="2400" b="1" i="0" spc="150" kern="0" dirty="0">
                <a:solidFill>
                  <a:srgbClr val="5FD3C4"/>
                </a:solidFill>
                <a:latin typeface="Archivo" pitchFamily="34" charset="0"/>
                <a:ea typeface="Archivo" pitchFamily="34" charset="-122"/>
                <a:cs typeface="Archivo" pitchFamily="34" charset="-120"/>
              </a:rPr>
              <a:t>THE MOMENT IT APPEARS</a:t>
            </a:r>
            <a:endParaRPr lang="en-US" sz="2400" dirty="0"/>
          </a:p>
        </p:txBody>
      </p:sp>
      <p:sp>
        <p:nvSpPr>
          <p:cNvPr id="6" name="Shape 3"/>
          <p:cNvSpPr/>
          <p:nvPr/>
        </p:nvSpPr>
        <p:spPr>
          <a:xfrm>
            <a:off x="815975" y="1892895"/>
            <a:ext cx="3414167" cy="3090962"/>
          </a:xfrm>
          <a:prstGeom prst="roundRect">
            <a:avLst>
              <a:gd name="adj" fmla="val 2363"/>
            </a:avLst>
          </a:prstGeom>
          <a:solidFill>
            <a:srgbClr val="0B1018"/>
          </a:solidFill>
          <a:ln w="6350">
            <a:solidFill>
              <a:srgbClr val="1C2532"/>
            </a:solidFill>
            <a:prstDash val="solid"/>
          </a:ln>
        </p:spPr>
      </p:sp>
      <p:sp>
        <p:nvSpPr>
          <p:cNvPr id="7" name="Shape 4"/>
          <p:cNvSpPr/>
          <p:nvPr/>
        </p:nvSpPr>
        <p:spPr>
          <a:xfrm>
            <a:off x="1025525" y="2102445"/>
            <a:ext cx="349250" cy="349250"/>
          </a:xfrm>
          <a:prstGeom prst="roundRect">
            <a:avLst>
              <a:gd name="adj" fmla="val 17273"/>
            </a:avLst>
          </a:prstGeom>
          <a:solidFill>
            <a:srgbClr val="0E1E21"/>
          </a:solidFill>
          <a:ln w="6350">
            <a:solidFill>
              <a:srgbClr val="1F3E3E"/>
            </a:solidFill>
            <a:prstDash val="solid"/>
          </a:ln>
        </p:spPr>
      </p:sp>
      <p:pic>
        <p:nvPicPr>
          <p:cNvPr id="8" name="Image 1" descr="Search">    </p:cNvPr>
          <p:cNvPicPr>
            <a:picLocks noChangeAspect="1"/>
          </p:cNvPicPr>
          <p:nvPr/>
        </p:nvPicPr>
        <p:blipFill>
          <a:blip r:embed="rId2"/>
          <a:srcRect l="0" r="0" t="0" b="0"/>
          <a:stretch/>
        </p:blipFill>
        <p:spPr>
          <a:xfrm>
            <a:off x="1098550" y="2175470"/>
            <a:ext cx="203200" cy="203200"/>
          </a:xfrm>
          <a:prstGeom prst="rect">
            <a:avLst/>
          </a:prstGeom>
        </p:spPr>
      </p:pic>
      <p:sp>
        <p:nvSpPr>
          <p:cNvPr id="9" name="Text 5"/>
          <p:cNvSpPr/>
          <p:nvPr/>
        </p:nvSpPr>
        <p:spPr>
          <a:xfrm>
            <a:off x="1479550" y="2170410"/>
            <a:ext cx="262054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prism-fdet</a:t>
            </a:r>
            <a:endParaRPr lang="en-US" sz="1200" dirty="0"/>
          </a:p>
        </p:txBody>
      </p:sp>
      <p:sp>
        <p:nvSpPr>
          <p:cNvPr id="10" name="Text 6"/>
          <p:cNvSpPr/>
          <p:nvPr/>
        </p:nvSpPr>
        <p:spPr>
          <a:xfrm>
            <a:off x="1022350" y="2556470"/>
            <a:ext cx="3091459"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A box on every face the moment it appears</a:t>
            </a:r>
            <a:endParaRPr lang="en-US" sz="1400" dirty="0"/>
          </a:p>
        </p:txBody>
      </p:sp>
      <p:pic>
        <p:nvPicPr>
          <p:cNvPr id="11" name="Image 2" descr="line">    </p:cNvPr>
          <p:cNvPicPr>
            <a:picLocks noChangeAspect="1"/>
          </p:cNvPicPr>
          <p:nvPr/>
        </p:nvPicPr>
        <p:blipFill>
          <a:blip r:embed="rId3"/>
          <a:srcRect l="0" r="0" t="-39" b="-39"/>
          <a:stretch/>
        </p:blipFill>
        <p:spPr>
          <a:xfrm>
            <a:off x="1022350" y="3120330"/>
            <a:ext cx="3001417" cy="6350"/>
          </a:xfrm>
          <a:prstGeom prst="rect">
            <a:avLst/>
          </a:prstGeom>
        </p:spPr>
      </p:pic>
      <p:sp>
        <p:nvSpPr>
          <p:cNvPr id="12" name="Text 7"/>
          <p:cNvSpPr/>
          <p:nvPr/>
        </p:nvSpPr>
        <p:spPr>
          <a:xfrm>
            <a:off x="1022350" y="322828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13" name="Text 8"/>
          <p:cNvSpPr/>
          <p:nvPr/>
        </p:nvSpPr>
        <p:spPr>
          <a:xfrm>
            <a:off x="1022350" y="354320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One engine for all cameras: 8 at today’s default</a:t>
            </a:r>
            <a:endParaRPr lang="en-US" sz="1200" dirty="0"/>
          </a:p>
        </p:txBody>
      </p:sp>
      <p:sp>
        <p:nvSpPr>
          <p:cNvPr id="14" name="Shape 9"/>
          <p:cNvSpPr/>
          <p:nvPr/>
        </p:nvSpPr>
        <p:spPr>
          <a:xfrm>
            <a:off x="1022350" y="4173041"/>
            <a:ext cx="3001417" cy="604441"/>
          </a:xfrm>
          <a:prstGeom prst="roundRect">
            <a:avLst>
              <a:gd name="adj" fmla="val 8404"/>
            </a:avLst>
          </a:prstGeom>
          <a:solidFill>
            <a:srgbClr val="130F27"/>
          </a:solidFill>
          <a:ln/>
        </p:spPr>
      </p:sp>
      <p:pic>
        <p:nvPicPr>
          <p:cNvPr id="15" name="Image 3" descr="Warning">    </p:cNvPr>
          <p:cNvPicPr>
            <a:picLocks noChangeAspect="1"/>
          </p:cNvPicPr>
          <p:nvPr/>
        </p:nvPicPr>
        <p:blipFill>
          <a:blip r:embed="rId4"/>
          <a:srcRect l="0" r="0" t="0" b="0"/>
          <a:stretch/>
        </p:blipFill>
        <p:spPr>
          <a:xfrm>
            <a:off x="1123950" y="4261941"/>
            <a:ext cx="177800" cy="177800"/>
          </a:xfrm>
          <a:prstGeom prst="rect">
            <a:avLst/>
          </a:prstGeom>
        </p:spPr>
      </p:pic>
      <p:sp>
        <p:nvSpPr>
          <p:cNvPr id="16" name="Text 10"/>
          <p:cNvSpPr/>
          <p:nvPr/>
        </p:nvSpPr>
        <p:spPr>
          <a:xfrm>
            <a:off x="1377950" y="4261941"/>
            <a:ext cx="262054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Camera 9 gets video, no boxes and no error</a:t>
            </a:r>
            <a:endParaRPr lang="en-US" sz="1200" dirty="0"/>
          </a:p>
        </p:txBody>
      </p:sp>
      <p:sp>
        <p:nvSpPr>
          <p:cNvPr id="17" name="Shape 11"/>
          <p:cNvSpPr/>
          <p:nvPr/>
        </p:nvSpPr>
        <p:spPr>
          <a:xfrm>
            <a:off x="4388892" y="1892895"/>
            <a:ext cx="3414216" cy="3090962"/>
          </a:xfrm>
          <a:prstGeom prst="roundRect">
            <a:avLst>
              <a:gd name="adj" fmla="val 2363"/>
            </a:avLst>
          </a:prstGeom>
          <a:solidFill>
            <a:srgbClr val="0B1018"/>
          </a:solidFill>
          <a:ln w="6350">
            <a:solidFill>
              <a:srgbClr val="1C2532"/>
            </a:solidFill>
            <a:prstDash val="solid"/>
          </a:ln>
        </p:spPr>
      </p:sp>
      <p:sp>
        <p:nvSpPr>
          <p:cNvPr id="18" name="Shape 12"/>
          <p:cNvSpPr/>
          <p:nvPr/>
        </p:nvSpPr>
        <p:spPr>
          <a:xfrm>
            <a:off x="4598442" y="2102445"/>
            <a:ext cx="349250" cy="349250"/>
          </a:xfrm>
          <a:prstGeom prst="roundRect">
            <a:avLst>
              <a:gd name="adj" fmla="val 17273"/>
            </a:avLst>
          </a:prstGeom>
          <a:solidFill>
            <a:srgbClr val="0E1E21"/>
          </a:solidFill>
          <a:ln w="6350">
            <a:solidFill>
              <a:srgbClr val="1F3E3E"/>
            </a:solidFill>
            <a:prstDash val="solid"/>
          </a:ln>
        </p:spPr>
      </p:sp>
      <p:pic>
        <p:nvPicPr>
          <p:cNvPr id="19" name="Image 4" descr="Activity">    </p:cNvPr>
          <p:cNvPicPr>
            <a:picLocks noChangeAspect="1"/>
          </p:cNvPicPr>
          <p:nvPr/>
        </p:nvPicPr>
        <p:blipFill>
          <a:blip r:embed="rId5"/>
          <a:srcRect l="0" r="0" t="0" b="0"/>
          <a:stretch/>
        </p:blipFill>
        <p:spPr>
          <a:xfrm>
            <a:off x="4671467" y="2175470"/>
            <a:ext cx="203200" cy="203200"/>
          </a:xfrm>
          <a:prstGeom prst="rect">
            <a:avLst/>
          </a:prstGeom>
        </p:spPr>
      </p:pic>
      <p:sp>
        <p:nvSpPr>
          <p:cNvPr id="20" name="Text 13"/>
          <p:cNvSpPr/>
          <p:nvPr/>
        </p:nvSpPr>
        <p:spPr>
          <a:xfrm>
            <a:off x="5052467" y="2170410"/>
            <a:ext cx="262059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perception: motion, objects</a:t>
            </a:r>
            <a:endParaRPr lang="en-US" sz="1200" dirty="0"/>
          </a:p>
        </p:txBody>
      </p:sp>
      <p:sp>
        <p:nvSpPr>
          <p:cNvPr id="21" name="Text 14"/>
          <p:cNvSpPr/>
          <p:nvPr/>
        </p:nvSpPr>
        <p:spPr>
          <a:xfrm>
            <a:off x="4595267" y="2556470"/>
            <a:ext cx="309151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People and vehicles found, and tiles to scrub</a:t>
            </a:r>
            <a:endParaRPr lang="en-US" sz="1400" dirty="0"/>
          </a:p>
        </p:txBody>
      </p:sp>
      <p:pic>
        <p:nvPicPr>
          <p:cNvPr id="22" name="Image 5" descr="line">    </p:cNvPr>
          <p:cNvPicPr>
            <a:picLocks noChangeAspect="1"/>
          </p:cNvPicPr>
          <p:nvPr/>
        </p:nvPicPr>
        <p:blipFill>
          <a:blip r:embed="rId6"/>
          <a:srcRect l="0" r="0" t="-32" b="-32"/>
          <a:stretch/>
        </p:blipFill>
        <p:spPr>
          <a:xfrm>
            <a:off x="4595267" y="3120330"/>
            <a:ext cx="3001466" cy="6350"/>
          </a:xfrm>
          <a:prstGeom prst="rect">
            <a:avLst/>
          </a:prstGeom>
        </p:spPr>
      </p:pic>
      <p:sp>
        <p:nvSpPr>
          <p:cNvPr id="23" name="Text 15"/>
          <p:cNvSpPr/>
          <p:nvPr/>
        </p:nvSpPr>
        <p:spPr>
          <a:xfrm>
            <a:off x="4595267" y="3228280"/>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24" name="Text 16"/>
          <p:cNvSpPr/>
          <p:nvPr/>
        </p:nvSpPr>
        <p:spPr>
          <a:xfrm>
            <a:off x="4595267" y="354320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Heavy detection runs only where something moves</a:t>
            </a:r>
            <a:endParaRPr lang="en-US" sz="1200" dirty="0"/>
          </a:p>
        </p:txBody>
      </p:sp>
      <p:sp>
        <p:nvSpPr>
          <p:cNvPr id="25" name="Shape 17"/>
          <p:cNvSpPr/>
          <p:nvPr/>
        </p:nvSpPr>
        <p:spPr>
          <a:xfrm>
            <a:off x="4595267" y="4173041"/>
            <a:ext cx="3001466" cy="604441"/>
          </a:xfrm>
          <a:prstGeom prst="roundRect">
            <a:avLst>
              <a:gd name="adj" fmla="val 8404"/>
            </a:avLst>
          </a:prstGeom>
          <a:solidFill>
            <a:srgbClr val="130F27"/>
          </a:solidFill>
          <a:ln/>
        </p:spPr>
      </p:sp>
      <p:pic>
        <p:nvPicPr>
          <p:cNvPr id="26" name="Image 6" descr="Warning">    </p:cNvPr>
          <p:cNvPicPr>
            <a:picLocks noChangeAspect="1"/>
          </p:cNvPicPr>
          <p:nvPr/>
        </p:nvPicPr>
        <p:blipFill>
          <a:blip r:embed="rId7"/>
          <a:srcRect l="0" r="0" t="0" b="0"/>
          <a:stretch/>
        </p:blipFill>
        <p:spPr>
          <a:xfrm>
            <a:off x="4696867" y="4261941"/>
            <a:ext cx="177800" cy="177800"/>
          </a:xfrm>
          <a:prstGeom prst="rect">
            <a:avLst/>
          </a:prstGeom>
        </p:spPr>
      </p:pic>
      <p:sp>
        <p:nvSpPr>
          <p:cNvPr id="27" name="Text 18"/>
          <p:cNvSpPr/>
          <p:nvPr/>
        </p:nvSpPr>
        <p:spPr>
          <a:xfrm>
            <a:off x="4950867" y="4261941"/>
            <a:ext cx="26205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One instance by design; first start can take minutes</a:t>
            </a:r>
            <a:endParaRPr lang="en-US" sz="1200" dirty="0"/>
          </a:p>
        </p:txBody>
      </p:sp>
      <p:sp>
        <p:nvSpPr>
          <p:cNvPr id="28" name="Shape 19"/>
          <p:cNvSpPr/>
          <p:nvPr/>
        </p:nvSpPr>
        <p:spPr>
          <a:xfrm>
            <a:off x="7961858" y="1892895"/>
            <a:ext cx="3414167" cy="3090962"/>
          </a:xfrm>
          <a:prstGeom prst="roundRect">
            <a:avLst>
              <a:gd name="adj" fmla="val 2363"/>
            </a:avLst>
          </a:prstGeom>
          <a:solidFill>
            <a:srgbClr val="0B1018"/>
          </a:solidFill>
          <a:ln w="6350">
            <a:solidFill>
              <a:srgbClr val="1C2532"/>
            </a:solidFill>
            <a:prstDash val="solid"/>
          </a:ln>
        </p:spPr>
      </p:sp>
      <p:sp>
        <p:nvSpPr>
          <p:cNvPr id="29" name="Shape 20"/>
          <p:cNvSpPr/>
          <p:nvPr/>
        </p:nvSpPr>
        <p:spPr>
          <a:xfrm>
            <a:off x="8171408" y="2102445"/>
            <a:ext cx="349250" cy="349250"/>
          </a:xfrm>
          <a:prstGeom prst="roundRect">
            <a:avLst>
              <a:gd name="adj" fmla="val 17273"/>
            </a:avLst>
          </a:prstGeom>
          <a:solidFill>
            <a:srgbClr val="0E1E21"/>
          </a:solidFill>
          <a:ln w="6350">
            <a:solidFill>
              <a:srgbClr val="1F3E3E"/>
            </a:solidFill>
            <a:prstDash val="solid"/>
          </a:ln>
        </p:spPr>
      </p:sp>
      <p:pic>
        <p:nvPicPr>
          <p:cNvPr id="30" name="Image 7" descr="Star">    </p:cNvPr>
          <p:cNvPicPr>
            <a:picLocks noChangeAspect="1"/>
          </p:cNvPicPr>
          <p:nvPr/>
        </p:nvPicPr>
        <p:blipFill>
          <a:blip r:embed="rId8"/>
          <a:srcRect l="0" r="0" t="0" b="0"/>
          <a:stretch/>
        </p:blipFill>
        <p:spPr>
          <a:xfrm>
            <a:off x="8244433" y="2175470"/>
            <a:ext cx="203200" cy="203200"/>
          </a:xfrm>
          <a:prstGeom prst="rect">
            <a:avLst/>
          </a:prstGeom>
        </p:spPr>
      </p:pic>
      <p:sp>
        <p:nvSpPr>
          <p:cNvPr id="31" name="Text 21"/>
          <p:cNvSpPr/>
          <p:nvPr/>
        </p:nvSpPr>
        <p:spPr>
          <a:xfrm>
            <a:off x="8625433" y="2170410"/>
            <a:ext cx="262054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perception: plates</a:t>
            </a:r>
            <a:endParaRPr lang="en-US" sz="1200" dirty="0"/>
          </a:p>
        </p:txBody>
      </p:sp>
      <p:sp>
        <p:nvSpPr>
          <p:cNvPr id="32" name="Text 22"/>
          <p:cNvSpPr/>
          <p:nvPr/>
        </p:nvSpPr>
        <p:spPr>
          <a:xfrm>
            <a:off x="8168233" y="2556470"/>
            <a:ext cx="3091459"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A sharp, varied set of crops for each vehicle</a:t>
            </a:r>
            <a:endParaRPr lang="en-US" sz="1400" dirty="0"/>
          </a:p>
        </p:txBody>
      </p:sp>
      <p:pic>
        <p:nvPicPr>
          <p:cNvPr id="33" name="Image 8" descr="line">    </p:cNvPr>
          <p:cNvPicPr>
            <a:picLocks noChangeAspect="1"/>
          </p:cNvPicPr>
          <p:nvPr/>
        </p:nvPicPr>
        <p:blipFill>
          <a:blip r:embed="rId9"/>
          <a:srcRect l="0" r="0" t="-39" b="-39"/>
          <a:stretch/>
        </p:blipFill>
        <p:spPr>
          <a:xfrm>
            <a:off x="8168233" y="3120330"/>
            <a:ext cx="3001417" cy="6350"/>
          </a:xfrm>
          <a:prstGeom prst="rect">
            <a:avLst/>
          </a:prstGeom>
        </p:spPr>
      </p:pic>
      <p:sp>
        <p:nvSpPr>
          <p:cNvPr id="34" name="Text 23"/>
          <p:cNvSpPr/>
          <p:nvPr/>
        </p:nvSpPr>
        <p:spPr>
          <a:xfrm>
            <a:off x="8168233" y="322828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35" name="Text 24"/>
          <p:cNvSpPr/>
          <p:nvPr/>
        </p:nvSpPr>
        <p:spPr>
          <a:xfrm>
            <a:off x="8168233" y="354320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Taken live, because frames are gone in seconds</a:t>
            </a:r>
            <a:endParaRPr lang="en-US" sz="1200" dirty="0"/>
          </a:p>
        </p:txBody>
      </p:sp>
      <p:sp>
        <p:nvSpPr>
          <p:cNvPr id="36" name="Shape 25"/>
          <p:cNvSpPr/>
          <p:nvPr/>
        </p:nvSpPr>
        <p:spPr>
          <a:xfrm>
            <a:off x="8168233" y="4173041"/>
            <a:ext cx="3001417" cy="604441"/>
          </a:xfrm>
          <a:prstGeom prst="roundRect">
            <a:avLst>
              <a:gd name="adj" fmla="val 8404"/>
            </a:avLst>
          </a:prstGeom>
          <a:solidFill>
            <a:srgbClr val="130F27"/>
          </a:solidFill>
          <a:ln/>
        </p:spPr>
      </p:sp>
      <p:pic>
        <p:nvPicPr>
          <p:cNvPr id="37" name="Image 9" descr="Warning">    </p:cNvPr>
          <p:cNvPicPr>
            <a:picLocks noChangeAspect="1"/>
          </p:cNvPicPr>
          <p:nvPr/>
        </p:nvPicPr>
        <p:blipFill>
          <a:blip r:embed="rId10"/>
          <a:srcRect l="0" r="0" t="0" b="0"/>
          <a:stretch/>
        </p:blipFill>
        <p:spPr>
          <a:xfrm>
            <a:off x="8269833" y="4261941"/>
            <a:ext cx="177800" cy="177800"/>
          </a:xfrm>
          <a:prstGeom prst="rect">
            <a:avLst/>
          </a:prstGeom>
        </p:spPr>
      </p:pic>
      <p:sp>
        <p:nvSpPr>
          <p:cNvPr id="38" name="Text 26"/>
          <p:cNvSpPr/>
          <p:nvPr/>
        </p:nvSpPr>
        <p:spPr>
          <a:xfrm>
            <a:off x="8523833" y="4261941"/>
            <a:ext cx="262054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It never picks the answer; plate fusion does</a:t>
            </a:r>
            <a:endParaRPr lang="en-US" sz="1200" dirty="0"/>
          </a:p>
        </p:txBody>
      </p:sp>
      <p:sp>
        <p:nvSpPr>
          <p:cNvPr id="39"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D3C4"/>
                </a:solidFill>
                <a:latin typeface="Manrope" pitchFamily="34" charset="0"/>
                <a:ea typeface="Manrope" pitchFamily="34" charset="-122"/>
                <a:cs typeface="Manrope" pitchFamily="34" charset="-120"/>
              </a:rPr>
              <a:t>Product view:</a:t>
            </a:r>
            <a:r>
              <a:rPr lang="en-US" sz="1200" dirty="0">
                <a:solidFill>
                  <a:srgbClr val="7D8696"/>
                </a:solidFill>
                <a:latin typeface="Manrope" pitchFamily="34" charset="0"/>
                <a:ea typeface="Manrope" pitchFamily="34" charset="-122"/>
                <a:cs typeface="Manrope" pitchFamily="34" charset="-120"/>
              </a:rPr>
              <a:t> detection decides what the operator sees first; the box now, the name a moment later.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4 · SERVICE BY SERVICE · RECOGNITION</a:t>
            </a:r>
            <a:endParaRPr lang="en-US" sz="1200" dirty="0"/>
          </a:p>
        </p:txBody>
      </p:sp>
      <p:sp>
        <p:nvSpPr>
          <p:cNvPr id="3" name="Shape 1"/>
          <p:cNvSpPr/>
          <p:nvPr/>
        </p:nvSpPr>
        <p:spPr>
          <a:xfrm>
            <a:off x="815975" y="1232495"/>
            <a:ext cx="450850" cy="450850"/>
          </a:xfrm>
          <a:prstGeom prst="roundRect">
            <a:avLst>
              <a:gd name="adj" fmla="val 10563"/>
            </a:avLst>
          </a:prstGeom>
          <a:solidFill>
            <a:srgbClr val="0E1E21"/>
          </a:solidFill>
          <a:ln w="6350">
            <a:solidFill>
              <a:srgbClr val="1F3E3E"/>
            </a:solidFill>
            <a:prstDash val="solid"/>
          </a:ln>
        </p:spPr>
      </p:sp>
      <p:pic>
        <p:nvPicPr>
          <p:cNvPr id="4" name="Image 0" descr="Users">    </p:cNvPr>
          <p:cNvPicPr>
            <a:picLocks noChangeAspect="1"/>
          </p:cNvPicPr>
          <p:nvPr/>
        </p:nvPicPr>
        <p:blipFill>
          <a:blip r:embed="rId1"/>
          <a:srcRect l="0" r="0" t="0" b="0"/>
          <a:stretch/>
        </p:blipFill>
        <p:spPr>
          <a:xfrm>
            <a:off x="914400" y="1330920"/>
            <a:ext cx="254000" cy="254000"/>
          </a:xfrm>
          <a:prstGeom prst="rect">
            <a:avLst/>
          </a:prstGeom>
        </p:spPr>
      </p:pic>
      <p:sp>
        <p:nvSpPr>
          <p:cNvPr id="5" name="Text 2"/>
          <p:cNvSpPr/>
          <p:nvPr>
            <p:ph type="title"/>
          </p:nvPr>
        </p:nvSpPr>
        <p:spPr>
          <a:xfrm>
            <a:off x="1422400" y="1290290"/>
            <a:ext cx="10255504"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RECOGNITION: </a:t>
            </a:r>
            <a:r>
              <a:rPr lang="en-US" sz="2400" b="1" i="0" spc="150" kern="0" dirty="0">
                <a:solidFill>
                  <a:srgbClr val="5FD3C4"/>
                </a:solidFill>
                <a:latin typeface="Archivo" pitchFamily="34" charset="0"/>
                <a:ea typeface="Archivo" pitchFamily="34" charset="-122"/>
                <a:cs typeface="Archivo" pitchFamily="34" charset="-120"/>
              </a:rPr>
              <a:t>A NAME, A PLATE</a:t>
            </a:r>
            <a:endParaRPr lang="en-US" sz="2400" dirty="0"/>
          </a:p>
        </p:txBody>
      </p:sp>
      <p:sp>
        <p:nvSpPr>
          <p:cNvPr id="6" name="Shape 3"/>
          <p:cNvSpPr/>
          <p:nvPr/>
        </p:nvSpPr>
        <p:spPr>
          <a:xfrm>
            <a:off x="815975" y="1892895"/>
            <a:ext cx="2520950" cy="3040162"/>
          </a:xfrm>
          <a:prstGeom prst="roundRect">
            <a:avLst>
              <a:gd name="adj" fmla="val 2897"/>
            </a:avLst>
          </a:prstGeom>
          <a:solidFill>
            <a:srgbClr val="0B1018"/>
          </a:solidFill>
          <a:ln w="6350">
            <a:solidFill>
              <a:srgbClr val="1C2532"/>
            </a:solidFill>
            <a:prstDash val="solid"/>
          </a:ln>
        </p:spPr>
      </p:sp>
      <p:sp>
        <p:nvSpPr>
          <p:cNvPr id="7" name="Shape 4"/>
          <p:cNvSpPr/>
          <p:nvPr/>
        </p:nvSpPr>
        <p:spPr>
          <a:xfrm>
            <a:off x="1000125" y="2077045"/>
            <a:ext cx="349250" cy="349250"/>
          </a:xfrm>
          <a:prstGeom prst="roundRect">
            <a:avLst>
              <a:gd name="adj" fmla="val 17273"/>
            </a:avLst>
          </a:prstGeom>
          <a:solidFill>
            <a:srgbClr val="0E1E21"/>
          </a:solidFill>
          <a:ln w="6350">
            <a:solidFill>
              <a:srgbClr val="1F3E3E"/>
            </a:solidFill>
            <a:prstDash val="solid"/>
          </a:ln>
        </p:spPr>
      </p:sp>
      <p:pic>
        <p:nvPicPr>
          <p:cNvPr id="8" name="Image 1" descr="Users">    </p:cNvPr>
          <p:cNvPicPr>
            <a:picLocks noChangeAspect="1"/>
          </p:cNvPicPr>
          <p:nvPr/>
        </p:nvPicPr>
        <p:blipFill>
          <a:blip r:embed="rId2"/>
          <a:srcRect l="0" r="0" t="0" b="0"/>
          <a:stretch/>
        </p:blipFill>
        <p:spPr>
          <a:xfrm>
            <a:off x="1073150" y="2150070"/>
            <a:ext cx="203200" cy="203200"/>
          </a:xfrm>
          <a:prstGeom prst="rect">
            <a:avLst/>
          </a:prstGeom>
        </p:spPr>
      </p:pic>
      <p:sp>
        <p:nvSpPr>
          <p:cNvPr id="9" name="Text 5"/>
          <p:cNvSpPr/>
          <p:nvPr/>
        </p:nvSpPr>
        <p:spPr>
          <a:xfrm>
            <a:off x="1441450" y="2145010"/>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prism-recognition</a:t>
            </a:r>
            <a:endParaRPr lang="en-US" sz="1200" dirty="0"/>
          </a:p>
        </p:txBody>
      </p:sp>
      <p:sp>
        <p:nvSpPr>
          <p:cNvPr id="10" name="Text 6"/>
          <p:cNvSpPr/>
          <p:nvPr/>
        </p:nvSpPr>
        <p:spPr>
          <a:xfrm>
            <a:off x="996950" y="2531070"/>
            <a:ext cx="222377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A name on a known face</a:t>
            </a:r>
            <a:endParaRPr lang="en-US" sz="1400" dirty="0"/>
          </a:p>
        </p:txBody>
      </p:sp>
      <p:pic>
        <p:nvPicPr>
          <p:cNvPr id="11" name="Image 2" descr="line">    </p:cNvPr>
          <p:cNvPicPr>
            <a:picLocks noChangeAspect="1"/>
          </p:cNvPicPr>
          <p:nvPr/>
        </p:nvPicPr>
        <p:blipFill>
          <a:blip r:embed="rId3"/>
          <a:srcRect l="0" r="0" t="0" b="0"/>
          <a:stretch/>
        </p:blipFill>
        <p:spPr>
          <a:xfrm>
            <a:off x="996950" y="2863800"/>
            <a:ext cx="2159000" cy="6350"/>
          </a:xfrm>
          <a:prstGeom prst="rect">
            <a:avLst/>
          </a:prstGeom>
        </p:spPr>
      </p:pic>
      <p:sp>
        <p:nvSpPr>
          <p:cNvPr id="12" name="Text 7"/>
          <p:cNvSpPr/>
          <p:nvPr/>
        </p:nvSpPr>
        <p:spPr>
          <a:xfrm>
            <a:off x="996950" y="297175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13" name="Text 8"/>
          <p:cNvSpPr/>
          <p:nvPr/>
        </p:nvSpPr>
        <p:spPr>
          <a:xfrm>
            <a:off x="996950" y="328667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One worker, scaled inside; about 480 MiB of GPU</a:t>
            </a:r>
            <a:endParaRPr lang="en-US" sz="1200" dirty="0"/>
          </a:p>
        </p:txBody>
      </p:sp>
      <p:sp>
        <p:nvSpPr>
          <p:cNvPr id="14" name="Shape 9"/>
          <p:cNvSpPr/>
          <p:nvPr/>
        </p:nvSpPr>
        <p:spPr>
          <a:xfrm>
            <a:off x="996950" y="4147641"/>
            <a:ext cx="2159000" cy="604441"/>
          </a:xfrm>
          <a:prstGeom prst="roundRect">
            <a:avLst>
              <a:gd name="adj" fmla="val 8404"/>
            </a:avLst>
          </a:prstGeom>
          <a:solidFill>
            <a:srgbClr val="130F27"/>
          </a:solidFill>
          <a:ln/>
        </p:spPr>
      </p:sp>
      <p:pic>
        <p:nvPicPr>
          <p:cNvPr id="15" name="Image 3" descr="Warning">    </p:cNvPr>
          <p:cNvPicPr>
            <a:picLocks noChangeAspect="1"/>
          </p:cNvPicPr>
          <p:nvPr/>
        </p:nvPicPr>
        <p:blipFill>
          <a:blip r:embed="rId4"/>
          <a:srcRect l="0" r="0" t="0" b="0"/>
          <a:stretch/>
        </p:blipFill>
        <p:spPr>
          <a:xfrm>
            <a:off x="1098550" y="4236541"/>
            <a:ext cx="177800" cy="177800"/>
          </a:xfrm>
          <a:prstGeom prst="rect">
            <a:avLst/>
          </a:prstGeom>
        </p:spPr>
      </p:pic>
      <p:sp>
        <p:nvSpPr>
          <p:cNvPr id="16" name="Text 10"/>
          <p:cNvSpPr/>
          <p:nvPr/>
        </p:nvSpPr>
        <p:spPr>
          <a:xfrm>
            <a:off x="1352550" y="4236541"/>
            <a:ext cx="17528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A second worker takes memory from cameras</a:t>
            </a:r>
            <a:endParaRPr lang="en-US" sz="1200" dirty="0"/>
          </a:p>
        </p:txBody>
      </p:sp>
      <p:sp>
        <p:nvSpPr>
          <p:cNvPr id="17" name="Shape 11"/>
          <p:cNvSpPr/>
          <p:nvPr/>
        </p:nvSpPr>
        <p:spPr>
          <a:xfrm>
            <a:off x="3495675" y="1892895"/>
            <a:ext cx="2520950" cy="3040162"/>
          </a:xfrm>
          <a:prstGeom prst="roundRect">
            <a:avLst>
              <a:gd name="adj" fmla="val 2897"/>
            </a:avLst>
          </a:prstGeom>
          <a:solidFill>
            <a:srgbClr val="0B1018"/>
          </a:solidFill>
          <a:ln w="6350">
            <a:solidFill>
              <a:srgbClr val="1C2532"/>
            </a:solidFill>
            <a:prstDash val="solid"/>
          </a:ln>
        </p:spPr>
      </p:sp>
      <p:sp>
        <p:nvSpPr>
          <p:cNvPr id="18" name="Shape 12"/>
          <p:cNvSpPr/>
          <p:nvPr/>
        </p:nvSpPr>
        <p:spPr>
          <a:xfrm>
            <a:off x="3679825" y="2077045"/>
            <a:ext cx="349250" cy="349250"/>
          </a:xfrm>
          <a:prstGeom prst="roundRect">
            <a:avLst>
              <a:gd name="adj" fmla="val 17273"/>
            </a:avLst>
          </a:prstGeom>
          <a:solidFill>
            <a:srgbClr val="0E1E21"/>
          </a:solidFill>
          <a:ln w="6350">
            <a:solidFill>
              <a:srgbClr val="1F3E3E"/>
            </a:solidFill>
            <a:prstDash val="solid"/>
          </a:ln>
        </p:spPr>
      </p:sp>
      <p:pic>
        <p:nvPicPr>
          <p:cNvPr id="19" name="Image 4" descr="Search">    </p:cNvPr>
          <p:cNvPicPr>
            <a:picLocks noChangeAspect="1"/>
          </p:cNvPicPr>
          <p:nvPr/>
        </p:nvPicPr>
        <p:blipFill>
          <a:blip r:embed="rId5"/>
          <a:srcRect l="0" r="0" t="0" b="0"/>
          <a:stretch/>
        </p:blipFill>
        <p:spPr>
          <a:xfrm>
            <a:off x="3752850" y="2150070"/>
            <a:ext cx="203200" cy="203200"/>
          </a:xfrm>
          <a:prstGeom prst="rect">
            <a:avLst/>
          </a:prstGeom>
        </p:spPr>
      </p:pic>
      <p:sp>
        <p:nvSpPr>
          <p:cNvPr id="20" name="Text 13"/>
          <p:cNvSpPr/>
          <p:nvPr/>
        </p:nvSpPr>
        <p:spPr>
          <a:xfrm>
            <a:off x="4121150" y="2145010"/>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prism-vector</a:t>
            </a:r>
            <a:endParaRPr lang="en-US" sz="1200" dirty="0"/>
          </a:p>
        </p:txBody>
      </p:sp>
      <p:sp>
        <p:nvSpPr>
          <p:cNvPr id="21" name="Text 14"/>
          <p:cNvSpPr/>
          <p:nvPr/>
        </p:nvSpPr>
        <p:spPr>
          <a:xfrm>
            <a:off x="3676650" y="2531070"/>
            <a:ext cx="222377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Fast face search across the gallery</a:t>
            </a:r>
            <a:endParaRPr lang="en-US" sz="1400" dirty="0"/>
          </a:p>
        </p:txBody>
      </p:sp>
      <p:pic>
        <p:nvPicPr>
          <p:cNvPr id="22" name="Image 5" descr="line">    </p:cNvPr>
          <p:cNvPicPr>
            <a:picLocks noChangeAspect="1"/>
          </p:cNvPicPr>
          <p:nvPr/>
        </p:nvPicPr>
        <p:blipFill>
          <a:blip r:embed="rId6"/>
          <a:srcRect l="0" r="0" t="0" b="0"/>
          <a:stretch/>
        </p:blipFill>
        <p:spPr>
          <a:xfrm>
            <a:off x="3676650" y="3094930"/>
            <a:ext cx="2159000" cy="6350"/>
          </a:xfrm>
          <a:prstGeom prst="rect">
            <a:avLst/>
          </a:prstGeom>
        </p:spPr>
      </p:pic>
      <p:sp>
        <p:nvSpPr>
          <p:cNvPr id="23" name="Text 15"/>
          <p:cNvSpPr/>
          <p:nvPr/>
        </p:nvSpPr>
        <p:spPr>
          <a:xfrm>
            <a:off x="3676650" y="320288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24" name="Text 16"/>
          <p:cNvSpPr/>
          <p:nvPr/>
        </p:nvSpPr>
        <p:spPr>
          <a:xfrm>
            <a:off x="3676650" y="351780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One search call per batch of faces</a:t>
            </a:r>
            <a:endParaRPr lang="en-US" sz="1200" dirty="0"/>
          </a:p>
        </p:txBody>
      </p:sp>
      <p:sp>
        <p:nvSpPr>
          <p:cNvPr id="25" name="Shape 17"/>
          <p:cNvSpPr/>
          <p:nvPr/>
        </p:nvSpPr>
        <p:spPr>
          <a:xfrm>
            <a:off x="3676650" y="4147641"/>
            <a:ext cx="2159000" cy="604441"/>
          </a:xfrm>
          <a:prstGeom prst="roundRect">
            <a:avLst>
              <a:gd name="adj" fmla="val 8404"/>
            </a:avLst>
          </a:prstGeom>
          <a:solidFill>
            <a:srgbClr val="130F27"/>
          </a:solidFill>
          <a:ln/>
        </p:spPr>
      </p:sp>
      <p:pic>
        <p:nvPicPr>
          <p:cNvPr id="26" name="Image 6" descr="Warning">    </p:cNvPr>
          <p:cNvPicPr>
            <a:picLocks noChangeAspect="1"/>
          </p:cNvPicPr>
          <p:nvPr/>
        </p:nvPicPr>
        <p:blipFill>
          <a:blip r:embed="rId7"/>
          <a:srcRect l="0" r="0" t="0" b="0"/>
          <a:stretch/>
        </p:blipFill>
        <p:spPr>
          <a:xfrm>
            <a:off x="3778250" y="4236541"/>
            <a:ext cx="177800" cy="177800"/>
          </a:xfrm>
          <a:prstGeom prst="rect">
            <a:avLst/>
          </a:prstGeom>
        </p:spPr>
      </p:pic>
      <p:sp>
        <p:nvSpPr>
          <p:cNvPr id="27" name="Text 18"/>
          <p:cNvSpPr/>
          <p:nvPr/>
        </p:nvSpPr>
        <p:spPr>
          <a:xfrm>
            <a:off x="4032250" y="4236541"/>
            <a:ext cx="17528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Edits outside the app need an index rebuild</a:t>
            </a:r>
            <a:endParaRPr lang="en-US" sz="1200" dirty="0"/>
          </a:p>
        </p:txBody>
      </p:sp>
      <p:sp>
        <p:nvSpPr>
          <p:cNvPr id="28" name="Shape 19"/>
          <p:cNvSpPr/>
          <p:nvPr/>
        </p:nvSpPr>
        <p:spPr>
          <a:xfrm>
            <a:off x="6175375" y="1892895"/>
            <a:ext cx="2520950" cy="3040162"/>
          </a:xfrm>
          <a:prstGeom prst="roundRect">
            <a:avLst>
              <a:gd name="adj" fmla="val 2897"/>
            </a:avLst>
          </a:prstGeom>
          <a:solidFill>
            <a:srgbClr val="0B1018"/>
          </a:solidFill>
          <a:ln w="6350">
            <a:solidFill>
              <a:srgbClr val="1C2532"/>
            </a:solidFill>
            <a:prstDash val="solid"/>
          </a:ln>
        </p:spPr>
      </p:sp>
      <p:sp>
        <p:nvSpPr>
          <p:cNvPr id="29" name="Shape 20"/>
          <p:cNvSpPr/>
          <p:nvPr/>
        </p:nvSpPr>
        <p:spPr>
          <a:xfrm>
            <a:off x="6359525" y="2077045"/>
            <a:ext cx="349250" cy="349250"/>
          </a:xfrm>
          <a:prstGeom prst="roundRect">
            <a:avLst>
              <a:gd name="adj" fmla="val 17273"/>
            </a:avLst>
          </a:prstGeom>
          <a:solidFill>
            <a:srgbClr val="0E1E21"/>
          </a:solidFill>
          <a:ln w="6350">
            <a:solidFill>
              <a:srgbClr val="1F3E3E"/>
            </a:solidFill>
            <a:prstDash val="solid"/>
          </a:ln>
        </p:spPr>
      </p:sp>
      <p:pic>
        <p:nvPicPr>
          <p:cNvPr id="30" name="Image 7" descr="Star">    </p:cNvPr>
          <p:cNvPicPr>
            <a:picLocks noChangeAspect="1"/>
          </p:cNvPicPr>
          <p:nvPr/>
        </p:nvPicPr>
        <p:blipFill>
          <a:blip r:embed="rId8"/>
          <a:srcRect l="0" r="0" t="0" b="0"/>
          <a:stretch/>
        </p:blipFill>
        <p:spPr>
          <a:xfrm>
            <a:off x="6432550" y="2150070"/>
            <a:ext cx="203200" cy="203200"/>
          </a:xfrm>
          <a:prstGeom prst="rect">
            <a:avLst/>
          </a:prstGeom>
        </p:spPr>
      </p:pic>
      <p:sp>
        <p:nvSpPr>
          <p:cNvPr id="31" name="Text 21"/>
          <p:cNvSpPr/>
          <p:nvPr/>
        </p:nvSpPr>
        <p:spPr>
          <a:xfrm>
            <a:off x="6800850" y="2145010"/>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prism-auto-register</a:t>
            </a:r>
            <a:endParaRPr lang="en-US" sz="1200" dirty="0"/>
          </a:p>
        </p:txBody>
      </p:sp>
      <p:sp>
        <p:nvSpPr>
          <p:cNvPr id="32" name="Text 22"/>
          <p:cNvSpPr/>
          <p:nvPr/>
        </p:nvSpPr>
        <p:spPr>
          <a:xfrm>
            <a:off x="6356350" y="2531070"/>
            <a:ext cx="222377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A gallery that improves by itself</a:t>
            </a:r>
            <a:endParaRPr lang="en-US" sz="1400" dirty="0"/>
          </a:p>
        </p:txBody>
      </p:sp>
      <p:pic>
        <p:nvPicPr>
          <p:cNvPr id="33" name="Image 8" descr="line">    </p:cNvPr>
          <p:cNvPicPr>
            <a:picLocks noChangeAspect="1"/>
          </p:cNvPicPr>
          <p:nvPr/>
        </p:nvPicPr>
        <p:blipFill>
          <a:blip r:embed="rId9"/>
          <a:srcRect l="0" r="0" t="0" b="0"/>
          <a:stretch/>
        </p:blipFill>
        <p:spPr>
          <a:xfrm>
            <a:off x="6356350" y="3094930"/>
            <a:ext cx="2159000" cy="6350"/>
          </a:xfrm>
          <a:prstGeom prst="rect">
            <a:avLst/>
          </a:prstGeom>
        </p:spPr>
      </p:pic>
      <p:sp>
        <p:nvSpPr>
          <p:cNvPr id="34" name="Text 23"/>
          <p:cNvSpPr/>
          <p:nvPr/>
        </p:nvSpPr>
        <p:spPr>
          <a:xfrm>
            <a:off x="6356350" y="320288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35" name="Text 24"/>
          <p:cNvSpPr/>
          <p:nvPr/>
        </p:nvSpPr>
        <p:spPr>
          <a:xfrm>
            <a:off x="6356350" y="351780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Up to 10 faces per person; unknowns enrolled</a:t>
            </a:r>
            <a:endParaRPr lang="en-US" sz="1200" dirty="0"/>
          </a:p>
        </p:txBody>
      </p:sp>
      <p:sp>
        <p:nvSpPr>
          <p:cNvPr id="36" name="Shape 25"/>
          <p:cNvSpPr/>
          <p:nvPr/>
        </p:nvSpPr>
        <p:spPr>
          <a:xfrm>
            <a:off x="6356350" y="4147641"/>
            <a:ext cx="2159000" cy="604441"/>
          </a:xfrm>
          <a:prstGeom prst="roundRect">
            <a:avLst>
              <a:gd name="adj" fmla="val 8404"/>
            </a:avLst>
          </a:prstGeom>
          <a:solidFill>
            <a:srgbClr val="130F27"/>
          </a:solidFill>
          <a:ln/>
        </p:spPr>
      </p:sp>
      <p:pic>
        <p:nvPicPr>
          <p:cNvPr id="37" name="Image 9" descr="Warning">    </p:cNvPr>
          <p:cNvPicPr>
            <a:picLocks noChangeAspect="1"/>
          </p:cNvPicPr>
          <p:nvPr/>
        </p:nvPicPr>
        <p:blipFill>
          <a:blip r:embed="rId10"/>
          <a:srcRect l="0" r="0" t="0" b="0"/>
          <a:stretch/>
        </p:blipFill>
        <p:spPr>
          <a:xfrm>
            <a:off x="6457950" y="4236541"/>
            <a:ext cx="177800" cy="177800"/>
          </a:xfrm>
          <a:prstGeom prst="rect">
            <a:avLst/>
          </a:prstGeom>
        </p:spPr>
      </p:pic>
      <p:sp>
        <p:nvSpPr>
          <p:cNvPr id="38" name="Text 26"/>
          <p:cNvSpPr/>
          <p:nvPr/>
        </p:nvSpPr>
        <p:spPr>
          <a:xfrm>
            <a:off x="6711950" y="4236541"/>
            <a:ext cx="17528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Names appear only after operator review</a:t>
            </a:r>
            <a:endParaRPr lang="en-US" sz="1200" dirty="0"/>
          </a:p>
        </p:txBody>
      </p:sp>
      <p:sp>
        <p:nvSpPr>
          <p:cNvPr id="39" name="Shape 27"/>
          <p:cNvSpPr/>
          <p:nvPr/>
        </p:nvSpPr>
        <p:spPr>
          <a:xfrm>
            <a:off x="8855075" y="1892895"/>
            <a:ext cx="2520950" cy="3040162"/>
          </a:xfrm>
          <a:prstGeom prst="roundRect">
            <a:avLst>
              <a:gd name="adj" fmla="val 2897"/>
            </a:avLst>
          </a:prstGeom>
          <a:solidFill>
            <a:srgbClr val="0B1018"/>
          </a:solidFill>
          <a:ln w="6350">
            <a:solidFill>
              <a:srgbClr val="1C2532"/>
            </a:solidFill>
            <a:prstDash val="solid"/>
          </a:ln>
        </p:spPr>
      </p:sp>
      <p:sp>
        <p:nvSpPr>
          <p:cNvPr id="40" name="Shape 28"/>
          <p:cNvSpPr/>
          <p:nvPr/>
        </p:nvSpPr>
        <p:spPr>
          <a:xfrm>
            <a:off x="9039225" y="2077045"/>
            <a:ext cx="349250" cy="349250"/>
          </a:xfrm>
          <a:prstGeom prst="roundRect">
            <a:avLst>
              <a:gd name="adj" fmla="val 17273"/>
            </a:avLst>
          </a:prstGeom>
          <a:solidFill>
            <a:srgbClr val="0E1E21"/>
          </a:solidFill>
          <a:ln w="6350">
            <a:solidFill>
              <a:srgbClr val="1F3E3E"/>
            </a:solidFill>
            <a:prstDash val="solid"/>
          </a:ln>
        </p:spPr>
      </p:sp>
      <p:pic>
        <p:nvPicPr>
          <p:cNvPr id="41" name="Image 10" descr="Verified">    </p:cNvPr>
          <p:cNvPicPr>
            <a:picLocks noChangeAspect="1"/>
          </p:cNvPicPr>
          <p:nvPr/>
        </p:nvPicPr>
        <p:blipFill>
          <a:blip r:embed="rId11"/>
          <a:srcRect l="0" r="0" t="0" b="0"/>
          <a:stretch/>
        </p:blipFill>
        <p:spPr>
          <a:xfrm>
            <a:off x="9112250" y="2150070"/>
            <a:ext cx="203200" cy="203200"/>
          </a:xfrm>
          <a:prstGeom prst="rect">
            <a:avLst/>
          </a:prstGeom>
        </p:spPr>
      </p:pic>
      <p:sp>
        <p:nvSpPr>
          <p:cNvPr id="42" name="Text 29"/>
          <p:cNvSpPr/>
          <p:nvPr/>
        </p:nvSpPr>
        <p:spPr>
          <a:xfrm>
            <a:off x="9480550" y="2145010"/>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prism-lpr</a:t>
            </a:r>
            <a:endParaRPr lang="en-US" sz="1200" dirty="0"/>
          </a:p>
        </p:txBody>
      </p:sp>
      <p:sp>
        <p:nvSpPr>
          <p:cNvPr id="43" name="Text 30"/>
          <p:cNvSpPr/>
          <p:nvPr/>
        </p:nvSpPr>
        <p:spPr>
          <a:xfrm>
            <a:off x="9036050" y="2531070"/>
            <a:ext cx="222377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One plate read per vehicle, tuned for India</a:t>
            </a:r>
            <a:endParaRPr lang="en-US" sz="1400" dirty="0"/>
          </a:p>
        </p:txBody>
      </p:sp>
      <p:pic>
        <p:nvPicPr>
          <p:cNvPr id="44" name="Image 11" descr="line">    </p:cNvPr>
          <p:cNvPicPr>
            <a:picLocks noChangeAspect="1"/>
          </p:cNvPicPr>
          <p:nvPr/>
        </p:nvPicPr>
        <p:blipFill>
          <a:blip r:embed="rId12"/>
          <a:srcRect l="0" r="0" t="0" b="0"/>
          <a:stretch/>
        </p:blipFill>
        <p:spPr>
          <a:xfrm>
            <a:off x="9036050" y="3094930"/>
            <a:ext cx="2159000" cy="6350"/>
          </a:xfrm>
          <a:prstGeom prst="rect">
            <a:avLst/>
          </a:prstGeom>
        </p:spPr>
      </p:pic>
      <p:sp>
        <p:nvSpPr>
          <p:cNvPr id="45" name="Text 31"/>
          <p:cNvSpPr/>
          <p:nvPr/>
        </p:nvSpPr>
        <p:spPr>
          <a:xfrm>
            <a:off x="9036050" y="320288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46" name="Text 32"/>
          <p:cNvSpPr/>
          <p:nvPr/>
        </p:nvSpPr>
        <p:spPr>
          <a:xfrm>
            <a:off x="9036050" y="351780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Commits at 3 frames and a 0.72 score</a:t>
            </a:r>
            <a:endParaRPr lang="en-US" sz="1200" dirty="0"/>
          </a:p>
        </p:txBody>
      </p:sp>
      <p:sp>
        <p:nvSpPr>
          <p:cNvPr id="47" name="Shape 33"/>
          <p:cNvSpPr/>
          <p:nvPr/>
        </p:nvSpPr>
        <p:spPr>
          <a:xfrm>
            <a:off x="9036050" y="4147641"/>
            <a:ext cx="2159000" cy="604441"/>
          </a:xfrm>
          <a:prstGeom prst="roundRect">
            <a:avLst>
              <a:gd name="adj" fmla="val 8404"/>
            </a:avLst>
          </a:prstGeom>
          <a:solidFill>
            <a:srgbClr val="130F27"/>
          </a:solidFill>
          <a:ln/>
        </p:spPr>
      </p:sp>
      <p:pic>
        <p:nvPicPr>
          <p:cNvPr id="48" name="Image 12" descr="Warning">    </p:cNvPr>
          <p:cNvPicPr>
            <a:picLocks noChangeAspect="1"/>
          </p:cNvPicPr>
          <p:nvPr/>
        </p:nvPicPr>
        <p:blipFill>
          <a:blip r:embed="rId13"/>
          <a:srcRect l="0" r="0" t="0" b="0"/>
          <a:stretch/>
        </p:blipFill>
        <p:spPr>
          <a:xfrm>
            <a:off x="9137650" y="4236541"/>
            <a:ext cx="177800" cy="177800"/>
          </a:xfrm>
          <a:prstGeom prst="rect">
            <a:avLst/>
          </a:prstGeom>
        </p:spPr>
      </p:pic>
      <p:sp>
        <p:nvSpPr>
          <p:cNvPr id="49" name="Text 34"/>
          <p:cNvSpPr/>
          <p:nvPr/>
        </p:nvSpPr>
        <p:spPr>
          <a:xfrm>
            <a:off x="9391650" y="4236541"/>
            <a:ext cx="17528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A wrong region gives wrong plates, not none</a:t>
            </a:r>
            <a:endParaRPr lang="en-US" sz="1200" dirty="0"/>
          </a:p>
        </p:txBody>
      </p:sp>
      <p:sp>
        <p:nvSpPr>
          <p:cNvPr id="50" name="Text 3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D3C4"/>
                </a:solidFill>
                <a:latin typeface="Manrope" pitchFamily="34" charset="0"/>
                <a:ea typeface="Manrope" pitchFamily="34" charset="-122"/>
                <a:cs typeface="Manrope" pitchFamily="34" charset="-120"/>
              </a:rPr>
              <a:t>Product view:</a:t>
            </a:r>
            <a:r>
              <a:rPr lang="en-US" sz="1200" dirty="0">
                <a:solidFill>
                  <a:srgbClr val="7D8696"/>
                </a:solidFill>
                <a:latin typeface="Manrope" pitchFamily="34" charset="0"/>
                <a:ea typeface="Manrope" pitchFamily="34" charset="-122"/>
                <a:cs typeface="Manrope" pitchFamily="34" charset="-120"/>
              </a:rPr>
              <a:t> accuracy rises with face pixels, so recognition never throws any away (P1).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4 · SERVICE BY SERVICE · SEARCH AND ALERTS</a:t>
            </a:r>
            <a:endParaRPr lang="en-US" sz="1200" dirty="0"/>
          </a:p>
        </p:txBody>
      </p:sp>
      <p:sp>
        <p:nvSpPr>
          <p:cNvPr id="3" name="Shape 1"/>
          <p:cNvSpPr/>
          <p:nvPr/>
        </p:nvSpPr>
        <p:spPr>
          <a:xfrm>
            <a:off x="815975" y="1232495"/>
            <a:ext cx="450850" cy="450850"/>
          </a:xfrm>
          <a:prstGeom prst="roundRect">
            <a:avLst>
              <a:gd name="adj" fmla="val 10563"/>
            </a:avLst>
          </a:prstGeom>
          <a:solidFill>
            <a:srgbClr val="0E1E21"/>
          </a:solidFill>
          <a:ln w="6350">
            <a:solidFill>
              <a:srgbClr val="1F3E3E"/>
            </a:solidFill>
            <a:prstDash val="solid"/>
          </a:ln>
        </p:spPr>
      </p:sp>
      <p:pic>
        <p:nvPicPr>
          <p:cNvPr id="4" name="Image 0" descr="Search">    </p:cNvPr>
          <p:cNvPicPr>
            <a:picLocks noChangeAspect="1"/>
          </p:cNvPicPr>
          <p:nvPr/>
        </p:nvPicPr>
        <p:blipFill>
          <a:blip r:embed="rId1"/>
          <a:srcRect l="0" r="0" t="0" b="0"/>
          <a:stretch/>
        </p:blipFill>
        <p:spPr>
          <a:xfrm>
            <a:off x="914400" y="1330920"/>
            <a:ext cx="254000" cy="254000"/>
          </a:xfrm>
          <a:prstGeom prst="rect">
            <a:avLst/>
          </a:prstGeom>
        </p:spPr>
      </p:pic>
      <p:sp>
        <p:nvSpPr>
          <p:cNvPr id="5" name="Text 2"/>
          <p:cNvSpPr/>
          <p:nvPr>
            <p:ph type="title"/>
          </p:nvPr>
        </p:nvSpPr>
        <p:spPr>
          <a:xfrm>
            <a:off x="1422400" y="1290290"/>
            <a:ext cx="10255504"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SEARCH AND ALERTS: </a:t>
            </a:r>
            <a:r>
              <a:rPr lang="en-US" sz="2400" b="1" i="0" spc="150" kern="0" dirty="0">
                <a:solidFill>
                  <a:srgbClr val="5FD3C4"/>
                </a:solidFill>
                <a:latin typeface="Archivo" pitchFamily="34" charset="0"/>
                <a:ea typeface="Archivo" pitchFamily="34" charset="-122"/>
                <a:cs typeface="Archivo" pitchFamily="34" charset="-120"/>
              </a:rPr>
              <a:t>FIND IT, BE TOLD</a:t>
            </a:r>
            <a:endParaRPr lang="en-US" sz="2400" dirty="0"/>
          </a:p>
        </p:txBody>
      </p:sp>
      <p:sp>
        <p:nvSpPr>
          <p:cNvPr id="6" name="Shape 3"/>
          <p:cNvSpPr/>
          <p:nvPr/>
        </p:nvSpPr>
        <p:spPr>
          <a:xfrm>
            <a:off x="815975" y="1892895"/>
            <a:ext cx="2520950" cy="3253482"/>
          </a:xfrm>
          <a:prstGeom prst="roundRect">
            <a:avLst>
              <a:gd name="adj" fmla="val 2897"/>
            </a:avLst>
          </a:prstGeom>
          <a:solidFill>
            <a:srgbClr val="0B1018"/>
          </a:solidFill>
          <a:ln w="6350">
            <a:solidFill>
              <a:srgbClr val="1C2532"/>
            </a:solidFill>
            <a:prstDash val="solid"/>
          </a:ln>
        </p:spPr>
      </p:sp>
      <p:sp>
        <p:nvSpPr>
          <p:cNvPr id="7" name="Shape 4"/>
          <p:cNvSpPr/>
          <p:nvPr/>
        </p:nvSpPr>
        <p:spPr>
          <a:xfrm>
            <a:off x="1000125" y="2077045"/>
            <a:ext cx="349250" cy="349250"/>
          </a:xfrm>
          <a:prstGeom prst="roundRect">
            <a:avLst>
              <a:gd name="adj" fmla="val 17273"/>
            </a:avLst>
          </a:prstGeom>
          <a:solidFill>
            <a:srgbClr val="0E1E21"/>
          </a:solidFill>
          <a:ln w="6350">
            <a:solidFill>
              <a:srgbClr val="1F3E3E"/>
            </a:solidFill>
            <a:prstDash val="solid"/>
          </a:ln>
        </p:spPr>
      </p:sp>
      <p:pic>
        <p:nvPicPr>
          <p:cNvPr id="8" name="Image 1" descr="Search">    </p:cNvPr>
          <p:cNvPicPr>
            <a:picLocks noChangeAspect="1"/>
          </p:cNvPicPr>
          <p:nvPr/>
        </p:nvPicPr>
        <p:blipFill>
          <a:blip r:embed="rId2"/>
          <a:srcRect l="0" r="0" t="0" b="0"/>
          <a:stretch/>
        </p:blipFill>
        <p:spPr>
          <a:xfrm>
            <a:off x="1073150" y="2150070"/>
            <a:ext cx="203200" cy="203200"/>
          </a:xfrm>
          <a:prstGeom prst="rect">
            <a:avLst/>
          </a:prstGeom>
        </p:spPr>
      </p:pic>
      <p:sp>
        <p:nvSpPr>
          <p:cNvPr id="9" name="Text 5"/>
          <p:cNvSpPr/>
          <p:nvPr/>
        </p:nvSpPr>
        <p:spPr>
          <a:xfrm>
            <a:off x="1441450" y="2145010"/>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embedder + Qdrant</a:t>
            </a:r>
            <a:endParaRPr lang="en-US" sz="1200" dirty="0"/>
          </a:p>
        </p:txBody>
      </p:sp>
      <p:sp>
        <p:nvSpPr>
          <p:cNvPr id="10" name="Text 6"/>
          <p:cNvSpPr/>
          <p:nvPr/>
        </p:nvSpPr>
        <p:spPr>
          <a:xfrm>
            <a:off x="996950" y="2531070"/>
            <a:ext cx="222377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Search footage in words or by example</a:t>
            </a:r>
            <a:endParaRPr lang="en-US" sz="1400" dirty="0"/>
          </a:p>
        </p:txBody>
      </p:sp>
      <p:pic>
        <p:nvPicPr>
          <p:cNvPr id="11" name="Image 2" descr="line">    </p:cNvPr>
          <p:cNvPicPr>
            <a:picLocks noChangeAspect="1"/>
          </p:cNvPicPr>
          <p:nvPr/>
        </p:nvPicPr>
        <p:blipFill>
          <a:blip r:embed="rId3"/>
          <a:srcRect l="0" r="0" t="0" b="0"/>
          <a:stretch/>
        </p:blipFill>
        <p:spPr>
          <a:xfrm>
            <a:off x="996950" y="3094930"/>
            <a:ext cx="2159000" cy="6350"/>
          </a:xfrm>
          <a:prstGeom prst="rect">
            <a:avLst/>
          </a:prstGeom>
        </p:spPr>
      </p:pic>
      <p:sp>
        <p:nvSpPr>
          <p:cNvPr id="12" name="Text 7"/>
          <p:cNvSpPr/>
          <p:nvPr/>
        </p:nvSpPr>
        <p:spPr>
          <a:xfrm>
            <a:off x="996950" y="320288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13" name="Text 8"/>
          <p:cNvSpPr/>
          <p:nvPr/>
        </p:nvSpPr>
        <p:spPr>
          <a:xfrm>
            <a:off x="996950" y="351780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The best 3 frames of each track are indexed</a:t>
            </a:r>
            <a:endParaRPr lang="en-US" sz="1200" dirty="0"/>
          </a:p>
        </p:txBody>
      </p:sp>
      <p:sp>
        <p:nvSpPr>
          <p:cNvPr id="14" name="Shape 9"/>
          <p:cNvSpPr/>
          <p:nvPr/>
        </p:nvSpPr>
        <p:spPr>
          <a:xfrm>
            <a:off x="996950" y="4147641"/>
            <a:ext cx="2159000" cy="817761"/>
          </a:xfrm>
          <a:prstGeom prst="roundRect">
            <a:avLst>
              <a:gd name="adj" fmla="val 6212"/>
            </a:avLst>
          </a:prstGeom>
          <a:solidFill>
            <a:srgbClr val="130F27"/>
          </a:solidFill>
          <a:ln/>
        </p:spPr>
      </p:sp>
      <p:pic>
        <p:nvPicPr>
          <p:cNvPr id="15" name="Image 3" descr="Warning">    </p:cNvPr>
          <p:cNvPicPr>
            <a:picLocks noChangeAspect="1"/>
          </p:cNvPicPr>
          <p:nvPr/>
        </p:nvPicPr>
        <p:blipFill>
          <a:blip r:embed="rId4"/>
          <a:srcRect l="0" r="0" t="0" b="0"/>
          <a:stretch/>
        </p:blipFill>
        <p:spPr>
          <a:xfrm>
            <a:off x="1098550" y="4236541"/>
            <a:ext cx="177800" cy="177800"/>
          </a:xfrm>
          <a:prstGeom prst="rect">
            <a:avLst/>
          </a:prstGeom>
        </p:spPr>
      </p:pic>
      <p:sp>
        <p:nvSpPr>
          <p:cNvPr id="16" name="Text 10"/>
          <p:cNvSpPr/>
          <p:nvPr/>
        </p:nvSpPr>
        <p:spPr>
          <a:xfrm>
            <a:off x="1352550" y="4236541"/>
            <a:ext cx="175285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Scores are relative; never show percentages</a:t>
            </a:r>
            <a:endParaRPr lang="en-US" sz="1200" dirty="0"/>
          </a:p>
        </p:txBody>
      </p:sp>
      <p:sp>
        <p:nvSpPr>
          <p:cNvPr id="17" name="Shape 11"/>
          <p:cNvSpPr/>
          <p:nvPr/>
        </p:nvSpPr>
        <p:spPr>
          <a:xfrm>
            <a:off x="3495675" y="1892895"/>
            <a:ext cx="2520950" cy="3253482"/>
          </a:xfrm>
          <a:prstGeom prst="roundRect">
            <a:avLst>
              <a:gd name="adj" fmla="val 2897"/>
            </a:avLst>
          </a:prstGeom>
          <a:solidFill>
            <a:srgbClr val="0B1018"/>
          </a:solidFill>
          <a:ln w="6350">
            <a:solidFill>
              <a:srgbClr val="1C2532"/>
            </a:solidFill>
            <a:prstDash val="solid"/>
          </a:ln>
        </p:spPr>
      </p:sp>
      <p:sp>
        <p:nvSpPr>
          <p:cNvPr id="18" name="Shape 12"/>
          <p:cNvSpPr/>
          <p:nvPr/>
        </p:nvSpPr>
        <p:spPr>
          <a:xfrm>
            <a:off x="3679825" y="2077045"/>
            <a:ext cx="349250" cy="349250"/>
          </a:xfrm>
          <a:prstGeom prst="roundRect">
            <a:avLst>
              <a:gd name="adj" fmla="val 17273"/>
            </a:avLst>
          </a:prstGeom>
          <a:solidFill>
            <a:srgbClr val="0E1E21"/>
          </a:solidFill>
          <a:ln w="6350">
            <a:solidFill>
              <a:srgbClr val="1F3E3E"/>
            </a:solidFill>
            <a:prstDash val="solid"/>
          </a:ln>
        </p:spPr>
      </p:sp>
      <p:pic>
        <p:nvPicPr>
          <p:cNvPr id="19" name="Image 4" descr="Lightbulb">    </p:cNvPr>
          <p:cNvPicPr>
            <a:picLocks noChangeAspect="1"/>
          </p:cNvPicPr>
          <p:nvPr/>
        </p:nvPicPr>
        <p:blipFill>
          <a:blip r:embed="rId5"/>
          <a:srcRect l="0" r="0" t="0" b="0"/>
          <a:stretch/>
        </p:blipFill>
        <p:spPr>
          <a:xfrm>
            <a:off x="3752850" y="2150070"/>
            <a:ext cx="203200" cy="203200"/>
          </a:xfrm>
          <a:prstGeom prst="rect">
            <a:avLst/>
          </a:prstGeom>
        </p:spPr>
      </p:pic>
      <p:sp>
        <p:nvSpPr>
          <p:cNvPr id="20" name="Text 13"/>
          <p:cNvSpPr/>
          <p:nvPr/>
        </p:nvSpPr>
        <p:spPr>
          <a:xfrm>
            <a:off x="4121150" y="2145010"/>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Activity Layers</a:t>
            </a:r>
            <a:endParaRPr lang="en-US" sz="1200" dirty="0"/>
          </a:p>
        </p:txBody>
      </p:sp>
      <p:sp>
        <p:nvSpPr>
          <p:cNvPr id="21" name="Text 14"/>
          <p:cNvSpPr/>
          <p:nvPr/>
        </p:nvSpPr>
        <p:spPr>
          <a:xfrm>
            <a:off x="3676650" y="2531070"/>
            <a:ext cx="222377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Alerts that learn from labelled examples</a:t>
            </a:r>
            <a:endParaRPr lang="en-US" sz="1400" dirty="0"/>
          </a:p>
        </p:txBody>
      </p:sp>
      <p:pic>
        <p:nvPicPr>
          <p:cNvPr id="22" name="Image 5" descr="line">    </p:cNvPr>
          <p:cNvPicPr>
            <a:picLocks noChangeAspect="1"/>
          </p:cNvPicPr>
          <p:nvPr/>
        </p:nvPicPr>
        <p:blipFill>
          <a:blip r:embed="rId6"/>
          <a:srcRect l="0" r="0" t="0" b="0"/>
          <a:stretch/>
        </p:blipFill>
        <p:spPr>
          <a:xfrm>
            <a:off x="3676650" y="3094930"/>
            <a:ext cx="2159000" cy="6350"/>
          </a:xfrm>
          <a:prstGeom prst="rect">
            <a:avLst/>
          </a:prstGeom>
        </p:spPr>
      </p:pic>
      <p:sp>
        <p:nvSpPr>
          <p:cNvPr id="23" name="Text 15"/>
          <p:cNvSpPr/>
          <p:nvPr/>
        </p:nvSpPr>
        <p:spPr>
          <a:xfrm>
            <a:off x="3676650" y="320288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24" name="Text 16"/>
          <p:cNvSpPr/>
          <p:nvPr/>
        </p:nvSpPr>
        <p:spPr>
          <a:xfrm>
            <a:off x="3676650" y="351780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A flag must beat the closest expected example</a:t>
            </a:r>
            <a:endParaRPr lang="en-US" sz="1200" dirty="0"/>
          </a:p>
        </p:txBody>
      </p:sp>
      <p:sp>
        <p:nvSpPr>
          <p:cNvPr id="25" name="Shape 17"/>
          <p:cNvSpPr/>
          <p:nvPr/>
        </p:nvSpPr>
        <p:spPr>
          <a:xfrm>
            <a:off x="3676650" y="4360962"/>
            <a:ext cx="2159000" cy="604441"/>
          </a:xfrm>
          <a:prstGeom prst="roundRect">
            <a:avLst>
              <a:gd name="adj" fmla="val 8404"/>
            </a:avLst>
          </a:prstGeom>
          <a:solidFill>
            <a:srgbClr val="130F27"/>
          </a:solidFill>
          <a:ln/>
        </p:spPr>
      </p:sp>
      <p:pic>
        <p:nvPicPr>
          <p:cNvPr id="26" name="Image 6" descr="Warning">    </p:cNvPr>
          <p:cNvPicPr>
            <a:picLocks noChangeAspect="1"/>
          </p:cNvPicPr>
          <p:nvPr/>
        </p:nvPicPr>
        <p:blipFill>
          <a:blip r:embed="rId7"/>
          <a:srcRect l="0" r="0" t="0" b="0"/>
          <a:stretch/>
        </p:blipFill>
        <p:spPr>
          <a:xfrm>
            <a:off x="3778250" y="4449862"/>
            <a:ext cx="177800" cy="177800"/>
          </a:xfrm>
          <a:prstGeom prst="rect">
            <a:avLst/>
          </a:prstGeom>
        </p:spPr>
      </p:pic>
      <p:sp>
        <p:nvSpPr>
          <p:cNvPr id="27" name="Text 18"/>
          <p:cNvSpPr/>
          <p:nvPr/>
        </p:nvSpPr>
        <p:spPr>
          <a:xfrm>
            <a:off x="4032250" y="4449862"/>
            <a:ext cx="17528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Cooldowns are a must for looping footage</a:t>
            </a:r>
            <a:endParaRPr lang="en-US" sz="1200" dirty="0"/>
          </a:p>
        </p:txBody>
      </p:sp>
      <p:sp>
        <p:nvSpPr>
          <p:cNvPr id="28" name="Shape 19"/>
          <p:cNvSpPr/>
          <p:nvPr/>
        </p:nvSpPr>
        <p:spPr>
          <a:xfrm>
            <a:off x="6175375" y="1892895"/>
            <a:ext cx="2520950" cy="3253482"/>
          </a:xfrm>
          <a:prstGeom prst="roundRect">
            <a:avLst>
              <a:gd name="adj" fmla="val 2897"/>
            </a:avLst>
          </a:prstGeom>
          <a:solidFill>
            <a:srgbClr val="0B1018"/>
          </a:solidFill>
          <a:ln w="6350">
            <a:solidFill>
              <a:srgbClr val="1C2532"/>
            </a:solidFill>
            <a:prstDash val="solid"/>
          </a:ln>
        </p:spPr>
      </p:sp>
      <p:sp>
        <p:nvSpPr>
          <p:cNvPr id="29" name="Shape 20"/>
          <p:cNvSpPr/>
          <p:nvPr/>
        </p:nvSpPr>
        <p:spPr>
          <a:xfrm>
            <a:off x="6359525" y="2077045"/>
            <a:ext cx="349250" cy="349250"/>
          </a:xfrm>
          <a:prstGeom prst="roundRect">
            <a:avLst>
              <a:gd name="adj" fmla="val 17273"/>
            </a:avLst>
          </a:prstGeom>
          <a:solidFill>
            <a:srgbClr val="0E1E21"/>
          </a:solidFill>
          <a:ln w="6350">
            <a:solidFill>
              <a:srgbClr val="1F3E3E"/>
            </a:solidFill>
            <a:prstDash val="solid"/>
          </a:ln>
        </p:spPr>
      </p:sp>
      <p:pic>
        <p:nvPicPr>
          <p:cNvPr id="30" name="Image 7" descr="CheckCircle">    </p:cNvPr>
          <p:cNvPicPr>
            <a:picLocks noChangeAspect="1"/>
          </p:cNvPicPr>
          <p:nvPr/>
        </p:nvPicPr>
        <p:blipFill>
          <a:blip r:embed="rId8"/>
          <a:srcRect l="0" r="0" t="0" b="0"/>
          <a:stretch/>
        </p:blipFill>
        <p:spPr>
          <a:xfrm>
            <a:off x="6432550" y="2150070"/>
            <a:ext cx="203200" cy="203200"/>
          </a:xfrm>
          <a:prstGeom prst="rect">
            <a:avLst/>
          </a:prstGeom>
        </p:spPr>
      </p:pic>
      <p:sp>
        <p:nvSpPr>
          <p:cNvPr id="31" name="Text 21"/>
          <p:cNvSpPr/>
          <p:nvPr/>
        </p:nvSpPr>
        <p:spPr>
          <a:xfrm>
            <a:off x="6800850" y="2145010"/>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Alert inbox</a:t>
            </a:r>
            <a:endParaRPr lang="en-US" sz="1200" dirty="0"/>
          </a:p>
        </p:txBody>
      </p:sp>
      <p:sp>
        <p:nvSpPr>
          <p:cNvPr id="32" name="Text 22"/>
          <p:cNvSpPr/>
          <p:nvPr/>
        </p:nvSpPr>
        <p:spPr>
          <a:xfrm>
            <a:off x="6356350" y="2531070"/>
            <a:ext cx="222377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One place for every alert</a:t>
            </a:r>
            <a:endParaRPr lang="en-US" sz="1400" dirty="0"/>
          </a:p>
        </p:txBody>
      </p:sp>
      <p:pic>
        <p:nvPicPr>
          <p:cNvPr id="33" name="Image 8" descr="line">    </p:cNvPr>
          <p:cNvPicPr>
            <a:picLocks noChangeAspect="1"/>
          </p:cNvPicPr>
          <p:nvPr/>
        </p:nvPicPr>
        <p:blipFill>
          <a:blip r:embed="rId9"/>
          <a:srcRect l="0" r="0" t="0" b="0"/>
          <a:stretch/>
        </p:blipFill>
        <p:spPr>
          <a:xfrm>
            <a:off x="6356350" y="2863800"/>
            <a:ext cx="2159000" cy="6350"/>
          </a:xfrm>
          <a:prstGeom prst="rect">
            <a:avLst/>
          </a:prstGeom>
        </p:spPr>
      </p:pic>
      <p:sp>
        <p:nvSpPr>
          <p:cNvPr id="34" name="Text 23"/>
          <p:cNvSpPr/>
          <p:nvPr/>
        </p:nvSpPr>
        <p:spPr>
          <a:xfrm>
            <a:off x="6356350" y="297175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35" name="Text 24"/>
          <p:cNvSpPr/>
          <p:nvPr/>
        </p:nvSpPr>
        <p:spPr>
          <a:xfrm>
            <a:off x="6356350" y="328667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Recorded before announced; kept 72 hours</a:t>
            </a:r>
            <a:endParaRPr lang="en-US" sz="1200" dirty="0"/>
          </a:p>
        </p:txBody>
      </p:sp>
      <p:sp>
        <p:nvSpPr>
          <p:cNvPr id="36" name="Shape 25"/>
          <p:cNvSpPr/>
          <p:nvPr/>
        </p:nvSpPr>
        <p:spPr>
          <a:xfrm>
            <a:off x="6356350" y="4360962"/>
            <a:ext cx="2159000" cy="604441"/>
          </a:xfrm>
          <a:prstGeom prst="roundRect">
            <a:avLst>
              <a:gd name="adj" fmla="val 8404"/>
            </a:avLst>
          </a:prstGeom>
          <a:solidFill>
            <a:srgbClr val="130F27"/>
          </a:solidFill>
          <a:ln/>
        </p:spPr>
      </p:sp>
      <p:pic>
        <p:nvPicPr>
          <p:cNvPr id="37" name="Image 9" descr="Warning">    </p:cNvPr>
          <p:cNvPicPr>
            <a:picLocks noChangeAspect="1"/>
          </p:cNvPicPr>
          <p:nvPr/>
        </p:nvPicPr>
        <p:blipFill>
          <a:blip r:embed="rId10"/>
          <a:srcRect l="0" r="0" t="0" b="0"/>
          <a:stretch/>
        </p:blipFill>
        <p:spPr>
          <a:xfrm>
            <a:off x="6457950" y="4449862"/>
            <a:ext cx="177800" cy="177800"/>
          </a:xfrm>
          <a:prstGeom prst="rect">
            <a:avLst/>
          </a:prstGeom>
        </p:spPr>
      </p:pic>
      <p:sp>
        <p:nvSpPr>
          <p:cNvPr id="38" name="Text 26"/>
          <p:cNvSpPr/>
          <p:nvPr/>
        </p:nvSpPr>
        <p:spPr>
          <a:xfrm>
            <a:off x="6711950" y="4449862"/>
            <a:ext cx="17528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A failure retries the window; it never skips it</a:t>
            </a:r>
            <a:endParaRPr lang="en-US" sz="1200" dirty="0"/>
          </a:p>
        </p:txBody>
      </p:sp>
      <p:sp>
        <p:nvSpPr>
          <p:cNvPr id="39" name="Shape 27"/>
          <p:cNvSpPr/>
          <p:nvPr/>
        </p:nvSpPr>
        <p:spPr>
          <a:xfrm>
            <a:off x="8855075" y="1892895"/>
            <a:ext cx="2520950" cy="3253482"/>
          </a:xfrm>
          <a:prstGeom prst="roundRect">
            <a:avLst>
              <a:gd name="adj" fmla="val 2897"/>
            </a:avLst>
          </a:prstGeom>
          <a:solidFill>
            <a:srgbClr val="0B1018"/>
          </a:solidFill>
          <a:ln w="6350">
            <a:solidFill>
              <a:srgbClr val="1C2532"/>
            </a:solidFill>
            <a:prstDash val="solid"/>
          </a:ln>
        </p:spPr>
      </p:sp>
      <p:sp>
        <p:nvSpPr>
          <p:cNvPr id="40" name="Shape 28"/>
          <p:cNvSpPr/>
          <p:nvPr/>
        </p:nvSpPr>
        <p:spPr>
          <a:xfrm>
            <a:off x="9039225" y="2077045"/>
            <a:ext cx="349250" cy="349250"/>
          </a:xfrm>
          <a:prstGeom prst="roundRect">
            <a:avLst>
              <a:gd name="adj" fmla="val 17273"/>
            </a:avLst>
          </a:prstGeom>
          <a:solidFill>
            <a:srgbClr val="0E1E21"/>
          </a:solidFill>
          <a:ln w="6350">
            <a:solidFill>
              <a:srgbClr val="1F3E3E"/>
            </a:solidFill>
            <a:prstDash val="solid"/>
          </a:ln>
        </p:spPr>
      </p:sp>
      <p:pic>
        <p:nvPicPr>
          <p:cNvPr id="41" name="Image 10" descr="Lightning">    </p:cNvPr>
          <p:cNvPicPr>
            <a:picLocks noChangeAspect="1"/>
          </p:cNvPicPr>
          <p:nvPr/>
        </p:nvPicPr>
        <p:blipFill>
          <a:blip r:embed="rId11"/>
          <a:srcRect l="0" r="0" t="0" b="0"/>
          <a:stretch/>
        </p:blipFill>
        <p:spPr>
          <a:xfrm>
            <a:off x="9112250" y="2150070"/>
            <a:ext cx="203200" cy="203200"/>
          </a:xfrm>
          <a:prstGeom prst="rect">
            <a:avLst/>
          </a:prstGeom>
        </p:spPr>
      </p:pic>
      <p:sp>
        <p:nvSpPr>
          <p:cNvPr id="42" name="Text 29"/>
          <p:cNvSpPr/>
          <p:nvPr/>
        </p:nvSpPr>
        <p:spPr>
          <a:xfrm>
            <a:off x="9480550" y="2145010"/>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Alert workflows</a:t>
            </a:r>
            <a:endParaRPr lang="en-US" sz="1200" dirty="0"/>
          </a:p>
        </p:txBody>
      </p:sp>
      <p:sp>
        <p:nvSpPr>
          <p:cNvPr id="43" name="Text 30"/>
          <p:cNvSpPr/>
          <p:nvPr/>
        </p:nvSpPr>
        <p:spPr>
          <a:xfrm>
            <a:off x="9036050" y="2531070"/>
            <a:ext cx="222377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AI checks a recorder alarm first</a:t>
            </a:r>
            <a:endParaRPr lang="en-US" sz="1400" dirty="0"/>
          </a:p>
        </p:txBody>
      </p:sp>
      <p:pic>
        <p:nvPicPr>
          <p:cNvPr id="44" name="Image 11" descr="line">    </p:cNvPr>
          <p:cNvPicPr>
            <a:picLocks noChangeAspect="1"/>
          </p:cNvPicPr>
          <p:nvPr/>
        </p:nvPicPr>
        <p:blipFill>
          <a:blip r:embed="rId12"/>
          <a:srcRect l="0" r="0" t="0" b="0"/>
          <a:stretch/>
        </p:blipFill>
        <p:spPr>
          <a:xfrm>
            <a:off x="9036050" y="3094930"/>
            <a:ext cx="2159000" cy="6350"/>
          </a:xfrm>
          <a:prstGeom prst="rect">
            <a:avLst/>
          </a:prstGeom>
        </p:spPr>
      </p:pic>
      <p:sp>
        <p:nvSpPr>
          <p:cNvPr id="45" name="Text 31"/>
          <p:cNvSpPr/>
          <p:nvPr/>
        </p:nvSpPr>
        <p:spPr>
          <a:xfrm>
            <a:off x="9036050" y="320288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46" name="Text 32"/>
          <p:cNvSpPr/>
          <p:nvPr/>
        </p:nvSpPr>
        <p:spPr>
          <a:xfrm>
            <a:off x="9036050" y="351780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1 to 8 steps: face, plate, scene check, search</a:t>
            </a:r>
            <a:endParaRPr lang="en-US" sz="1200" dirty="0"/>
          </a:p>
        </p:txBody>
      </p:sp>
      <p:sp>
        <p:nvSpPr>
          <p:cNvPr id="47" name="Shape 33"/>
          <p:cNvSpPr/>
          <p:nvPr/>
        </p:nvSpPr>
        <p:spPr>
          <a:xfrm>
            <a:off x="9036050" y="4360962"/>
            <a:ext cx="2159000" cy="604441"/>
          </a:xfrm>
          <a:prstGeom prst="roundRect">
            <a:avLst>
              <a:gd name="adj" fmla="val 8404"/>
            </a:avLst>
          </a:prstGeom>
          <a:solidFill>
            <a:srgbClr val="130F27"/>
          </a:solidFill>
          <a:ln/>
        </p:spPr>
      </p:sp>
      <p:pic>
        <p:nvPicPr>
          <p:cNvPr id="48" name="Image 12" descr="Warning">    </p:cNvPr>
          <p:cNvPicPr>
            <a:picLocks noChangeAspect="1"/>
          </p:cNvPicPr>
          <p:nvPr/>
        </p:nvPicPr>
        <p:blipFill>
          <a:blip r:embed="rId13"/>
          <a:srcRect l="0" r="0" t="0" b="0"/>
          <a:stretch/>
        </p:blipFill>
        <p:spPr>
          <a:xfrm>
            <a:off x="9137650" y="4449862"/>
            <a:ext cx="177800" cy="177800"/>
          </a:xfrm>
          <a:prstGeom prst="rect">
            <a:avLst/>
          </a:prstGeom>
        </p:spPr>
      </p:pic>
      <p:sp>
        <p:nvSpPr>
          <p:cNvPr id="49" name="Text 34"/>
          <p:cNvSpPr/>
          <p:nvPr/>
        </p:nvSpPr>
        <p:spPr>
          <a:xfrm>
            <a:off x="9391650" y="4449862"/>
            <a:ext cx="17528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Two run at once, sharing the GPU</a:t>
            </a:r>
            <a:endParaRPr lang="en-US" sz="1200" dirty="0"/>
          </a:p>
        </p:txBody>
      </p:sp>
      <p:sp>
        <p:nvSpPr>
          <p:cNvPr id="50" name="Text 3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D3C4"/>
                </a:solidFill>
                <a:latin typeface="Manrope" pitchFamily="34" charset="0"/>
                <a:ea typeface="Manrope" pitchFamily="34" charset="-122"/>
                <a:cs typeface="Manrope" pitchFamily="34" charset="-120"/>
              </a:rPr>
              <a:t>Product view:</a:t>
            </a:r>
            <a:r>
              <a:rPr lang="en-US" sz="1200" dirty="0">
                <a:solidFill>
                  <a:srgbClr val="7D8696"/>
                </a:solidFill>
                <a:latin typeface="Manrope" pitchFamily="34" charset="0"/>
                <a:ea typeface="Manrope" pitchFamily="34" charset="-122"/>
                <a:cs typeface="Manrope" pitchFamily="34" charset="-120"/>
              </a:rPr>
              <a:t> search is the value in unwatched footage; workflows make recorder alarms worth acting on.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4 · SERVICE BY SERVICE · PLATFORM</a:t>
            </a:r>
            <a:endParaRPr lang="en-US" sz="1200" dirty="0"/>
          </a:p>
        </p:txBody>
      </p:sp>
      <p:sp>
        <p:nvSpPr>
          <p:cNvPr id="3" name="Shape 1"/>
          <p:cNvSpPr/>
          <p:nvPr/>
        </p:nvSpPr>
        <p:spPr>
          <a:xfrm>
            <a:off x="815975" y="1232495"/>
            <a:ext cx="450850" cy="450850"/>
          </a:xfrm>
          <a:prstGeom prst="roundRect">
            <a:avLst>
              <a:gd name="adj" fmla="val 10563"/>
            </a:avLst>
          </a:prstGeom>
          <a:solidFill>
            <a:srgbClr val="0E1E21"/>
          </a:solidFill>
          <a:ln w="6350">
            <a:solidFill>
              <a:srgbClr val="1F3E3E"/>
            </a:solidFill>
            <a:prstDash val="solid"/>
          </a:ln>
        </p:spPr>
      </p:sp>
      <p:pic>
        <p:nvPicPr>
          <p:cNvPr id="4" name="Image 0" descr="Database">    </p:cNvPr>
          <p:cNvPicPr>
            <a:picLocks noChangeAspect="1"/>
          </p:cNvPicPr>
          <p:nvPr/>
        </p:nvPicPr>
        <p:blipFill>
          <a:blip r:embed="rId1"/>
          <a:srcRect l="0" r="0" t="0" b="0"/>
          <a:stretch/>
        </p:blipFill>
        <p:spPr>
          <a:xfrm>
            <a:off x="914400" y="1330920"/>
            <a:ext cx="254000" cy="254000"/>
          </a:xfrm>
          <a:prstGeom prst="rect">
            <a:avLst/>
          </a:prstGeom>
        </p:spPr>
      </p:pic>
      <p:sp>
        <p:nvSpPr>
          <p:cNvPr id="5" name="Text 2"/>
          <p:cNvSpPr/>
          <p:nvPr>
            <p:ph type="title"/>
          </p:nvPr>
        </p:nvSpPr>
        <p:spPr>
          <a:xfrm>
            <a:off x="1422400" y="1290290"/>
            <a:ext cx="10255504"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PLATFORM: </a:t>
            </a:r>
            <a:r>
              <a:rPr lang="en-US" sz="2400" b="1" i="0" spc="150" kern="0" dirty="0">
                <a:solidFill>
                  <a:srgbClr val="5FD3C4"/>
                </a:solidFill>
                <a:latin typeface="Archivo" pitchFamily="34" charset="0"/>
                <a:ea typeface="Archivo" pitchFamily="34" charset="-122"/>
                <a:cs typeface="Archivo" pitchFamily="34" charset="-120"/>
              </a:rPr>
              <a:t>BRAIN AND FRONT DOOR</a:t>
            </a:r>
            <a:endParaRPr lang="en-US" sz="2400" dirty="0"/>
          </a:p>
        </p:txBody>
      </p:sp>
      <p:sp>
        <p:nvSpPr>
          <p:cNvPr id="6" name="Shape 3"/>
          <p:cNvSpPr/>
          <p:nvPr/>
        </p:nvSpPr>
        <p:spPr>
          <a:xfrm>
            <a:off x="815975" y="1892895"/>
            <a:ext cx="2520950" cy="3253482"/>
          </a:xfrm>
          <a:prstGeom prst="roundRect">
            <a:avLst>
              <a:gd name="adj" fmla="val 2897"/>
            </a:avLst>
          </a:prstGeom>
          <a:solidFill>
            <a:srgbClr val="0B1018"/>
          </a:solidFill>
          <a:ln w="6350">
            <a:solidFill>
              <a:srgbClr val="1C2532"/>
            </a:solidFill>
            <a:prstDash val="solid"/>
          </a:ln>
        </p:spPr>
      </p:sp>
      <p:sp>
        <p:nvSpPr>
          <p:cNvPr id="7" name="Shape 4"/>
          <p:cNvSpPr/>
          <p:nvPr/>
        </p:nvSpPr>
        <p:spPr>
          <a:xfrm>
            <a:off x="1000125" y="2077045"/>
            <a:ext cx="349250" cy="349250"/>
          </a:xfrm>
          <a:prstGeom prst="roundRect">
            <a:avLst>
              <a:gd name="adj" fmla="val 17273"/>
            </a:avLst>
          </a:prstGeom>
          <a:solidFill>
            <a:srgbClr val="0E1E21"/>
          </a:solidFill>
          <a:ln w="6350">
            <a:solidFill>
              <a:srgbClr val="1F3E3E"/>
            </a:solidFill>
            <a:prstDash val="solid"/>
          </a:ln>
        </p:spPr>
      </p:sp>
      <p:pic>
        <p:nvPicPr>
          <p:cNvPr id="8" name="Image 1" descr="Database">    </p:cNvPr>
          <p:cNvPicPr>
            <a:picLocks noChangeAspect="1"/>
          </p:cNvPicPr>
          <p:nvPr/>
        </p:nvPicPr>
        <p:blipFill>
          <a:blip r:embed="rId2"/>
          <a:srcRect l="0" r="0" t="0" b="0"/>
          <a:stretch/>
        </p:blipFill>
        <p:spPr>
          <a:xfrm>
            <a:off x="1073150" y="2150070"/>
            <a:ext cx="203200" cy="203200"/>
          </a:xfrm>
          <a:prstGeom prst="rect">
            <a:avLst/>
          </a:prstGeom>
        </p:spPr>
      </p:pic>
      <p:sp>
        <p:nvSpPr>
          <p:cNvPr id="9" name="Text 5"/>
          <p:cNvSpPr/>
          <p:nvPr/>
        </p:nvSpPr>
        <p:spPr>
          <a:xfrm>
            <a:off x="1441450" y="2145010"/>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prism-core</a:t>
            </a:r>
            <a:endParaRPr lang="en-US" sz="1200" dirty="0"/>
          </a:p>
        </p:txBody>
      </p:sp>
      <p:sp>
        <p:nvSpPr>
          <p:cNvPr id="10" name="Text 6"/>
          <p:cNvSpPr/>
          <p:nvPr/>
        </p:nvSpPr>
        <p:spPr>
          <a:xfrm>
            <a:off x="996950" y="2531070"/>
            <a:ext cx="222377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The API, live events and alert rules</a:t>
            </a:r>
            <a:endParaRPr lang="en-US" sz="1400" dirty="0"/>
          </a:p>
        </p:txBody>
      </p:sp>
      <p:pic>
        <p:nvPicPr>
          <p:cNvPr id="11" name="Image 2" descr="line">    </p:cNvPr>
          <p:cNvPicPr>
            <a:picLocks noChangeAspect="1"/>
          </p:cNvPicPr>
          <p:nvPr/>
        </p:nvPicPr>
        <p:blipFill>
          <a:blip r:embed="rId3"/>
          <a:srcRect l="0" r="0" t="0" b="0"/>
          <a:stretch/>
        </p:blipFill>
        <p:spPr>
          <a:xfrm>
            <a:off x="996950" y="3094930"/>
            <a:ext cx="2159000" cy="6350"/>
          </a:xfrm>
          <a:prstGeom prst="rect">
            <a:avLst/>
          </a:prstGeom>
        </p:spPr>
      </p:pic>
      <p:sp>
        <p:nvSpPr>
          <p:cNvPr id="12" name="Text 7"/>
          <p:cNvSpPr/>
          <p:nvPr/>
        </p:nvSpPr>
        <p:spPr>
          <a:xfrm>
            <a:off x="996950" y="320288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13" name="Text 8"/>
          <p:cNvSpPr/>
          <p:nvPr/>
        </p:nvSpPr>
        <p:spPr>
          <a:xfrm>
            <a:off x="996950" y="351780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One supervised process runs what must run once</a:t>
            </a:r>
            <a:endParaRPr lang="en-US" sz="1200" dirty="0"/>
          </a:p>
        </p:txBody>
      </p:sp>
      <p:sp>
        <p:nvSpPr>
          <p:cNvPr id="14" name="Shape 9"/>
          <p:cNvSpPr/>
          <p:nvPr/>
        </p:nvSpPr>
        <p:spPr>
          <a:xfrm>
            <a:off x="996950" y="4360962"/>
            <a:ext cx="2159000" cy="604441"/>
          </a:xfrm>
          <a:prstGeom prst="roundRect">
            <a:avLst>
              <a:gd name="adj" fmla="val 8404"/>
            </a:avLst>
          </a:prstGeom>
          <a:solidFill>
            <a:srgbClr val="130F27"/>
          </a:solidFill>
          <a:ln/>
        </p:spPr>
      </p:sp>
      <p:pic>
        <p:nvPicPr>
          <p:cNvPr id="15" name="Image 3" descr="Warning">    </p:cNvPr>
          <p:cNvPicPr>
            <a:picLocks noChangeAspect="1"/>
          </p:cNvPicPr>
          <p:nvPr/>
        </p:nvPicPr>
        <p:blipFill>
          <a:blip r:embed="rId4"/>
          <a:srcRect l="0" r="0" t="0" b="0"/>
          <a:stretch/>
        </p:blipFill>
        <p:spPr>
          <a:xfrm>
            <a:off x="1098550" y="4449862"/>
            <a:ext cx="177800" cy="177800"/>
          </a:xfrm>
          <a:prstGeom prst="rect">
            <a:avLst/>
          </a:prstGeom>
        </p:spPr>
      </p:pic>
      <p:sp>
        <p:nvSpPr>
          <p:cNvPr id="16" name="Text 10"/>
          <p:cNvSpPr/>
          <p:nvPr/>
        </p:nvSpPr>
        <p:spPr>
          <a:xfrm>
            <a:off x="1352550" y="4449862"/>
            <a:ext cx="17528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Integrators build on it, so it changes slowly</a:t>
            </a:r>
            <a:endParaRPr lang="en-US" sz="1200" dirty="0"/>
          </a:p>
        </p:txBody>
      </p:sp>
      <p:sp>
        <p:nvSpPr>
          <p:cNvPr id="17" name="Shape 11"/>
          <p:cNvSpPr/>
          <p:nvPr/>
        </p:nvSpPr>
        <p:spPr>
          <a:xfrm>
            <a:off x="3495675" y="1892895"/>
            <a:ext cx="2520950" cy="3253482"/>
          </a:xfrm>
          <a:prstGeom prst="roundRect">
            <a:avLst>
              <a:gd name="adj" fmla="val 2897"/>
            </a:avLst>
          </a:prstGeom>
          <a:solidFill>
            <a:srgbClr val="0B1018"/>
          </a:solidFill>
          <a:ln w="6350">
            <a:solidFill>
              <a:srgbClr val="1C2532"/>
            </a:solidFill>
            <a:prstDash val="solid"/>
          </a:ln>
        </p:spPr>
      </p:sp>
      <p:sp>
        <p:nvSpPr>
          <p:cNvPr id="18" name="Shape 12"/>
          <p:cNvSpPr/>
          <p:nvPr/>
        </p:nvSpPr>
        <p:spPr>
          <a:xfrm>
            <a:off x="3679825" y="2077045"/>
            <a:ext cx="349250" cy="349250"/>
          </a:xfrm>
          <a:prstGeom prst="roundRect">
            <a:avLst>
              <a:gd name="adj" fmla="val 17273"/>
            </a:avLst>
          </a:prstGeom>
          <a:solidFill>
            <a:srgbClr val="0E1E21"/>
          </a:solidFill>
          <a:ln w="6350">
            <a:solidFill>
              <a:srgbClr val="1F3E3E"/>
            </a:solidFill>
            <a:prstDash val="solid"/>
          </a:ln>
        </p:spPr>
      </p:sp>
      <p:pic>
        <p:nvPicPr>
          <p:cNvPr id="19" name="Image 4" descr="Chat">    </p:cNvPr>
          <p:cNvPicPr>
            <a:picLocks noChangeAspect="1"/>
          </p:cNvPicPr>
          <p:nvPr/>
        </p:nvPicPr>
        <p:blipFill>
          <a:blip r:embed="rId5"/>
          <a:srcRect l="0" r="0" t="0" b="0"/>
          <a:stretch/>
        </p:blipFill>
        <p:spPr>
          <a:xfrm>
            <a:off x="3752850" y="2150070"/>
            <a:ext cx="203200" cy="203200"/>
          </a:xfrm>
          <a:prstGeom prst="rect">
            <a:avLst/>
          </a:prstGeom>
        </p:spPr>
      </p:pic>
      <p:sp>
        <p:nvSpPr>
          <p:cNvPr id="20" name="Text 13"/>
          <p:cNvSpPr/>
          <p:nvPr/>
        </p:nvSpPr>
        <p:spPr>
          <a:xfrm>
            <a:off x="4121150" y="2145010"/>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NVR alarms</a:t>
            </a:r>
            <a:endParaRPr lang="en-US" sz="1200" dirty="0"/>
          </a:p>
        </p:txBody>
      </p:sp>
      <p:sp>
        <p:nvSpPr>
          <p:cNvPr id="21" name="Text 14"/>
          <p:cNvSpPr/>
          <p:nvPr/>
        </p:nvSpPr>
        <p:spPr>
          <a:xfrm>
            <a:off x="3676650" y="2531070"/>
            <a:ext cx="222377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Recorders become a read-only alarm source</a:t>
            </a:r>
            <a:endParaRPr lang="en-US" sz="1400" dirty="0"/>
          </a:p>
        </p:txBody>
      </p:sp>
      <p:pic>
        <p:nvPicPr>
          <p:cNvPr id="22" name="Image 5" descr="line">    </p:cNvPr>
          <p:cNvPicPr>
            <a:picLocks noChangeAspect="1"/>
          </p:cNvPicPr>
          <p:nvPr/>
        </p:nvPicPr>
        <p:blipFill>
          <a:blip r:embed="rId6"/>
          <a:srcRect l="0" r="0" t="0" b="0"/>
          <a:stretch/>
        </p:blipFill>
        <p:spPr>
          <a:xfrm>
            <a:off x="3676650" y="3094930"/>
            <a:ext cx="2159000" cy="6350"/>
          </a:xfrm>
          <a:prstGeom prst="rect">
            <a:avLst/>
          </a:prstGeom>
        </p:spPr>
      </p:pic>
      <p:sp>
        <p:nvSpPr>
          <p:cNvPr id="23" name="Text 15"/>
          <p:cNvSpPr/>
          <p:nvPr/>
        </p:nvSpPr>
        <p:spPr>
          <a:xfrm>
            <a:off x="3676650" y="320288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24" name="Text 16"/>
          <p:cNvSpPr/>
          <p:nvPr/>
        </p:nvSpPr>
        <p:spPr>
          <a:xfrm>
            <a:off x="3676650" y="351780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One subscription per box; every message logged</a:t>
            </a:r>
            <a:endParaRPr lang="en-US" sz="1200" dirty="0"/>
          </a:p>
        </p:txBody>
      </p:sp>
      <p:sp>
        <p:nvSpPr>
          <p:cNvPr id="25" name="Shape 17"/>
          <p:cNvSpPr/>
          <p:nvPr/>
        </p:nvSpPr>
        <p:spPr>
          <a:xfrm>
            <a:off x="3676650" y="4147641"/>
            <a:ext cx="2159000" cy="817761"/>
          </a:xfrm>
          <a:prstGeom prst="roundRect">
            <a:avLst>
              <a:gd name="adj" fmla="val 6212"/>
            </a:avLst>
          </a:prstGeom>
          <a:solidFill>
            <a:srgbClr val="130F27"/>
          </a:solidFill>
          <a:ln/>
        </p:spPr>
      </p:sp>
      <p:pic>
        <p:nvPicPr>
          <p:cNvPr id="26" name="Image 6" descr="Warning">    </p:cNvPr>
          <p:cNvPicPr>
            <a:picLocks noChangeAspect="1"/>
          </p:cNvPicPr>
          <p:nvPr/>
        </p:nvPicPr>
        <p:blipFill>
          <a:blip r:embed="rId7"/>
          <a:srcRect l="0" r="0" t="0" b="0"/>
          <a:stretch/>
        </p:blipFill>
        <p:spPr>
          <a:xfrm>
            <a:off x="3778250" y="4236541"/>
            <a:ext cx="177800" cy="177800"/>
          </a:xfrm>
          <a:prstGeom prst="rect">
            <a:avLst/>
          </a:prstGeom>
        </p:spPr>
      </p:pic>
      <p:sp>
        <p:nvSpPr>
          <p:cNvPr id="27" name="Text 18"/>
          <p:cNvSpPr/>
          <p:nvPr/>
        </p:nvSpPr>
        <p:spPr>
          <a:xfrm>
            <a:off x="4032250" y="4236541"/>
            <a:ext cx="175285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Logins lock after 5 refusals; PRISM waits 15 minutes</a:t>
            </a:r>
            <a:endParaRPr lang="en-US" sz="1200" dirty="0"/>
          </a:p>
        </p:txBody>
      </p:sp>
      <p:sp>
        <p:nvSpPr>
          <p:cNvPr id="28" name="Shape 19"/>
          <p:cNvSpPr/>
          <p:nvPr/>
        </p:nvSpPr>
        <p:spPr>
          <a:xfrm>
            <a:off x="6175375" y="1892895"/>
            <a:ext cx="2520950" cy="3253482"/>
          </a:xfrm>
          <a:prstGeom prst="roundRect">
            <a:avLst>
              <a:gd name="adj" fmla="val 2897"/>
            </a:avLst>
          </a:prstGeom>
          <a:solidFill>
            <a:srgbClr val="0B1018"/>
          </a:solidFill>
          <a:ln w="6350">
            <a:solidFill>
              <a:srgbClr val="1C2532"/>
            </a:solidFill>
            <a:prstDash val="solid"/>
          </a:ln>
        </p:spPr>
      </p:sp>
      <p:sp>
        <p:nvSpPr>
          <p:cNvPr id="29" name="Shape 20"/>
          <p:cNvSpPr/>
          <p:nvPr/>
        </p:nvSpPr>
        <p:spPr>
          <a:xfrm>
            <a:off x="6359525" y="2077045"/>
            <a:ext cx="349250" cy="349250"/>
          </a:xfrm>
          <a:prstGeom prst="roundRect">
            <a:avLst>
              <a:gd name="adj" fmla="val 17273"/>
            </a:avLst>
          </a:prstGeom>
          <a:solidFill>
            <a:srgbClr val="0E1E21"/>
          </a:solidFill>
          <a:ln w="6350">
            <a:solidFill>
              <a:srgbClr val="1F3E3E"/>
            </a:solidFill>
            <a:prstDash val="solid"/>
          </a:ln>
        </p:spPr>
      </p:sp>
      <p:pic>
        <p:nvPicPr>
          <p:cNvPr id="30" name="Image 7" descr="Wrench">    </p:cNvPr>
          <p:cNvPicPr>
            <a:picLocks noChangeAspect="1"/>
          </p:cNvPicPr>
          <p:nvPr/>
        </p:nvPicPr>
        <p:blipFill>
          <a:blip r:embed="rId8"/>
          <a:srcRect l="0" r="0" t="0" b="0"/>
          <a:stretch/>
        </p:blipFill>
        <p:spPr>
          <a:xfrm>
            <a:off x="6432550" y="2150070"/>
            <a:ext cx="203200" cy="203200"/>
          </a:xfrm>
          <a:prstGeom prst="rect">
            <a:avLst/>
          </a:prstGeom>
        </p:spPr>
      </p:pic>
      <p:sp>
        <p:nvSpPr>
          <p:cNvPr id="31" name="Text 21"/>
          <p:cNvSpPr/>
          <p:nvPr/>
        </p:nvSpPr>
        <p:spPr>
          <a:xfrm>
            <a:off x="6800850" y="2145010"/>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prism-maintainer</a:t>
            </a:r>
            <a:endParaRPr lang="en-US" sz="1200" dirty="0"/>
          </a:p>
        </p:txBody>
      </p:sp>
      <p:sp>
        <p:nvSpPr>
          <p:cNvPr id="32" name="Text 22"/>
          <p:cNvSpPr/>
          <p:nvPr/>
        </p:nvSpPr>
        <p:spPr>
          <a:xfrm>
            <a:off x="6356350" y="2531070"/>
            <a:ext cx="222377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Disks that never fill up silently</a:t>
            </a:r>
            <a:endParaRPr lang="en-US" sz="1400" dirty="0"/>
          </a:p>
        </p:txBody>
      </p:sp>
      <p:pic>
        <p:nvPicPr>
          <p:cNvPr id="33" name="Image 8" descr="line">    </p:cNvPr>
          <p:cNvPicPr>
            <a:picLocks noChangeAspect="1"/>
          </p:cNvPicPr>
          <p:nvPr/>
        </p:nvPicPr>
        <p:blipFill>
          <a:blip r:embed="rId9"/>
          <a:srcRect l="0" r="0" t="0" b="0"/>
          <a:stretch/>
        </p:blipFill>
        <p:spPr>
          <a:xfrm>
            <a:off x="6356350" y="3094930"/>
            <a:ext cx="2159000" cy="6350"/>
          </a:xfrm>
          <a:prstGeom prst="rect">
            <a:avLst/>
          </a:prstGeom>
        </p:spPr>
      </p:pic>
      <p:sp>
        <p:nvSpPr>
          <p:cNvPr id="34" name="Text 23"/>
          <p:cNvSpPr/>
          <p:nvPr/>
        </p:nvSpPr>
        <p:spPr>
          <a:xfrm>
            <a:off x="6356350" y="320288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35" name="Text 24"/>
          <p:cNvSpPr/>
          <p:nvPr/>
        </p:nvSpPr>
        <p:spPr>
          <a:xfrm>
            <a:off x="6356350" y="351780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At 85% disk the oldest footage goes, and it says so</a:t>
            </a:r>
            <a:endParaRPr lang="en-US" sz="1200" dirty="0"/>
          </a:p>
        </p:txBody>
      </p:sp>
      <p:sp>
        <p:nvSpPr>
          <p:cNvPr id="36" name="Shape 25"/>
          <p:cNvSpPr/>
          <p:nvPr/>
        </p:nvSpPr>
        <p:spPr>
          <a:xfrm>
            <a:off x="6356350" y="4360962"/>
            <a:ext cx="2159000" cy="604441"/>
          </a:xfrm>
          <a:prstGeom prst="roundRect">
            <a:avLst>
              <a:gd name="adj" fmla="val 8404"/>
            </a:avLst>
          </a:prstGeom>
          <a:solidFill>
            <a:srgbClr val="130F27"/>
          </a:solidFill>
          <a:ln/>
        </p:spPr>
      </p:sp>
      <p:pic>
        <p:nvPicPr>
          <p:cNvPr id="37" name="Image 9" descr="Warning">    </p:cNvPr>
          <p:cNvPicPr>
            <a:picLocks noChangeAspect="1"/>
          </p:cNvPicPr>
          <p:nvPr/>
        </p:nvPicPr>
        <p:blipFill>
          <a:blip r:embed="rId10"/>
          <a:srcRect l="0" r="0" t="0" b="0"/>
          <a:stretch/>
        </p:blipFill>
        <p:spPr>
          <a:xfrm>
            <a:off x="6457950" y="4449862"/>
            <a:ext cx="177800" cy="177800"/>
          </a:xfrm>
          <a:prstGeom prst="rect">
            <a:avLst/>
          </a:prstGeom>
        </p:spPr>
      </p:pic>
      <p:sp>
        <p:nvSpPr>
          <p:cNvPr id="38" name="Text 26"/>
          <p:cNvSpPr/>
          <p:nvPr/>
        </p:nvSpPr>
        <p:spPr>
          <a:xfrm>
            <a:off x="6711950" y="4449862"/>
            <a:ext cx="17528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It should be the only service that deletes</a:t>
            </a:r>
            <a:endParaRPr lang="en-US" sz="1200" dirty="0"/>
          </a:p>
        </p:txBody>
      </p:sp>
      <p:sp>
        <p:nvSpPr>
          <p:cNvPr id="39" name="Shape 27"/>
          <p:cNvSpPr/>
          <p:nvPr/>
        </p:nvSpPr>
        <p:spPr>
          <a:xfrm>
            <a:off x="8855075" y="1892895"/>
            <a:ext cx="2520950" cy="3253482"/>
          </a:xfrm>
          <a:prstGeom prst="roundRect">
            <a:avLst>
              <a:gd name="adj" fmla="val 2897"/>
            </a:avLst>
          </a:prstGeom>
          <a:solidFill>
            <a:srgbClr val="0B1018"/>
          </a:solidFill>
          <a:ln w="6350">
            <a:solidFill>
              <a:srgbClr val="1C2532"/>
            </a:solidFill>
            <a:prstDash val="solid"/>
          </a:ln>
        </p:spPr>
      </p:sp>
      <p:sp>
        <p:nvSpPr>
          <p:cNvPr id="40" name="Shape 28"/>
          <p:cNvSpPr/>
          <p:nvPr/>
        </p:nvSpPr>
        <p:spPr>
          <a:xfrm>
            <a:off x="9039225" y="2077045"/>
            <a:ext cx="349250" cy="349250"/>
          </a:xfrm>
          <a:prstGeom prst="roundRect">
            <a:avLst>
              <a:gd name="adj" fmla="val 17273"/>
            </a:avLst>
          </a:prstGeom>
          <a:solidFill>
            <a:srgbClr val="0E1E21"/>
          </a:solidFill>
          <a:ln w="6350">
            <a:solidFill>
              <a:srgbClr val="1F3E3E"/>
            </a:solidFill>
            <a:prstDash val="solid"/>
          </a:ln>
        </p:spPr>
      </p:sp>
      <p:pic>
        <p:nvPicPr>
          <p:cNvPr id="41" name="Image 10" descr="Lock">    </p:cNvPr>
          <p:cNvPicPr>
            <a:picLocks noChangeAspect="1"/>
          </p:cNvPicPr>
          <p:nvPr/>
        </p:nvPicPr>
        <p:blipFill>
          <a:blip r:embed="rId11"/>
          <a:srcRect l="0" r="0" t="0" b="0"/>
          <a:stretch/>
        </p:blipFill>
        <p:spPr>
          <a:xfrm>
            <a:off x="9112250" y="2150070"/>
            <a:ext cx="203200" cy="203200"/>
          </a:xfrm>
          <a:prstGeom prst="rect">
            <a:avLst/>
          </a:prstGeom>
        </p:spPr>
      </p:pic>
      <p:sp>
        <p:nvSpPr>
          <p:cNvPr id="42" name="Text 29"/>
          <p:cNvSpPr/>
          <p:nvPr/>
        </p:nvSpPr>
        <p:spPr>
          <a:xfrm>
            <a:off x="9480550" y="2145010"/>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gateway · auth · web</a:t>
            </a:r>
            <a:endParaRPr lang="en-US" sz="1200" dirty="0"/>
          </a:p>
        </p:txBody>
      </p:sp>
      <p:sp>
        <p:nvSpPr>
          <p:cNvPr id="43" name="Text 30"/>
          <p:cNvSpPr/>
          <p:nvPr/>
        </p:nvSpPr>
        <p:spPr>
          <a:xfrm>
            <a:off x="9036050" y="2531070"/>
            <a:ext cx="222377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Secure entry, licensing and the dashboard</a:t>
            </a:r>
            <a:endParaRPr lang="en-US" sz="1400" dirty="0"/>
          </a:p>
        </p:txBody>
      </p:sp>
      <p:pic>
        <p:nvPicPr>
          <p:cNvPr id="44" name="Image 11" descr="line">    </p:cNvPr>
          <p:cNvPicPr>
            <a:picLocks noChangeAspect="1"/>
          </p:cNvPicPr>
          <p:nvPr/>
        </p:nvPicPr>
        <p:blipFill>
          <a:blip r:embed="rId12"/>
          <a:srcRect l="0" r="0" t="0" b="0"/>
          <a:stretch/>
        </p:blipFill>
        <p:spPr>
          <a:xfrm>
            <a:off x="9036050" y="3094930"/>
            <a:ext cx="2159000" cy="6350"/>
          </a:xfrm>
          <a:prstGeom prst="rect">
            <a:avLst/>
          </a:prstGeom>
        </p:spPr>
      </p:pic>
      <p:sp>
        <p:nvSpPr>
          <p:cNvPr id="45" name="Text 31"/>
          <p:cNvSpPr/>
          <p:nvPr/>
        </p:nvSpPr>
        <p:spPr>
          <a:xfrm>
            <a:off x="9036050" y="320288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46" name="Text 32"/>
          <p:cNvSpPr/>
          <p:nvPr/>
        </p:nvSpPr>
        <p:spPr>
          <a:xfrm>
            <a:off x="9036050" y="351780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TLS, a hardware-bound licence, ASTRA-style UI</a:t>
            </a:r>
            <a:endParaRPr lang="en-US" sz="1200" dirty="0"/>
          </a:p>
        </p:txBody>
      </p:sp>
      <p:sp>
        <p:nvSpPr>
          <p:cNvPr id="47" name="Shape 33"/>
          <p:cNvSpPr/>
          <p:nvPr/>
        </p:nvSpPr>
        <p:spPr>
          <a:xfrm>
            <a:off x="9036050" y="4147641"/>
            <a:ext cx="2159000" cy="817761"/>
          </a:xfrm>
          <a:prstGeom prst="roundRect">
            <a:avLst>
              <a:gd name="adj" fmla="val 6212"/>
            </a:avLst>
          </a:prstGeom>
          <a:solidFill>
            <a:srgbClr val="130F27"/>
          </a:solidFill>
          <a:ln/>
        </p:spPr>
      </p:sp>
      <p:pic>
        <p:nvPicPr>
          <p:cNvPr id="48" name="Image 12" descr="Warning">    </p:cNvPr>
          <p:cNvPicPr>
            <a:picLocks noChangeAspect="1"/>
          </p:cNvPicPr>
          <p:nvPr/>
        </p:nvPicPr>
        <p:blipFill>
          <a:blip r:embed="rId13"/>
          <a:srcRect l="0" r="0" t="0" b="0"/>
          <a:stretch/>
        </p:blipFill>
        <p:spPr>
          <a:xfrm>
            <a:off x="9137650" y="4236541"/>
            <a:ext cx="177800" cy="177800"/>
          </a:xfrm>
          <a:prstGeom prst="rect">
            <a:avLst/>
          </a:prstGeom>
        </p:spPr>
      </p:pic>
      <p:sp>
        <p:nvSpPr>
          <p:cNvPr id="49" name="Text 34"/>
          <p:cNvSpPr/>
          <p:nvPr/>
        </p:nvSpPr>
        <p:spPr>
          <a:xfrm>
            <a:off x="9391650" y="4236541"/>
            <a:ext cx="175285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prism-auth has no documentation of its own yet</a:t>
            </a:r>
            <a:endParaRPr lang="en-US" sz="1200" dirty="0"/>
          </a:p>
        </p:txBody>
      </p:sp>
      <p:sp>
        <p:nvSpPr>
          <p:cNvPr id="50" name="Text 3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D3C4"/>
                </a:solidFill>
                <a:latin typeface="Manrope" pitchFamily="34" charset="0"/>
                <a:ea typeface="Manrope" pitchFamily="34" charset="-122"/>
                <a:cs typeface="Manrope" pitchFamily="34" charset="-120"/>
              </a:rPr>
              <a:t>Product view:</a:t>
            </a:r>
            <a:r>
              <a:rPr lang="en-US" sz="1200" dirty="0">
                <a:solidFill>
                  <a:srgbClr val="7D8696"/>
                </a:solidFill>
                <a:latin typeface="Manrope" pitchFamily="34" charset="0"/>
                <a:ea typeface="Manrope" pitchFamily="34" charset="-122"/>
                <a:cs typeface="Manrope" pitchFamily="34" charset="-120"/>
              </a:rPr>
              <a:t> prism-core is the product as integrators see it; its API stays open and stable (P6).</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4 · SERVICE BY SERVICE · CONNECT</a:t>
            </a:r>
            <a:endParaRPr lang="en-US" sz="1200" dirty="0"/>
          </a:p>
        </p:txBody>
      </p:sp>
      <p:sp>
        <p:nvSpPr>
          <p:cNvPr id="3" name="Shape 1"/>
          <p:cNvSpPr/>
          <p:nvPr/>
        </p:nvSpPr>
        <p:spPr>
          <a:xfrm>
            <a:off x="815975" y="1232495"/>
            <a:ext cx="450850" cy="450850"/>
          </a:xfrm>
          <a:prstGeom prst="roundRect">
            <a:avLst>
              <a:gd name="adj" fmla="val 10563"/>
            </a:avLst>
          </a:prstGeom>
          <a:solidFill>
            <a:srgbClr val="0E1E21"/>
          </a:solidFill>
          <a:ln w="6350">
            <a:solidFill>
              <a:srgbClr val="1F3E3E"/>
            </a:solidFill>
            <a:prstDash val="solid"/>
          </a:ln>
        </p:spPr>
      </p:sp>
      <p:pic>
        <p:nvPicPr>
          <p:cNvPr id="4" name="Image 0" descr="Link">    </p:cNvPr>
          <p:cNvPicPr>
            <a:picLocks noChangeAspect="1"/>
          </p:cNvPicPr>
          <p:nvPr/>
        </p:nvPicPr>
        <p:blipFill>
          <a:blip r:embed="rId1"/>
          <a:srcRect l="0" r="0" t="0" b="0"/>
          <a:stretch/>
        </p:blipFill>
        <p:spPr>
          <a:xfrm>
            <a:off x="914400" y="1330920"/>
            <a:ext cx="254000" cy="254000"/>
          </a:xfrm>
          <a:prstGeom prst="rect">
            <a:avLst/>
          </a:prstGeom>
        </p:spPr>
      </p:pic>
      <p:sp>
        <p:nvSpPr>
          <p:cNvPr id="5" name="Text 2"/>
          <p:cNvSpPr/>
          <p:nvPr>
            <p:ph type="title"/>
          </p:nvPr>
        </p:nvSpPr>
        <p:spPr>
          <a:xfrm>
            <a:off x="1422400" y="1290290"/>
            <a:ext cx="10255504"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CONNECT: </a:t>
            </a:r>
            <a:r>
              <a:rPr lang="en-US" sz="2400" b="1" i="0" spc="150" kern="0" dirty="0">
                <a:solidFill>
                  <a:srgbClr val="5FD3C4"/>
                </a:solidFill>
                <a:latin typeface="Archivo" pitchFamily="34" charset="0"/>
                <a:ea typeface="Archivo" pitchFamily="34" charset="-122"/>
                <a:cs typeface="Archivo" pitchFamily="34" charset="-120"/>
              </a:rPr>
              <a:t>HOW CAMERAS GET IN</a:t>
            </a:r>
            <a:endParaRPr lang="en-US" sz="2400" dirty="0"/>
          </a:p>
        </p:txBody>
      </p:sp>
      <p:sp>
        <p:nvSpPr>
          <p:cNvPr id="6" name="Shape 3"/>
          <p:cNvSpPr/>
          <p:nvPr/>
        </p:nvSpPr>
        <p:spPr>
          <a:xfrm>
            <a:off x="815975" y="1892895"/>
            <a:ext cx="2520950" cy="3271292"/>
          </a:xfrm>
          <a:prstGeom prst="roundRect">
            <a:avLst>
              <a:gd name="adj" fmla="val 2897"/>
            </a:avLst>
          </a:prstGeom>
          <a:solidFill>
            <a:srgbClr val="0B1018"/>
          </a:solidFill>
          <a:ln w="6350">
            <a:solidFill>
              <a:srgbClr val="1C2532"/>
            </a:solidFill>
            <a:prstDash val="solid"/>
          </a:ln>
        </p:spPr>
      </p:sp>
      <p:sp>
        <p:nvSpPr>
          <p:cNvPr id="7" name="Shape 4"/>
          <p:cNvSpPr/>
          <p:nvPr/>
        </p:nvSpPr>
        <p:spPr>
          <a:xfrm>
            <a:off x="1000125" y="2077045"/>
            <a:ext cx="349250" cy="349250"/>
          </a:xfrm>
          <a:prstGeom prst="roundRect">
            <a:avLst>
              <a:gd name="adj" fmla="val 17273"/>
            </a:avLst>
          </a:prstGeom>
          <a:solidFill>
            <a:srgbClr val="0E1E21"/>
          </a:solidFill>
          <a:ln w="6350">
            <a:solidFill>
              <a:srgbClr val="1F3E3E"/>
            </a:solidFill>
            <a:prstDash val="solid"/>
          </a:ln>
        </p:spPr>
      </p:sp>
      <p:pic>
        <p:nvPicPr>
          <p:cNvPr id="8" name="Image 1" descr="Globe">    </p:cNvPr>
          <p:cNvPicPr>
            <a:picLocks noChangeAspect="1"/>
          </p:cNvPicPr>
          <p:nvPr/>
        </p:nvPicPr>
        <p:blipFill>
          <a:blip r:embed="rId2"/>
          <a:srcRect l="0" r="0" t="0" b="0"/>
          <a:stretch/>
        </p:blipFill>
        <p:spPr>
          <a:xfrm>
            <a:off x="1073150" y="2150070"/>
            <a:ext cx="203200" cy="203200"/>
          </a:xfrm>
          <a:prstGeom prst="rect">
            <a:avLst/>
          </a:prstGeom>
        </p:spPr>
      </p:pic>
      <p:sp>
        <p:nvSpPr>
          <p:cNvPr id="9" name="Text 5"/>
          <p:cNvSpPr/>
          <p:nvPr/>
        </p:nvSpPr>
        <p:spPr>
          <a:xfrm>
            <a:off x="1441450" y="2145010"/>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Network Setup</a:t>
            </a:r>
            <a:endParaRPr lang="en-US" sz="1200" dirty="0"/>
          </a:p>
        </p:txBody>
      </p:sp>
      <p:sp>
        <p:nvSpPr>
          <p:cNvPr id="10" name="Text 6"/>
          <p:cNvSpPr/>
          <p:nvPr/>
        </p:nvSpPr>
        <p:spPr>
          <a:xfrm>
            <a:off x="996950" y="2531070"/>
            <a:ext cx="2223770" cy="71879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Find and add cameras without typing addresses</a:t>
            </a:r>
            <a:endParaRPr lang="en-US" sz="1400" dirty="0"/>
          </a:p>
        </p:txBody>
      </p:sp>
      <p:pic>
        <p:nvPicPr>
          <p:cNvPr id="11" name="Image 2" descr="line">    </p:cNvPr>
          <p:cNvPicPr>
            <a:picLocks noChangeAspect="1"/>
          </p:cNvPicPr>
          <p:nvPr/>
        </p:nvPicPr>
        <p:blipFill>
          <a:blip r:embed="rId3"/>
          <a:srcRect l="0" r="0" t="0" b="0"/>
          <a:stretch/>
        </p:blipFill>
        <p:spPr>
          <a:xfrm>
            <a:off x="996950" y="3326061"/>
            <a:ext cx="2159000" cy="6350"/>
          </a:xfrm>
          <a:prstGeom prst="rect">
            <a:avLst/>
          </a:prstGeom>
        </p:spPr>
      </p:pic>
      <p:sp>
        <p:nvSpPr>
          <p:cNvPr id="12" name="Text 7"/>
          <p:cNvSpPr/>
          <p:nvPr/>
        </p:nvSpPr>
        <p:spPr>
          <a:xfrm>
            <a:off x="996950" y="343401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13" name="Text 8"/>
          <p:cNvSpPr/>
          <p:nvPr/>
        </p:nvSpPr>
        <p:spPr>
          <a:xfrm>
            <a:off x="996950" y="374893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ONVIF first, RTSP fallback; labels, not passwords</a:t>
            </a:r>
            <a:endParaRPr lang="en-US" sz="1200" dirty="0"/>
          </a:p>
        </p:txBody>
      </p:sp>
      <p:sp>
        <p:nvSpPr>
          <p:cNvPr id="14" name="Shape 9"/>
          <p:cNvSpPr/>
          <p:nvPr/>
        </p:nvSpPr>
        <p:spPr>
          <a:xfrm>
            <a:off x="996950" y="4378771"/>
            <a:ext cx="2159000" cy="604441"/>
          </a:xfrm>
          <a:prstGeom prst="roundRect">
            <a:avLst>
              <a:gd name="adj" fmla="val 8404"/>
            </a:avLst>
          </a:prstGeom>
          <a:solidFill>
            <a:srgbClr val="130F27"/>
          </a:solidFill>
          <a:ln/>
        </p:spPr>
      </p:sp>
      <p:pic>
        <p:nvPicPr>
          <p:cNvPr id="15" name="Image 3" descr="Warning">    </p:cNvPr>
          <p:cNvPicPr>
            <a:picLocks noChangeAspect="1"/>
          </p:cNvPicPr>
          <p:nvPr/>
        </p:nvPicPr>
        <p:blipFill>
          <a:blip r:embed="rId4"/>
          <a:srcRect l="0" r="0" t="0" b="0"/>
          <a:stretch/>
        </p:blipFill>
        <p:spPr>
          <a:xfrm>
            <a:off x="1098550" y="4467671"/>
            <a:ext cx="177800" cy="177800"/>
          </a:xfrm>
          <a:prstGeom prst="rect">
            <a:avLst/>
          </a:prstGeom>
        </p:spPr>
      </p:pic>
      <p:sp>
        <p:nvSpPr>
          <p:cNvPr id="16" name="Text 10"/>
          <p:cNvSpPr/>
          <p:nvPr/>
        </p:nvSpPr>
        <p:spPr>
          <a:xfrm>
            <a:off x="1352550" y="4467671"/>
            <a:ext cx="17528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At most 3 new passwords per camera</a:t>
            </a:r>
            <a:endParaRPr lang="en-US" sz="1200" dirty="0"/>
          </a:p>
        </p:txBody>
      </p:sp>
      <p:sp>
        <p:nvSpPr>
          <p:cNvPr id="17" name="Shape 11"/>
          <p:cNvSpPr/>
          <p:nvPr/>
        </p:nvSpPr>
        <p:spPr>
          <a:xfrm>
            <a:off x="3495675" y="1892895"/>
            <a:ext cx="2520950" cy="3271292"/>
          </a:xfrm>
          <a:prstGeom prst="roundRect">
            <a:avLst>
              <a:gd name="adj" fmla="val 2897"/>
            </a:avLst>
          </a:prstGeom>
          <a:solidFill>
            <a:srgbClr val="0B1018"/>
          </a:solidFill>
          <a:ln w="6350">
            <a:solidFill>
              <a:srgbClr val="1C2532"/>
            </a:solidFill>
            <a:prstDash val="solid"/>
          </a:ln>
        </p:spPr>
      </p:sp>
      <p:sp>
        <p:nvSpPr>
          <p:cNvPr id="18" name="Shape 12"/>
          <p:cNvSpPr/>
          <p:nvPr/>
        </p:nvSpPr>
        <p:spPr>
          <a:xfrm>
            <a:off x="3679825" y="2077045"/>
            <a:ext cx="349250" cy="349250"/>
          </a:xfrm>
          <a:prstGeom prst="roundRect">
            <a:avLst>
              <a:gd name="adj" fmla="val 17273"/>
            </a:avLst>
          </a:prstGeom>
          <a:solidFill>
            <a:srgbClr val="0E1E21"/>
          </a:solidFill>
          <a:ln w="6350">
            <a:solidFill>
              <a:srgbClr val="1F3E3E"/>
            </a:solidFill>
            <a:prstDash val="solid"/>
          </a:ln>
        </p:spPr>
      </p:sp>
      <p:pic>
        <p:nvPicPr>
          <p:cNvPr id="19" name="Image 4" descr="Settings">    </p:cNvPr>
          <p:cNvPicPr>
            <a:picLocks noChangeAspect="1"/>
          </p:cNvPicPr>
          <p:nvPr/>
        </p:nvPicPr>
        <p:blipFill>
          <a:blip r:embed="rId5"/>
          <a:srcRect l="0" r="0" t="0" b="0"/>
          <a:stretch/>
        </p:blipFill>
        <p:spPr>
          <a:xfrm>
            <a:off x="3752850" y="2150070"/>
            <a:ext cx="203200" cy="203200"/>
          </a:xfrm>
          <a:prstGeom prst="rect">
            <a:avLst/>
          </a:prstGeom>
        </p:spPr>
      </p:pic>
      <p:sp>
        <p:nvSpPr>
          <p:cNvPr id="20" name="Text 13"/>
          <p:cNvSpPr/>
          <p:nvPr/>
        </p:nvSpPr>
        <p:spPr>
          <a:xfrm>
            <a:off x="4121150" y="2145010"/>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source-manager</a:t>
            </a:r>
            <a:endParaRPr lang="en-US" sz="1200" dirty="0"/>
          </a:p>
        </p:txBody>
      </p:sp>
      <p:sp>
        <p:nvSpPr>
          <p:cNvPr id="21" name="Text 14"/>
          <p:cNvSpPr/>
          <p:nvPr/>
        </p:nvSpPr>
        <p:spPr>
          <a:xfrm>
            <a:off x="3676650" y="2531070"/>
            <a:ext cx="222377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One place where every camera starts</a:t>
            </a:r>
            <a:endParaRPr lang="en-US" sz="1400" dirty="0"/>
          </a:p>
        </p:txBody>
      </p:sp>
      <p:pic>
        <p:nvPicPr>
          <p:cNvPr id="22" name="Image 5" descr="line">    </p:cNvPr>
          <p:cNvPicPr>
            <a:picLocks noChangeAspect="1"/>
          </p:cNvPicPr>
          <p:nvPr/>
        </p:nvPicPr>
        <p:blipFill>
          <a:blip r:embed="rId6"/>
          <a:srcRect l="0" r="0" t="0" b="0"/>
          <a:stretch/>
        </p:blipFill>
        <p:spPr>
          <a:xfrm>
            <a:off x="3676650" y="3094930"/>
            <a:ext cx="2159000" cy="6350"/>
          </a:xfrm>
          <a:prstGeom prst="rect">
            <a:avLst/>
          </a:prstGeom>
        </p:spPr>
      </p:pic>
      <p:sp>
        <p:nvSpPr>
          <p:cNvPr id="23" name="Text 15"/>
          <p:cNvSpPr/>
          <p:nvPr/>
        </p:nvSpPr>
        <p:spPr>
          <a:xfrm>
            <a:off x="3676650" y="320288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24" name="Text 16"/>
          <p:cNvSpPr/>
          <p:nvPr/>
        </p:nvSpPr>
        <p:spPr>
          <a:xfrm>
            <a:off x="3676650" y="351780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Starts AI only when a plugin is switched on</a:t>
            </a:r>
            <a:endParaRPr lang="en-US" sz="1200" dirty="0"/>
          </a:p>
        </p:txBody>
      </p:sp>
      <p:sp>
        <p:nvSpPr>
          <p:cNvPr id="25" name="Shape 17"/>
          <p:cNvSpPr/>
          <p:nvPr/>
        </p:nvSpPr>
        <p:spPr>
          <a:xfrm>
            <a:off x="3676650" y="4165451"/>
            <a:ext cx="2159000" cy="817761"/>
          </a:xfrm>
          <a:prstGeom prst="roundRect">
            <a:avLst>
              <a:gd name="adj" fmla="val 6212"/>
            </a:avLst>
          </a:prstGeom>
          <a:solidFill>
            <a:srgbClr val="130F27"/>
          </a:solidFill>
          <a:ln/>
        </p:spPr>
      </p:sp>
      <p:pic>
        <p:nvPicPr>
          <p:cNvPr id="26" name="Image 6" descr="Warning">    </p:cNvPr>
          <p:cNvPicPr>
            <a:picLocks noChangeAspect="1"/>
          </p:cNvPicPr>
          <p:nvPr/>
        </p:nvPicPr>
        <p:blipFill>
          <a:blip r:embed="rId7"/>
          <a:srcRect l="0" r="0" t="0" b="0"/>
          <a:stretch/>
        </p:blipFill>
        <p:spPr>
          <a:xfrm>
            <a:off x="3778250" y="4254351"/>
            <a:ext cx="177800" cy="177800"/>
          </a:xfrm>
          <a:prstGeom prst="rect">
            <a:avLst/>
          </a:prstGeom>
        </p:spPr>
      </p:pic>
      <p:sp>
        <p:nvSpPr>
          <p:cNvPr id="27" name="Text 18"/>
          <p:cNvSpPr/>
          <p:nvPr/>
        </p:nvSpPr>
        <p:spPr>
          <a:xfrm>
            <a:off x="4032250" y="4254351"/>
            <a:ext cx="175285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No credential check of its own; the gateway guards it</a:t>
            </a:r>
            <a:endParaRPr lang="en-US" sz="1200" dirty="0"/>
          </a:p>
        </p:txBody>
      </p:sp>
      <p:sp>
        <p:nvSpPr>
          <p:cNvPr id="28" name="Shape 19"/>
          <p:cNvSpPr/>
          <p:nvPr/>
        </p:nvSpPr>
        <p:spPr>
          <a:xfrm>
            <a:off x="6175375" y="1892895"/>
            <a:ext cx="2520950" cy="3271292"/>
          </a:xfrm>
          <a:prstGeom prst="roundRect">
            <a:avLst>
              <a:gd name="adj" fmla="val 2897"/>
            </a:avLst>
          </a:prstGeom>
          <a:solidFill>
            <a:srgbClr val="0B1018"/>
          </a:solidFill>
          <a:ln w="6350">
            <a:solidFill>
              <a:srgbClr val="1C2532"/>
            </a:solidFill>
            <a:prstDash val="solid"/>
          </a:ln>
        </p:spPr>
      </p:sp>
      <p:sp>
        <p:nvSpPr>
          <p:cNvPr id="29" name="Shape 20"/>
          <p:cNvSpPr/>
          <p:nvPr/>
        </p:nvSpPr>
        <p:spPr>
          <a:xfrm>
            <a:off x="6359525" y="2077045"/>
            <a:ext cx="349250" cy="349250"/>
          </a:xfrm>
          <a:prstGeom prst="roundRect">
            <a:avLst>
              <a:gd name="adj" fmla="val 17273"/>
            </a:avLst>
          </a:prstGeom>
          <a:solidFill>
            <a:srgbClr val="0E1E21"/>
          </a:solidFill>
          <a:ln w="6350">
            <a:solidFill>
              <a:srgbClr val="1F3E3E"/>
            </a:solidFill>
            <a:prstDash val="solid"/>
          </a:ln>
        </p:spPr>
      </p:sp>
      <p:pic>
        <p:nvPicPr>
          <p:cNvPr id="30" name="Image 7" descr="PaperPlane">    </p:cNvPr>
          <p:cNvPicPr>
            <a:picLocks noChangeAspect="1"/>
          </p:cNvPicPr>
          <p:nvPr/>
        </p:nvPicPr>
        <p:blipFill>
          <a:blip r:embed="rId8"/>
          <a:srcRect l="0" r="0" t="0" b="0"/>
          <a:stretch/>
        </p:blipFill>
        <p:spPr>
          <a:xfrm>
            <a:off x="6432550" y="2150070"/>
            <a:ext cx="203200" cy="203200"/>
          </a:xfrm>
          <a:prstGeom prst="rect">
            <a:avLst/>
          </a:prstGeom>
        </p:spPr>
      </p:pic>
      <p:sp>
        <p:nvSpPr>
          <p:cNvPr id="31" name="Text 21"/>
          <p:cNvSpPr/>
          <p:nvPr/>
        </p:nvSpPr>
        <p:spPr>
          <a:xfrm>
            <a:off x="6800850" y="2145010"/>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rtmp-relay</a:t>
            </a:r>
            <a:endParaRPr lang="en-US" sz="1200" dirty="0"/>
          </a:p>
        </p:txBody>
      </p:sp>
      <p:sp>
        <p:nvSpPr>
          <p:cNvPr id="32" name="Text 22"/>
          <p:cNvSpPr/>
          <p:nvPr/>
        </p:nvSpPr>
        <p:spPr>
          <a:xfrm>
            <a:off x="6356350" y="2531070"/>
            <a:ext cx="222377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Cameras that push their video to us</a:t>
            </a:r>
            <a:endParaRPr lang="en-US" sz="1400" dirty="0"/>
          </a:p>
        </p:txBody>
      </p:sp>
      <p:pic>
        <p:nvPicPr>
          <p:cNvPr id="33" name="Image 8" descr="line">    </p:cNvPr>
          <p:cNvPicPr>
            <a:picLocks noChangeAspect="1"/>
          </p:cNvPicPr>
          <p:nvPr/>
        </p:nvPicPr>
        <p:blipFill>
          <a:blip r:embed="rId9"/>
          <a:srcRect l="0" r="0" t="0" b="0"/>
          <a:stretch/>
        </p:blipFill>
        <p:spPr>
          <a:xfrm>
            <a:off x="6356350" y="3094930"/>
            <a:ext cx="2159000" cy="6350"/>
          </a:xfrm>
          <a:prstGeom prst="rect">
            <a:avLst/>
          </a:prstGeom>
        </p:spPr>
      </p:pic>
      <p:sp>
        <p:nvSpPr>
          <p:cNvPr id="34" name="Text 23"/>
          <p:cNvSpPr/>
          <p:nvPr/>
        </p:nvSpPr>
        <p:spPr>
          <a:xfrm>
            <a:off x="6356350" y="320288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35" name="Text 24"/>
          <p:cNvSpPr/>
          <p:nvPr/>
        </p:nvSpPr>
        <p:spPr>
          <a:xfrm>
            <a:off x="6356350" y="351780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RTMP push, checked stream by stream</a:t>
            </a:r>
            <a:endParaRPr lang="en-US" sz="1200" dirty="0"/>
          </a:p>
        </p:txBody>
      </p:sp>
      <p:sp>
        <p:nvSpPr>
          <p:cNvPr id="36" name="Shape 25"/>
          <p:cNvSpPr/>
          <p:nvPr/>
        </p:nvSpPr>
        <p:spPr>
          <a:xfrm>
            <a:off x="6356350" y="4378771"/>
            <a:ext cx="2159000" cy="604441"/>
          </a:xfrm>
          <a:prstGeom prst="roundRect">
            <a:avLst>
              <a:gd name="adj" fmla="val 8404"/>
            </a:avLst>
          </a:prstGeom>
          <a:solidFill>
            <a:srgbClr val="130F27"/>
          </a:solidFill>
          <a:ln/>
        </p:spPr>
      </p:sp>
      <p:pic>
        <p:nvPicPr>
          <p:cNvPr id="37" name="Image 9" descr="Warning">    </p:cNvPr>
          <p:cNvPicPr>
            <a:picLocks noChangeAspect="1"/>
          </p:cNvPicPr>
          <p:nvPr/>
        </p:nvPicPr>
        <p:blipFill>
          <a:blip r:embed="rId10"/>
          <a:srcRect l="0" r="0" t="0" b="0"/>
          <a:stretch/>
        </p:blipFill>
        <p:spPr>
          <a:xfrm>
            <a:off x="6457950" y="4467671"/>
            <a:ext cx="177800" cy="177800"/>
          </a:xfrm>
          <a:prstGeom prst="rect">
            <a:avLst/>
          </a:prstGeom>
        </p:spPr>
      </p:pic>
      <p:sp>
        <p:nvSpPr>
          <p:cNvPr id="38" name="Text 26"/>
          <p:cNvSpPr/>
          <p:nvPr/>
        </p:nvSpPr>
        <p:spPr>
          <a:xfrm>
            <a:off x="6711950" y="4467671"/>
            <a:ext cx="17528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Unregistered pushes vanish when they stop</a:t>
            </a:r>
            <a:endParaRPr lang="en-US" sz="1200" dirty="0"/>
          </a:p>
        </p:txBody>
      </p:sp>
      <p:sp>
        <p:nvSpPr>
          <p:cNvPr id="39" name="Shape 27"/>
          <p:cNvSpPr/>
          <p:nvPr/>
        </p:nvSpPr>
        <p:spPr>
          <a:xfrm>
            <a:off x="8855075" y="1892895"/>
            <a:ext cx="2520950" cy="3271292"/>
          </a:xfrm>
          <a:prstGeom prst="roundRect">
            <a:avLst>
              <a:gd name="adj" fmla="val 2897"/>
            </a:avLst>
          </a:prstGeom>
          <a:solidFill>
            <a:srgbClr val="0B1018"/>
          </a:solidFill>
          <a:ln w="6350">
            <a:solidFill>
              <a:srgbClr val="1C2532"/>
            </a:solidFill>
            <a:prstDash val="solid"/>
          </a:ln>
        </p:spPr>
      </p:sp>
      <p:sp>
        <p:nvSpPr>
          <p:cNvPr id="40" name="Shape 28"/>
          <p:cNvSpPr/>
          <p:nvPr/>
        </p:nvSpPr>
        <p:spPr>
          <a:xfrm>
            <a:off x="9039225" y="2077045"/>
            <a:ext cx="349250" cy="349250"/>
          </a:xfrm>
          <a:prstGeom prst="roundRect">
            <a:avLst>
              <a:gd name="adj" fmla="val 17273"/>
            </a:avLst>
          </a:prstGeom>
          <a:solidFill>
            <a:srgbClr val="0E1E21"/>
          </a:solidFill>
          <a:ln w="6350">
            <a:solidFill>
              <a:srgbClr val="1F3E3E"/>
            </a:solidFill>
            <a:prstDash val="solid"/>
          </a:ln>
        </p:spPr>
      </p:sp>
      <p:pic>
        <p:nvPicPr>
          <p:cNvPr id="41" name="Image 10" descr="Play">    </p:cNvPr>
          <p:cNvPicPr>
            <a:picLocks noChangeAspect="1"/>
          </p:cNvPicPr>
          <p:nvPr/>
        </p:nvPicPr>
        <p:blipFill>
          <a:blip r:embed="rId11"/>
          <a:srcRect l="0" r="0" t="0" b="0"/>
          <a:stretch/>
        </p:blipFill>
        <p:spPr>
          <a:xfrm>
            <a:off x="9112250" y="2150070"/>
            <a:ext cx="203200" cy="203200"/>
          </a:xfrm>
          <a:prstGeom prst="rect">
            <a:avLst/>
          </a:prstGeom>
        </p:spPr>
      </p:pic>
      <p:sp>
        <p:nvSpPr>
          <p:cNvPr id="42" name="Text 29"/>
          <p:cNvSpPr/>
          <p:nvPr/>
        </p:nvSpPr>
        <p:spPr>
          <a:xfrm>
            <a:off x="9480550" y="2145010"/>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Browser webcams</a:t>
            </a:r>
            <a:endParaRPr lang="en-US" sz="1200" dirty="0"/>
          </a:p>
        </p:txBody>
      </p:sp>
      <p:sp>
        <p:nvSpPr>
          <p:cNvPr id="43" name="Text 30"/>
          <p:cNvSpPr/>
          <p:nvPr/>
        </p:nvSpPr>
        <p:spPr>
          <a:xfrm>
            <a:off x="9036050" y="2531070"/>
            <a:ext cx="222377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A laptop webcam used as a camera</a:t>
            </a:r>
            <a:endParaRPr lang="en-US" sz="1400" dirty="0"/>
          </a:p>
        </p:txBody>
      </p:sp>
      <p:pic>
        <p:nvPicPr>
          <p:cNvPr id="44" name="Image 11" descr="line">    </p:cNvPr>
          <p:cNvPicPr>
            <a:picLocks noChangeAspect="1"/>
          </p:cNvPicPr>
          <p:nvPr/>
        </p:nvPicPr>
        <p:blipFill>
          <a:blip r:embed="rId12"/>
          <a:srcRect l="0" r="0" t="0" b="0"/>
          <a:stretch/>
        </p:blipFill>
        <p:spPr>
          <a:xfrm>
            <a:off x="9036050" y="3094930"/>
            <a:ext cx="2159000" cy="6350"/>
          </a:xfrm>
          <a:prstGeom prst="rect">
            <a:avLst/>
          </a:prstGeom>
        </p:spPr>
      </p:pic>
      <p:sp>
        <p:nvSpPr>
          <p:cNvPr id="45" name="Text 31"/>
          <p:cNvSpPr/>
          <p:nvPr/>
        </p:nvSpPr>
        <p:spPr>
          <a:xfrm>
            <a:off x="9036050" y="320288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46" name="Text 32"/>
          <p:cNvSpPr/>
          <p:nvPr/>
        </p:nvSpPr>
        <p:spPr>
          <a:xfrm>
            <a:off x="9036050" y="351780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Sent over WebRTC, then handled like any IP camera</a:t>
            </a:r>
            <a:endParaRPr lang="en-US" sz="1200" dirty="0"/>
          </a:p>
        </p:txBody>
      </p:sp>
      <p:sp>
        <p:nvSpPr>
          <p:cNvPr id="47" name="Shape 33"/>
          <p:cNvSpPr/>
          <p:nvPr/>
        </p:nvSpPr>
        <p:spPr>
          <a:xfrm>
            <a:off x="9036050" y="4378771"/>
            <a:ext cx="2159000" cy="604441"/>
          </a:xfrm>
          <a:prstGeom prst="roundRect">
            <a:avLst>
              <a:gd name="adj" fmla="val 8404"/>
            </a:avLst>
          </a:prstGeom>
          <a:solidFill>
            <a:srgbClr val="130F27"/>
          </a:solidFill>
          <a:ln/>
        </p:spPr>
      </p:sp>
      <p:pic>
        <p:nvPicPr>
          <p:cNvPr id="48" name="Image 12" descr="Warning">    </p:cNvPr>
          <p:cNvPicPr>
            <a:picLocks noChangeAspect="1"/>
          </p:cNvPicPr>
          <p:nvPr/>
        </p:nvPicPr>
        <p:blipFill>
          <a:blip r:embed="rId13"/>
          <a:srcRect l="0" r="0" t="0" b="0"/>
          <a:stretch/>
        </p:blipFill>
        <p:spPr>
          <a:xfrm>
            <a:off x="9137650" y="4467671"/>
            <a:ext cx="177800" cy="177800"/>
          </a:xfrm>
          <a:prstGeom prst="rect">
            <a:avLst/>
          </a:prstGeom>
        </p:spPr>
      </p:pic>
      <p:sp>
        <p:nvSpPr>
          <p:cNvPr id="49" name="Text 34"/>
          <p:cNvSpPr/>
          <p:nvPr/>
        </p:nvSpPr>
        <p:spPr>
          <a:xfrm>
            <a:off x="9391650" y="4467671"/>
            <a:ext cx="17528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It stops when the browser tab closes</a:t>
            </a:r>
            <a:endParaRPr lang="en-US" sz="1200" dirty="0"/>
          </a:p>
        </p:txBody>
      </p:sp>
      <p:sp>
        <p:nvSpPr>
          <p:cNvPr id="50" name="Text 3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D3C4"/>
                </a:solidFill>
                <a:latin typeface="Manrope" pitchFamily="34" charset="0"/>
                <a:ea typeface="Manrope" pitchFamily="34" charset="-122"/>
                <a:cs typeface="Manrope" pitchFamily="34" charset="-120"/>
              </a:rPr>
              <a:t>Product view:</a:t>
            </a:r>
            <a:r>
              <a:rPr lang="en-US" sz="1200" dirty="0">
                <a:solidFill>
                  <a:srgbClr val="7D8696"/>
                </a:solidFill>
                <a:latin typeface="Manrope" pitchFamily="34" charset="0"/>
                <a:ea typeface="Manrope" pitchFamily="34" charset="-122"/>
                <a:cs typeface="Manrope" pitchFamily="34" charset="-120"/>
              </a:rPr>
              <a:t> onboarding is the customer’s first hour with PRISM, and it has to just work.</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4 · SERVICE BY SERVICE · FORENSICS, EDGE AND DELIVERY</a:t>
            </a:r>
            <a:endParaRPr lang="en-US" sz="1200" dirty="0"/>
          </a:p>
        </p:txBody>
      </p:sp>
      <p:sp>
        <p:nvSpPr>
          <p:cNvPr id="3" name="Shape 1"/>
          <p:cNvSpPr/>
          <p:nvPr/>
        </p:nvSpPr>
        <p:spPr>
          <a:xfrm>
            <a:off x="815975" y="1232495"/>
            <a:ext cx="450850" cy="450850"/>
          </a:xfrm>
          <a:prstGeom prst="roundRect">
            <a:avLst>
              <a:gd name="adj" fmla="val 10563"/>
            </a:avLst>
          </a:prstGeom>
          <a:solidFill>
            <a:srgbClr val="0E1E21"/>
          </a:solidFill>
          <a:ln w="6350">
            <a:solidFill>
              <a:srgbClr val="1F3E3E"/>
            </a:solidFill>
            <a:prstDash val="solid"/>
          </a:ln>
        </p:spPr>
      </p:sp>
      <p:pic>
        <p:nvPicPr>
          <p:cNvPr id="4" name="Image 0" descr="Book">    </p:cNvPr>
          <p:cNvPicPr>
            <a:picLocks noChangeAspect="1"/>
          </p:cNvPicPr>
          <p:nvPr/>
        </p:nvPicPr>
        <p:blipFill>
          <a:blip r:embed="rId1"/>
          <a:srcRect l="0" r="0" t="0" b="0"/>
          <a:stretch/>
        </p:blipFill>
        <p:spPr>
          <a:xfrm>
            <a:off x="914400" y="1330920"/>
            <a:ext cx="254000" cy="254000"/>
          </a:xfrm>
          <a:prstGeom prst="rect">
            <a:avLst/>
          </a:prstGeom>
        </p:spPr>
      </p:pic>
      <p:sp>
        <p:nvSpPr>
          <p:cNvPr id="5" name="Text 2"/>
          <p:cNvSpPr/>
          <p:nvPr>
            <p:ph type="title"/>
          </p:nvPr>
        </p:nvSpPr>
        <p:spPr>
          <a:xfrm>
            <a:off x="1422400" y="1290290"/>
            <a:ext cx="10255504"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FORENSICS, EDGE </a:t>
            </a:r>
            <a:r>
              <a:rPr lang="en-US" sz="2400" b="1" i="0" spc="150" kern="0" dirty="0">
                <a:solidFill>
                  <a:srgbClr val="5FD3C4"/>
                </a:solidFill>
                <a:latin typeface="Archivo" pitchFamily="34" charset="0"/>
                <a:ea typeface="Archivo" pitchFamily="34" charset="-122"/>
                <a:cs typeface="Archivo" pitchFamily="34" charset="-120"/>
              </a:rPr>
              <a:t>AND DELIVERY</a:t>
            </a:r>
            <a:endParaRPr lang="en-US" sz="2400" dirty="0"/>
          </a:p>
        </p:txBody>
      </p:sp>
      <p:sp>
        <p:nvSpPr>
          <p:cNvPr id="6" name="Shape 3"/>
          <p:cNvSpPr/>
          <p:nvPr/>
        </p:nvSpPr>
        <p:spPr>
          <a:xfrm>
            <a:off x="815975" y="1892895"/>
            <a:ext cx="3414167" cy="3090962"/>
          </a:xfrm>
          <a:prstGeom prst="roundRect">
            <a:avLst>
              <a:gd name="adj" fmla="val 2363"/>
            </a:avLst>
          </a:prstGeom>
          <a:solidFill>
            <a:srgbClr val="0B1018"/>
          </a:solidFill>
          <a:ln w="6350">
            <a:solidFill>
              <a:srgbClr val="1C2532"/>
            </a:solidFill>
            <a:prstDash val="solid"/>
          </a:ln>
        </p:spPr>
      </p:sp>
      <p:sp>
        <p:nvSpPr>
          <p:cNvPr id="7" name="Shape 4"/>
          <p:cNvSpPr/>
          <p:nvPr/>
        </p:nvSpPr>
        <p:spPr>
          <a:xfrm>
            <a:off x="1025525" y="2102445"/>
            <a:ext cx="349250" cy="349250"/>
          </a:xfrm>
          <a:prstGeom prst="roundRect">
            <a:avLst>
              <a:gd name="adj" fmla="val 17273"/>
            </a:avLst>
          </a:prstGeom>
          <a:solidFill>
            <a:srgbClr val="0E1E21"/>
          </a:solidFill>
          <a:ln w="6350">
            <a:solidFill>
              <a:srgbClr val="1F3E3E"/>
            </a:solidFill>
            <a:prstDash val="solid"/>
          </a:ln>
        </p:spPr>
      </p:sp>
      <p:pic>
        <p:nvPicPr>
          <p:cNvPr id="8" name="Image 1" descr="Book">    </p:cNvPr>
          <p:cNvPicPr>
            <a:picLocks noChangeAspect="1"/>
          </p:cNvPicPr>
          <p:nvPr/>
        </p:nvPicPr>
        <p:blipFill>
          <a:blip r:embed="rId2"/>
          <a:srcRect l="0" r="0" t="0" b="0"/>
          <a:stretch/>
        </p:blipFill>
        <p:spPr>
          <a:xfrm>
            <a:off x="1098550" y="2175470"/>
            <a:ext cx="203200" cy="203200"/>
          </a:xfrm>
          <a:prstGeom prst="rect">
            <a:avLst/>
          </a:prstGeom>
        </p:spPr>
      </p:pic>
      <p:sp>
        <p:nvSpPr>
          <p:cNvPr id="9" name="Text 5"/>
          <p:cNvSpPr/>
          <p:nvPr/>
        </p:nvSpPr>
        <p:spPr>
          <a:xfrm>
            <a:off x="1479550" y="2170410"/>
            <a:ext cx="262054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prism-forensics</a:t>
            </a:r>
            <a:endParaRPr lang="en-US" sz="1200" dirty="0"/>
          </a:p>
        </p:txBody>
      </p:sp>
      <p:sp>
        <p:nvSpPr>
          <p:cNvPr id="10" name="Text 6"/>
          <p:cNvSpPr/>
          <p:nvPr/>
        </p:nvSpPr>
        <p:spPr>
          <a:xfrm>
            <a:off x="1022350" y="2556470"/>
            <a:ext cx="3091459"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Search recorded evidence, as a case</a:t>
            </a:r>
            <a:endParaRPr lang="en-US" sz="1400" dirty="0"/>
          </a:p>
        </p:txBody>
      </p:sp>
      <p:pic>
        <p:nvPicPr>
          <p:cNvPr id="11" name="Image 2" descr="line">    </p:cNvPr>
          <p:cNvPicPr>
            <a:picLocks noChangeAspect="1"/>
          </p:cNvPicPr>
          <p:nvPr/>
        </p:nvPicPr>
        <p:blipFill>
          <a:blip r:embed="rId3"/>
          <a:srcRect l="0" r="0" t="-39" b="-39"/>
          <a:stretch/>
        </p:blipFill>
        <p:spPr>
          <a:xfrm>
            <a:off x="1022350" y="3120330"/>
            <a:ext cx="3001417" cy="6350"/>
          </a:xfrm>
          <a:prstGeom prst="rect">
            <a:avLst/>
          </a:prstGeom>
        </p:spPr>
      </p:pic>
      <p:sp>
        <p:nvSpPr>
          <p:cNvPr id="12" name="Text 7"/>
          <p:cNvSpPr/>
          <p:nvPr/>
        </p:nvSpPr>
        <p:spPr>
          <a:xfrm>
            <a:off x="1022350" y="322828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13" name="Text 8"/>
          <p:cNvSpPr/>
          <p:nvPr/>
        </p:nvSpPr>
        <p:spPr>
          <a:xfrm>
            <a:off x="1022350" y="354320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One job at a time; kept until the case is deleted</a:t>
            </a:r>
            <a:endParaRPr lang="en-US" sz="1200" dirty="0"/>
          </a:p>
        </p:txBody>
      </p:sp>
      <p:sp>
        <p:nvSpPr>
          <p:cNvPr id="14" name="Shape 9"/>
          <p:cNvSpPr/>
          <p:nvPr/>
        </p:nvSpPr>
        <p:spPr>
          <a:xfrm>
            <a:off x="1022350" y="4173041"/>
            <a:ext cx="3001417" cy="604441"/>
          </a:xfrm>
          <a:prstGeom prst="roundRect">
            <a:avLst>
              <a:gd name="adj" fmla="val 8404"/>
            </a:avLst>
          </a:prstGeom>
          <a:solidFill>
            <a:srgbClr val="130F27"/>
          </a:solidFill>
          <a:ln/>
        </p:spPr>
      </p:sp>
      <p:pic>
        <p:nvPicPr>
          <p:cNvPr id="15" name="Image 3" descr="Warning">    </p:cNvPr>
          <p:cNvPicPr>
            <a:picLocks noChangeAspect="1"/>
          </p:cNvPicPr>
          <p:nvPr/>
        </p:nvPicPr>
        <p:blipFill>
          <a:blip r:embed="rId4"/>
          <a:srcRect l="0" r="0" t="0" b="0"/>
          <a:stretch/>
        </p:blipFill>
        <p:spPr>
          <a:xfrm>
            <a:off x="1123950" y="4261941"/>
            <a:ext cx="177800" cy="177800"/>
          </a:xfrm>
          <a:prstGeom prst="rect">
            <a:avLst/>
          </a:prstGeom>
        </p:spPr>
      </p:pic>
      <p:sp>
        <p:nvSpPr>
          <p:cNvPr id="16" name="Text 10"/>
          <p:cNvSpPr/>
          <p:nvPr/>
        </p:nvSpPr>
        <p:spPr>
          <a:xfrm>
            <a:off x="1377950" y="4261941"/>
            <a:ext cx="262054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Shares the GPU; the mode that pauses live ships off</a:t>
            </a:r>
            <a:endParaRPr lang="en-US" sz="1200" dirty="0"/>
          </a:p>
        </p:txBody>
      </p:sp>
      <p:sp>
        <p:nvSpPr>
          <p:cNvPr id="17" name="Shape 11"/>
          <p:cNvSpPr/>
          <p:nvPr/>
        </p:nvSpPr>
        <p:spPr>
          <a:xfrm>
            <a:off x="4388892" y="1892895"/>
            <a:ext cx="3414216" cy="3090962"/>
          </a:xfrm>
          <a:prstGeom prst="roundRect">
            <a:avLst>
              <a:gd name="adj" fmla="val 2363"/>
            </a:avLst>
          </a:prstGeom>
          <a:solidFill>
            <a:srgbClr val="0B1018"/>
          </a:solidFill>
          <a:ln w="6350">
            <a:solidFill>
              <a:srgbClr val="1C2532"/>
            </a:solidFill>
            <a:prstDash val="solid"/>
          </a:ln>
        </p:spPr>
      </p:sp>
      <p:sp>
        <p:nvSpPr>
          <p:cNvPr id="18" name="Shape 12"/>
          <p:cNvSpPr/>
          <p:nvPr/>
        </p:nvSpPr>
        <p:spPr>
          <a:xfrm>
            <a:off x="4598442" y="2102445"/>
            <a:ext cx="349250" cy="349250"/>
          </a:xfrm>
          <a:prstGeom prst="roundRect">
            <a:avLst>
              <a:gd name="adj" fmla="val 17273"/>
            </a:avLst>
          </a:prstGeom>
          <a:solidFill>
            <a:srgbClr val="0E1E21"/>
          </a:solidFill>
          <a:ln w="6350">
            <a:solidFill>
              <a:srgbClr val="1F3E3E"/>
            </a:solidFill>
            <a:prstDash val="solid"/>
          </a:ln>
        </p:spPr>
      </p:sp>
      <p:pic>
        <p:nvPicPr>
          <p:cNvPr id="19" name="Image 4" descr="Globe">    </p:cNvPr>
          <p:cNvPicPr>
            <a:picLocks noChangeAspect="1"/>
          </p:cNvPicPr>
          <p:nvPr/>
        </p:nvPicPr>
        <p:blipFill>
          <a:blip r:embed="rId5"/>
          <a:srcRect l="0" r="0" t="0" b="0"/>
          <a:stretch/>
        </p:blipFill>
        <p:spPr>
          <a:xfrm>
            <a:off x="4671467" y="2175470"/>
            <a:ext cx="203200" cy="203200"/>
          </a:xfrm>
          <a:prstGeom prst="rect">
            <a:avLst/>
          </a:prstGeom>
        </p:spPr>
      </p:pic>
      <p:sp>
        <p:nvSpPr>
          <p:cNvPr id="20" name="Text 13"/>
          <p:cNvSpPr/>
          <p:nvPr/>
        </p:nvSpPr>
        <p:spPr>
          <a:xfrm>
            <a:off x="5052467" y="2170410"/>
            <a:ext cx="262059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Jetson Orin NX</a:t>
            </a:r>
            <a:endParaRPr lang="en-US" sz="1200" dirty="0"/>
          </a:p>
        </p:txBody>
      </p:sp>
      <p:sp>
        <p:nvSpPr>
          <p:cNvPr id="21" name="Text 14"/>
          <p:cNvSpPr/>
          <p:nvPr/>
        </p:nvSpPr>
        <p:spPr>
          <a:xfrm>
            <a:off x="4595267" y="2556470"/>
            <a:ext cx="309151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A smaller, cheaper box for edge sites</a:t>
            </a:r>
            <a:endParaRPr lang="en-US" sz="1400" dirty="0"/>
          </a:p>
        </p:txBody>
      </p:sp>
      <p:pic>
        <p:nvPicPr>
          <p:cNvPr id="22" name="Image 5" descr="line">    </p:cNvPr>
          <p:cNvPicPr>
            <a:picLocks noChangeAspect="1"/>
          </p:cNvPicPr>
          <p:nvPr/>
        </p:nvPicPr>
        <p:blipFill>
          <a:blip r:embed="rId6"/>
          <a:srcRect l="0" r="0" t="-32" b="-32"/>
          <a:stretch/>
        </p:blipFill>
        <p:spPr>
          <a:xfrm>
            <a:off x="4595267" y="3120330"/>
            <a:ext cx="3001466" cy="6350"/>
          </a:xfrm>
          <a:prstGeom prst="rect">
            <a:avLst/>
          </a:prstGeom>
        </p:spPr>
      </p:pic>
      <p:sp>
        <p:nvSpPr>
          <p:cNvPr id="23" name="Text 15"/>
          <p:cNvSpPr/>
          <p:nvPr/>
        </p:nvSpPr>
        <p:spPr>
          <a:xfrm>
            <a:off x="4595267" y="3228280"/>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24" name="Text 16"/>
          <p:cNvSpPr/>
          <p:nvPr/>
        </p:nvSpPr>
        <p:spPr>
          <a:xfrm>
            <a:off x="4595267" y="354320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4 × 4 MP at 10 fps with faces; 2 with search on</a:t>
            </a:r>
            <a:endParaRPr lang="en-US" sz="1200" dirty="0"/>
          </a:p>
        </p:txBody>
      </p:sp>
      <p:sp>
        <p:nvSpPr>
          <p:cNvPr id="25" name="Shape 17"/>
          <p:cNvSpPr/>
          <p:nvPr/>
        </p:nvSpPr>
        <p:spPr>
          <a:xfrm>
            <a:off x="4595267" y="4173041"/>
            <a:ext cx="3001466" cy="604441"/>
          </a:xfrm>
          <a:prstGeom prst="roundRect">
            <a:avLst>
              <a:gd name="adj" fmla="val 8404"/>
            </a:avLst>
          </a:prstGeom>
          <a:solidFill>
            <a:srgbClr val="130F27"/>
          </a:solidFill>
          <a:ln/>
        </p:spPr>
      </p:sp>
      <p:pic>
        <p:nvPicPr>
          <p:cNvPr id="26" name="Image 6" descr="Warning">    </p:cNvPr>
          <p:cNvPicPr>
            <a:picLocks noChangeAspect="1"/>
          </p:cNvPicPr>
          <p:nvPr/>
        </p:nvPicPr>
        <p:blipFill>
          <a:blip r:embed="rId7"/>
          <a:srcRect l="0" r="0" t="0" b="0"/>
          <a:stretch/>
        </p:blipFill>
        <p:spPr>
          <a:xfrm>
            <a:off x="4696867" y="4261941"/>
            <a:ext cx="177800" cy="177800"/>
          </a:xfrm>
          <a:prstGeom prst="rect">
            <a:avLst/>
          </a:prstGeom>
        </p:spPr>
      </p:pic>
      <p:sp>
        <p:nvSpPr>
          <p:cNvPr id="27" name="Text 18"/>
          <p:cNvSpPr/>
          <p:nvPr/>
        </p:nvSpPr>
        <p:spPr>
          <a:xfrm>
            <a:off x="4950867" y="4261941"/>
            <a:ext cx="26205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No plate reading yet; 15 fps not yet shown</a:t>
            </a:r>
            <a:endParaRPr lang="en-US" sz="1200" dirty="0"/>
          </a:p>
        </p:txBody>
      </p:sp>
      <p:sp>
        <p:nvSpPr>
          <p:cNvPr id="28" name="Shape 19"/>
          <p:cNvSpPr/>
          <p:nvPr/>
        </p:nvSpPr>
        <p:spPr>
          <a:xfrm>
            <a:off x="7961858" y="1892895"/>
            <a:ext cx="3414167" cy="3090962"/>
          </a:xfrm>
          <a:prstGeom prst="roundRect">
            <a:avLst>
              <a:gd name="adj" fmla="val 2363"/>
            </a:avLst>
          </a:prstGeom>
          <a:solidFill>
            <a:srgbClr val="0B1018"/>
          </a:solidFill>
          <a:ln w="6350">
            <a:solidFill>
              <a:srgbClr val="1C2532"/>
            </a:solidFill>
            <a:prstDash val="solid"/>
          </a:ln>
        </p:spPr>
      </p:sp>
      <p:sp>
        <p:nvSpPr>
          <p:cNvPr id="29" name="Shape 20"/>
          <p:cNvSpPr/>
          <p:nvPr/>
        </p:nvSpPr>
        <p:spPr>
          <a:xfrm>
            <a:off x="8171408" y="2102445"/>
            <a:ext cx="349250" cy="349250"/>
          </a:xfrm>
          <a:prstGeom prst="roundRect">
            <a:avLst>
              <a:gd name="adj" fmla="val 17273"/>
            </a:avLst>
          </a:prstGeom>
          <a:solidFill>
            <a:srgbClr val="0E1E21"/>
          </a:solidFill>
          <a:ln w="6350">
            <a:solidFill>
              <a:srgbClr val="1F3E3E"/>
            </a:solidFill>
            <a:prstDash val="solid"/>
          </a:ln>
        </p:spPr>
      </p:sp>
      <p:pic>
        <p:nvPicPr>
          <p:cNvPr id="30" name="Image 7" descr="CheckCircle">    </p:cNvPr>
          <p:cNvPicPr>
            <a:picLocks noChangeAspect="1"/>
          </p:cNvPicPr>
          <p:nvPr/>
        </p:nvPicPr>
        <p:blipFill>
          <a:blip r:embed="rId8"/>
          <a:srcRect l="0" r="0" t="0" b="0"/>
          <a:stretch/>
        </p:blipFill>
        <p:spPr>
          <a:xfrm>
            <a:off x="8244433" y="2175470"/>
            <a:ext cx="203200" cy="203200"/>
          </a:xfrm>
          <a:prstGeom prst="rect">
            <a:avLst/>
          </a:prstGeom>
        </p:spPr>
      </p:pic>
      <p:sp>
        <p:nvSpPr>
          <p:cNvPr id="31" name="Text 21"/>
          <p:cNvSpPr/>
          <p:nvPr/>
        </p:nvSpPr>
        <p:spPr>
          <a:xfrm>
            <a:off x="8625433" y="2170410"/>
            <a:ext cx="262054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D3C4"/>
                </a:solidFill>
                <a:latin typeface="Manrope" pitchFamily="34" charset="0"/>
                <a:ea typeface="Manrope" pitchFamily="34" charset="-122"/>
                <a:cs typeface="Manrope" pitchFamily="34" charset="-120"/>
              </a:rPr>
              <a:t>prism-release</a:t>
            </a:r>
            <a:endParaRPr lang="en-US" sz="1200" dirty="0"/>
          </a:p>
        </p:txBody>
      </p:sp>
      <p:sp>
        <p:nvSpPr>
          <p:cNvPr id="32" name="Text 22"/>
          <p:cNvSpPr/>
          <p:nvPr/>
        </p:nvSpPr>
        <p:spPr>
          <a:xfrm>
            <a:off x="8168233" y="2556470"/>
            <a:ext cx="3091459"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A tested package a customer installs</a:t>
            </a:r>
            <a:endParaRPr lang="en-US" sz="1400" dirty="0"/>
          </a:p>
        </p:txBody>
      </p:sp>
      <p:pic>
        <p:nvPicPr>
          <p:cNvPr id="33" name="Image 8" descr="line">    </p:cNvPr>
          <p:cNvPicPr>
            <a:picLocks noChangeAspect="1"/>
          </p:cNvPicPr>
          <p:nvPr/>
        </p:nvPicPr>
        <p:blipFill>
          <a:blip r:embed="rId9"/>
          <a:srcRect l="0" r="0" t="-39" b="-39"/>
          <a:stretch/>
        </p:blipFill>
        <p:spPr>
          <a:xfrm>
            <a:off x="8168233" y="3120330"/>
            <a:ext cx="3001417" cy="6350"/>
          </a:xfrm>
          <a:prstGeom prst="rect">
            <a:avLst/>
          </a:prstGeom>
        </p:spPr>
      </p:pic>
      <p:sp>
        <p:nvSpPr>
          <p:cNvPr id="34" name="Text 23"/>
          <p:cNvSpPr/>
          <p:nvPr/>
        </p:nvSpPr>
        <p:spPr>
          <a:xfrm>
            <a:off x="8168233" y="322828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D8696"/>
                </a:solidFill>
                <a:latin typeface="Archivo" pitchFamily="34" charset="0"/>
                <a:ea typeface="Archivo" pitchFamily="34" charset="-122"/>
                <a:cs typeface="Archivo" pitchFamily="34" charset="-120"/>
              </a:rPr>
              <a:t>KEY FACT</a:t>
            </a:r>
            <a:endParaRPr lang="en-US" sz="1200" dirty="0"/>
          </a:p>
        </p:txBody>
      </p:sp>
      <p:sp>
        <p:nvSpPr>
          <p:cNvPr id="35" name="Text 24"/>
          <p:cNvSpPr/>
          <p:nvPr/>
        </p:nvSpPr>
        <p:spPr>
          <a:xfrm>
            <a:off x="8168233" y="3543201"/>
            <a:ext cx="30914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2EA"/>
                </a:solidFill>
                <a:latin typeface="Manrope" pitchFamily="34" charset="0"/>
                <a:ea typeface="Manrope" pitchFamily="34" charset="-122"/>
                <a:cs typeface="Manrope" pitchFamily="34" charset="-120"/>
              </a:rPr>
              <a:t>Rehearsed exactly as a customer runs it</a:t>
            </a:r>
            <a:endParaRPr lang="en-US" sz="1200" dirty="0"/>
          </a:p>
        </p:txBody>
      </p:sp>
      <p:sp>
        <p:nvSpPr>
          <p:cNvPr id="36" name="Shape 25"/>
          <p:cNvSpPr/>
          <p:nvPr/>
        </p:nvSpPr>
        <p:spPr>
          <a:xfrm>
            <a:off x="8168233" y="4173041"/>
            <a:ext cx="3001417" cy="604441"/>
          </a:xfrm>
          <a:prstGeom prst="roundRect">
            <a:avLst>
              <a:gd name="adj" fmla="val 8404"/>
            </a:avLst>
          </a:prstGeom>
          <a:solidFill>
            <a:srgbClr val="130F27"/>
          </a:solidFill>
          <a:ln/>
        </p:spPr>
      </p:sp>
      <p:pic>
        <p:nvPicPr>
          <p:cNvPr id="37" name="Image 9" descr="Warning">    </p:cNvPr>
          <p:cNvPicPr>
            <a:picLocks noChangeAspect="1"/>
          </p:cNvPicPr>
          <p:nvPr/>
        </p:nvPicPr>
        <p:blipFill>
          <a:blip r:embed="rId10"/>
          <a:srcRect l="0" r="0" t="0" b="0"/>
          <a:stretch/>
        </p:blipFill>
        <p:spPr>
          <a:xfrm>
            <a:off x="8269833" y="4261941"/>
            <a:ext cx="177800" cy="177800"/>
          </a:xfrm>
          <a:prstGeom prst="rect">
            <a:avLst/>
          </a:prstGeom>
        </p:spPr>
      </p:pic>
      <p:sp>
        <p:nvSpPr>
          <p:cNvPr id="38" name="Text 26"/>
          <p:cNvSpPr/>
          <p:nvPr/>
        </p:nvSpPr>
        <p:spPr>
          <a:xfrm>
            <a:off x="8523833" y="4261941"/>
            <a:ext cx="262054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FA"/>
                </a:solidFill>
                <a:latin typeface="Manrope" pitchFamily="34" charset="0"/>
                <a:ea typeface="Manrope" pitchFamily="34" charset="-122"/>
                <a:cs typeface="Manrope" pitchFamily="34" charset="-120"/>
              </a:rPr>
              <a:t>A second config copy, guarded by a parity check</a:t>
            </a:r>
            <a:endParaRPr lang="en-US" sz="1200" dirty="0"/>
          </a:p>
        </p:txBody>
      </p:sp>
      <p:sp>
        <p:nvSpPr>
          <p:cNvPr id="39"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D3C4"/>
                </a:solidFill>
                <a:latin typeface="Manrope" pitchFamily="34" charset="0"/>
                <a:ea typeface="Manrope" pitchFamily="34" charset="-122"/>
                <a:cs typeface="Manrope" pitchFamily="34" charset="-120"/>
              </a:rPr>
              <a:t>Product view:</a:t>
            </a:r>
            <a:r>
              <a:rPr lang="en-US" sz="1200" dirty="0">
                <a:solidFill>
                  <a:srgbClr val="7D8696"/>
                </a:solidFill>
                <a:latin typeface="Manrope" pitchFamily="34" charset="0"/>
                <a:ea typeface="Manrope" pitchFamily="34" charset="-122"/>
                <a:cs typeface="Manrope" pitchFamily="34" charset="-120"/>
              </a:rPr>
              <a:t> a customer judges us on the release they install, so rehearsal is not optional.</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5 · DECISIONS AND NEXT STEPS</a:t>
            </a:r>
            <a:endParaRPr lang="en-US" sz="1200" dirty="0"/>
          </a:p>
        </p:txBody>
      </p:sp>
      <p:sp>
        <p:nvSpPr>
          <p:cNvPr id="3" name="Text 1"/>
          <p:cNvSpPr/>
          <p:nvPr>
            <p:ph type="title"/>
          </p:nvPr>
        </p:nvSpPr>
        <p:spPr>
          <a:xfrm>
            <a:off x="812800" y="1229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THE NUMBERS THAT </a:t>
            </a:r>
            <a:r>
              <a:rPr lang="en-US" sz="2400" b="1" i="0" spc="150" kern="0" dirty="0">
                <a:solidFill>
                  <a:srgbClr val="5FD3C4"/>
                </a:solidFill>
                <a:latin typeface="Archivo" pitchFamily="34" charset="0"/>
                <a:ea typeface="Archivo" pitchFamily="34" charset="-122"/>
                <a:cs typeface="Archivo" pitchFamily="34" charset="-120"/>
              </a:rPr>
              <a:t>BOUND OUR PROMISES</a:t>
            </a:r>
            <a:endParaRPr lang="en-US" sz="2400" dirty="0"/>
          </a:p>
        </p:txBody>
      </p:sp>
      <p:sp>
        <p:nvSpPr>
          <p:cNvPr id="4" name="Shape 2"/>
          <p:cNvSpPr/>
          <p:nvPr/>
        </p:nvSpPr>
        <p:spPr>
          <a:xfrm>
            <a:off x="815975" y="1770955"/>
            <a:ext cx="3414167" cy="1471861"/>
          </a:xfrm>
          <a:prstGeom prst="roundRect">
            <a:avLst>
              <a:gd name="adj" fmla="val 3236"/>
            </a:avLst>
          </a:prstGeom>
          <a:solidFill>
            <a:srgbClr val="0B1018"/>
          </a:solidFill>
          <a:ln w="6350">
            <a:solidFill>
              <a:srgbClr val="1C2532"/>
            </a:solidFill>
            <a:prstDash val="solid"/>
          </a:ln>
        </p:spPr>
      </p:sp>
      <p:sp>
        <p:nvSpPr>
          <p:cNvPr id="5" name="Text 3"/>
          <p:cNvSpPr/>
          <p:nvPr/>
        </p:nvSpPr>
        <p:spPr>
          <a:xfrm>
            <a:off x="1022350" y="1951930"/>
            <a:ext cx="295672"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5FD3C4"/>
                </a:solidFill>
                <a:latin typeface="Archivo" pitchFamily="34" charset="0"/>
                <a:ea typeface="Archivo" pitchFamily="34" charset="-122"/>
                <a:cs typeface="Archivo" pitchFamily="34" charset="-120"/>
              </a:rPr>
              <a:t>8</a:t>
            </a:r>
            <a:endParaRPr lang="en-US" sz="2400" dirty="0"/>
          </a:p>
        </p:txBody>
      </p:sp>
      <p:pic>
        <p:nvPicPr>
          <p:cNvPr id="6" name="Image 0" descr="Search">    </p:cNvPr>
          <p:cNvPicPr>
            <a:picLocks noChangeAspect="1"/>
          </p:cNvPicPr>
          <p:nvPr/>
        </p:nvPicPr>
        <p:blipFill>
          <a:blip r:embed="rId1"/>
          <a:srcRect l="0" r="0" t="0" b="0"/>
          <a:stretch/>
        </p:blipFill>
        <p:spPr>
          <a:xfrm>
            <a:off x="3769767" y="1992561"/>
            <a:ext cx="254000" cy="254000"/>
          </a:xfrm>
          <a:prstGeom prst="rect">
            <a:avLst/>
          </a:prstGeom>
        </p:spPr>
      </p:pic>
      <p:sp>
        <p:nvSpPr>
          <p:cNvPr id="7" name="Text 4"/>
          <p:cNvSpPr/>
          <p:nvPr/>
        </p:nvSpPr>
        <p:spPr>
          <a:xfrm>
            <a:off x="1022350" y="2337991"/>
            <a:ext cx="3091459"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cameras per face engine</a:t>
            </a:r>
            <a:endParaRPr lang="en-US" sz="1400" dirty="0"/>
          </a:p>
        </p:txBody>
      </p:sp>
      <p:sp>
        <p:nvSpPr>
          <p:cNvPr id="8" name="Text 5"/>
          <p:cNvSpPr/>
          <p:nvPr/>
        </p:nvSpPr>
        <p:spPr>
          <a:xfrm>
            <a:off x="1022350" y="2619921"/>
            <a:ext cx="309145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3BBC7"/>
                </a:solidFill>
                <a:latin typeface="Manrope" pitchFamily="34" charset="0"/>
                <a:ea typeface="Manrope" pitchFamily="34" charset="-122"/>
                <a:cs typeface="Manrope" pitchFamily="34" charset="-120"/>
              </a:rPr>
              <a:t>At today’s default. More needs a larger engine on the target GPU.</a:t>
            </a:r>
            <a:endParaRPr lang="en-US" sz="1200" dirty="0"/>
          </a:p>
        </p:txBody>
      </p:sp>
      <p:sp>
        <p:nvSpPr>
          <p:cNvPr id="9" name="Shape 6"/>
          <p:cNvSpPr/>
          <p:nvPr/>
        </p:nvSpPr>
        <p:spPr>
          <a:xfrm>
            <a:off x="4388892" y="1770955"/>
            <a:ext cx="3414167" cy="1471861"/>
          </a:xfrm>
          <a:prstGeom prst="roundRect">
            <a:avLst>
              <a:gd name="adj" fmla="val 3236"/>
            </a:avLst>
          </a:prstGeom>
          <a:solidFill>
            <a:srgbClr val="0B1018"/>
          </a:solidFill>
          <a:ln w="6350">
            <a:solidFill>
              <a:srgbClr val="1C2532"/>
            </a:solidFill>
            <a:prstDash val="solid"/>
          </a:ln>
        </p:spPr>
      </p:sp>
      <p:sp>
        <p:nvSpPr>
          <p:cNvPr id="10" name="Text 7"/>
          <p:cNvSpPr/>
          <p:nvPr/>
        </p:nvSpPr>
        <p:spPr>
          <a:xfrm>
            <a:off x="4595267" y="1951930"/>
            <a:ext cx="2116872"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5FD3C4"/>
                </a:solidFill>
                <a:latin typeface="Archivo" pitchFamily="34" charset="0"/>
                <a:ea typeface="Archivo" pitchFamily="34" charset="-122"/>
                <a:cs typeface="Archivo" pitchFamily="34" charset="-120"/>
              </a:rPr>
              <a:t>~480 MiB</a:t>
            </a:r>
            <a:endParaRPr lang="en-US" sz="2400" dirty="0"/>
          </a:p>
        </p:txBody>
      </p:sp>
      <p:pic>
        <p:nvPicPr>
          <p:cNvPr id="11" name="Image 1" descr="Database">    </p:cNvPr>
          <p:cNvPicPr>
            <a:picLocks noChangeAspect="1"/>
          </p:cNvPicPr>
          <p:nvPr/>
        </p:nvPicPr>
        <p:blipFill>
          <a:blip r:embed="rId2"/>
          <a:srcRect l="0" r="0" t="0" b="0"/>
          <a:stretch/>
        </p:blipFill>
        <p:spPr>
          <a:xfrm>
            <a:off x="7342684" y="1992561"/>
            <a:ext cx="254000" cy="254000"/>
          </a:xfrm>
          <a:prstGeom prst="rect">
            <a:avLst/>
          </a:prstGeom>
        </p:spPr>
      </p:pic>
      <p:sp>
        <p:nvSpPr>
          <p:cNvPr id="12" name="Text 8"/>
          <p:cNvSpPr/>
          <p:nvPr/>
        </p:nvSpPr>
        <p:spPr>
          <a:xfrm>
            <a:off x="4595267" y="2337991"/>
            <a:ext cx="3091459"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per recognition worker</a:t>
            </a:r>
            <a:endParaRPr lang="en-US" sz="1400" dirty="0"/>
          </a:p>
        </p:txBody>
      </p:sp>
      <p:sp>
        <p:nvSpPr>
          <p:cNvPr id="13" name="Text 9"/>
          <p:cNvSpPr/>
          <p:nvPr/>
        </p:nvSpPr>
        <p:spPr>
          <a:xfrm>
            <a:off x="4595267" y="2619921"/>
            <a:ext cx="309145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3BBC7"/>
                </a:solidFill>
                <a:latin typeface="Manrope" pitchFamily="34" charset="0"/>
                <a:ea typeface="Manrope" pitchFamily="34" charset="-122"/>
                <a:cs typeface="Manrope" pitchFamily="34" charset="-120"/>
              </a:rPr>
              <a:t>Same budget as cameras, so we never add workers for speed.</a:t>
            </a:r>
            <a:endParaRPr lang="en-US" sz="1200" dirty="0"/>
          </a:p>
        </p:txBody>
      </p:sp>
      <p:sp>
        <p:nvSpPr>
          <p:cNvPr id="14" name="Shape 10"/>
          <p:cNvSpPr/>
          <p:nvPr/>
        </p:nvSpPr>
        <p:spPr>
          <a:xfrm>
            <a:off x="7961809" y="1770955"/>
            <a:ext cx="3414216" cy="1471861"/>
          </a:xfrm>
          <a:prstGeom prst="roundRect">
            <a:avLst>
              <a:gd name="adj" fmla="val 3236"/>
            </a:avLst>
          </a:prstGeom>
          <a:solidFill>
            <a:srgbClr val="0B1018"/>
          </a:solidFill>
          <a:ln w="6350">
            <a:solidFill>
              <a:srgbClr val="1C2532"/>
            </a:solidFill>
            <a:prstDash val="solid"/>
          </a:ln>
        </p:spPr>
      </p:sp>
      <p:sp>
        <p:nvSpPr>
          <p:cNvPr id="15" name="Text 11"/>
          <p:cNvSpPr/>
          <p:nvPr/>
        </p:nvSpPr>
        <p:spPr>
          <a:xfrm>
            <a:off x="8168184" y="1951930"/>
            <a:ext cx="925830"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5FD3C4"/>
                </a:solidFill>
                <a:latin typeface="Archivo" pitchFamily="34" charset="0"/>
                <a:ea typeface="Archivo" pitchFamily="34" charset="-122"/>
                <a:cs typeface="Archivo" pitchFamily="34" charset="-120"/>
              </a:rPr>
              <a:t>~4 s</a:t>
            </a:r>
            <a:endParaRPr lang="en-US" sz="2400" dirty="0"/>
          </a:p>
        </p:txBody>
      </p:sp>
      <p:pic>
        <p:nvPicPr>
          <p:cNvPr id="16" name="Image 2" descr="Clock">    </p:cNvPr>
          <p:cNvPicPr>
            <a:picLocks noChangeAspect="1"/>
          </p:cNvPicPr>
          <p:nvPr/>
        </p:nvPicPr>
        <p:blipFill>
          <a:blip r:embed="rId3"/>
          <a:srcRect l="0" r="0" t="0" b="0"/>
          <a:stretch/>
        </p:blipFill>
        <p:spPr>
          <a:xfrm>
            <a:off x="10915650" y="1992561"/>
            <a:ext cx="254000" cy="254000"/>
          </a:xfrm>
          <a:prstGeom prst="rect">
            <a:avLst/>
          </a:prstGeom>
        </p:spPr>
      </p:pic>
      <p:sp>
        <p:nvSpPr>
          <p:cNvPr id="17" name="Text 12"/>
          <p:cNvSpPr/>
          <p:nvPr/>
        </p:nvSpPr>
        <p:spPr>
          <a:xfrm>
            <a:off x="8168184" y="2337991"/>
            <a:ext cx="309151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of frames kept in memory</a:t>
            </a:r>
            <a:endParaRPr lang="en-US" sz="1400" dirty="0"/>
          </a:p>
        </p:txBody>
      </p:sp>
      <p:sp>
        <p:nvSpPr>
          <p:cNvPr id="18" name="Text 13"/>
          <p:cNvSpPr/>
          <p:nvPr/>
        </p:nvSpPr>
        <p:spPr>
          <a:xfrm>
            <a:off x="8168184" y="2619921"/>
            <a:ext cx="309151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3BBC7"/>
                </a:solidFill>
                <a:latin typeface="Manrope" pitchFamily="34" charset="0"/>
                <a:ea typeface="Manrope" pitchFamily="34" charset="-122"/>
                <a:cs typeface="Manrope" pitchFamily="34" charset="-120"/>
              </a:rPr>
              <a:t>Faces and plates are cut out at once; frames go fast.</a:t>
            </a:r>
            <a:endParaRPr lang="en-US" sz="1200" dirty="0"/>
          </a:p>
        </p:txBody>
      </p:sp>
      <p:sp>
        <p:nvSpPr>
          <p:cNvPr id="19" name="Shape 14"/>
          <p:cNvSpPr/>
          <p:nvPr/>
        </p:nvSpPr>
        <p:spPr>
          <a:xfrm>
            <a:off x="815975" y="3401566"/>
            <a:ext cx="3414167" cy="1471861"/>
          </a:xfrm>
          <a:prstGeom prst="roundRect">
            <a:avLst>
              <a:gd name="adj" fmla="val 3236"/>
            </a:avLst>
          </a:prstGeom>
          <a:solidFill>
            <a:srgbClr val="0B1018"/>
          </a:solidFill>
          <a:ln w="6350">
            <a:solidFill>
              <a:srgbClr val="1C2532"/>
            </a:solidFill>
            <a:prstDash val="solid"/>
          </a:ln>
        </p:spPr>
      </p:sp>
      <p:sp>
        <p:nvSpPr>
          <p:cNvPr id="20" name="Text 15"/>
          <p:cNvSpPr/>
          <p:nvPr/>
        </p:nvSpPr>
        <p:spPr>
          <a:xfrm>
            <a:off x="1022350" y="3582541"/>
            <a:ext cx="1661041"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5FD3C4"/>
                </a:solidFill>
                <a:latin typeface="Archivo" pitchFamily="34" charset="0"/>
                <a:ea typeface="Archivo" pitchFamily="34" charset="-122"/>
                <a:cs typeface="Archivo" pitchFamily="34" charset="-120"/>
              </a:rPr>
              <a:t>945 ms</a:t>
            </a:r>
            <a:endParaRPr lang="en-US" sz="2400" dirty="0"/>
          </a:p>
        </p:txBody>
      </p:sp>
      <p:pic>
        <p:nvPicPr>
          <p:cNvPr id="21" name="Image 3" descr="Lightning">    </p:cNvPr>
          <p:cNvPicPr>
            <a:picLocks noChangeAspect="1"/>
          </p:cNvPicPr>
          <p:nvPr/>
        </p:nvPicPr>
        <p:blipFill>
          <a:blip r:embed="rId4"/>
          <a:srcRect l="0" r="0" t="0" b="0"/>
          <a:stretch/>
        </p:blipFill>
        <p:spPr>
          <a:xfrm>
            <a:off x="3769767" y="3623171"/>
            <a:ext cx="254000" cy="254000"/>
          </a:xfrm>
          <a:prstGeom prst="rect">
            <a:avLst/>
          </a:prstGeom>
        </p:spPr>
      </p:pic>
      <p:sp>
        <p:nvSpPr>
          <p:cNvPr id="22" name="Text 16"/>
          <p:cNvSpPr/>
          <p:nvPr/>
        </p:nvSpPr>
        <p:spPr>
          <a:xfrm>
            <a:off x="1022350" y="3968601"/>
            <a:ext cx="3091459"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worst case, face to name</a:t>
            </a:r>
            <a:endParaRPr lang="en-US" sz="1400" dirty="0"/>
          </a:p>
        </p:txBody>
      </p:sp>
      <p:sp>
        <p:nvSpPr>
          <p:cNvPr id="23" name="Text 17"/>
          <p:cNvSpPr/>
          <p:nvPr/>
        </p:nvSpPr>
        <p:spPr>
          <a:xfrm>
            <a:off x="1022350" y="4250531"/>
            <a:ext cx="309145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3BBC7"/>
                </a:solidFill>
                <a:latin typeface="Manrope" pitchFamily="34" charset="0"/>
                <a:ea typeface="Manrope" pitchFamily="34" charset="-122"/>
                <a:cs typeface="Manrope" pitchFamily="34" charset="-120"/>
              </a:rPr>
              <a:t>Measured 14 July 2026. Under one second is candidate C5.</a:t>
            </a:r>
            <a:endParaRPr lang="en-US" sz="1200" dirty="0"/>
          </a:p>
        </p:txBody>
      </p:sp>
      <p:sp>
        <p:nvSpPr>
          <p:cNvPr id="24" name="Shape 18"/>
          <p:cNvSpPr/>
          <p:nvPr/>
        </p:nvSpPr>
        <p:spPr>
          <a:xfrm>
            <a:off x="4388892" y="3401566"/>
            <a:ext cx="3414167" cy="1471861"/>
          </a:xfrm>
          <a:prstGeom prst="roundRect">
            <a:avLst>
              <a:gd name="adj" fmla="val 3236"/>
            </a:avLst>
          </a:prstGeom>
          <a:solidFill>
            <a:srgbClr val="0B1018"/>
          </a:solidFill>
          <a:ln w="6350">
            <a:solidFill>
              <a:srgbClr val="1C2532"/>
            </a:solidFill>
            <a:prstDash val="solid"/>
          </a:ln>
        </p:spPr>
      </p:sp>
      <p:sp>
        <p:nvSpPr>
          <p:cNvPr id="25" name="Text 19"/>
          <p:cNvSpPr/>
          <p:nvPr/>
        </p:nvSpPr>
        <p:spPr>
          <a:xfrm>
            <a:off x="4595267" y="3582541"/>
            <a:ext cx="292001"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5FD3C4"/>
                </a:solidFill>
                <a:latin typeface="Archivo" pitchFamily="34" charset="0"/>
                <a:ea typeface="Archivo" pitchFamily="34" charset="-122"/>
                <a:cs typeface="Archivo" pitchFamily="34" charset="-120"/>
              </a:rPr>
              <a:t>9</a:t>
            </a:r>
            <a:endParaRPr lang="en-US" sz="2400" dirty="0"/>
          </a:p>
        </p:txBody>
      </p:sp>
      <p:pic>
        <p:nvPicPr>
          <p:cNvPr id="26" name="Image 4" descr="Chart">    </p:cNvPr>
          <p:cNvPicPr>
            <a:picLocks noChangeAspect="1"/>
          </p:cNvPicPr>
          <p:nvPr/>
        </p:nvPicPr>
        <p:blipFill>
          <a:blip r:embed="rId5"/>
          <a:srcRect l="0" r="0" t="0" b="0"/>
          <a:stretch/>
        </p:blipFill>
        <p:spPr>
          <a:xfrm>
            <a:off x="7342684" y="3623171"/>
            <a:ext cx="254000" cy="254000"/>
          </a:xfrm>
          <a:prstGeom prst="rect">
            <a:avLst/>
          </a:prstGeom>
        </p:spPr>
      </p:pic>
      <p:sp>
        <p:nvSpPr>
          <p:cNvPr id="27" name="Text 20"/>
          <p:cNvSpPr/>
          <p:nvPr/>
        </p:nvSpPr>
        <p:spPr>
          <a:xfrm>
            <a:off x="4595267" y="3968601"/>
            <a:ext cx="3091459"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cameras on the 8 GB laptop</a:t>
            </a:r>
            <a:endParaRPr lang="en-US" sz="1400" dirty="0"/>
          </a:p>
        </p:txBody>
      </p:sp>
      <p:sp>
        <p:nvSpPr>
          <p:cNvPr id="28" name="Text 21"/>
          <p:cNvSpPr/>
          <p:nvPr/>
        </p:nvSpPr>
        <p:spPr>
          <a:xfrm>
            <a:off x="4595267" y="4250531"/>
            <a:ext cx="309145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3BBC7"/>
                </a:solidFill>
                <a:latin typeface="Manrope" pitchFamily="34" charset="0"/>
                <a:ea typeface="Manrope" pitchFamily="34" charset="-122"/>
                <a:cs typeface="Manrope" pitchFamily="34" charset="-120"/>
              </a:rPr>
              <a:t>Measured 14 July, before the plugin cutover; not re-measured.</a:t>
            </a:r>
            <a:endParaRPr lang="en-US" sz="1200" dirty="0"/>
          </a:p>
        </p:txBody>
      </p:sp>
      <p:sp>
        <p:nvSpPr>
          <p:cNvPr id="29" name="Shape 22"/>
          <p:cNvSpPr/>
          <p:nvPr/>
        </p:nvSpPr>
        <p:spPr>
          <a:xfrm>
            <a:off x="7961809" y="3401566"/>
            <a:ext cx="3414216" cy="1471861"/>
          </a:xfrm>
          <a:prstGeom prst="roundRect">
            <a:avLst>
              <a:gd name="adj" fmla="val 3236"/>
            </a:avLst>
          </a:prstGeom>
          <a:solidFill>
            <a:srgbClr val="0B1018"/>
          </a:solidFill>
          <a:ln w="6350">
            <a:solidFill>
              <a:srgbClr val="1C2532"/>
            </a:solidFill>
            <a:prstDash val="solid"/>
          </a:ln>
        </p:spPr>
      </p:sp>
      <p:sp>
        <p:nvSpPr>
          <p:cNvPr id="30" name="Text 23"/>
          <p:cNvSpPr/>
          <p:nvPr/>
        </p:nvSpPr>
        <p:spPr>
          <a:xfrm>
            <a:off x="8168184" y="3582541"/>
            <a:ext cx="1908691"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5FD3C4"/>
                </a:solidFill>
                <a:latin typeface="Archivo" pitchFamily="34" charset="0"/>
                <a:ea typeface="Archivo" pitchFamily="34" charset="-122"/>
                <a:cs typeface="Archivo" pitchFamily="34" charset="-120"/>
              </a:rPr>
              <a:t>4 × 4 MP</a:t>
            </a:r>
            <a:endParaRPr lang="en-US" sz="2400" dirty="0"/>
          </a:p>
        </p:txBody>
      </p:sp>
      <p:pic>
        <p:nvPicPr>
          <p:cNvPr id="31" name="Image 5" descr="Globe">    </p:cNvPr>
          <p:cNvPicPr>
            <a:picLocks noChangeAspect="1"/>
          </p:cNvPicPr>
          <p:nvPr/>
        </p:nvPicPr>
        <p:blipFill>
          <a:blip r:embed="rId6"/>
          <a:srcRect l="0" r="0" t="0" b="0"/>
          <a:stretch/>
        </p:blipFill>
        <p:spPr>
          <a:xfrm>
            <a:off x="10915650" y="3623171"/>
            <a:ext cx="254000" cy="254000"/>
          </a:xfrm>
          <a:prstGeom prst="rect">
            <a:avLst/>
          </a:prstGeom>
        </p:spPr>
      </p:pic>
      <p:sp>
        <p:nvSpPr>
          <p:cNvPr id="32" name="Text 24"/>
          <p:cNvSpPr/>
          <p:nvPr/>
        </p:nvSpPr>
        <p:spPr>
          <a:xfrm>
            <a:off x="8168184" y="3968601"/>
            <a:ext cx="309151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4F7"/>
                </a:solidFill>
                <a:latin typeface="Manrope" pitchFamily="34" charset="0"/>
                <a:ea typeface="Manrope" pitchFamily="34" charset="-122"/>
                <a:cs typeface="Manrope" pitchFamily="34" charset="-120"/>
              </a:rPr>
              <a:t>on Jetson Orin NX, 10 fps</a:t>
            </a:r>
            <a:endParaRPr lang="en-US" sz="1400" dirty="0"/>
          </a:p>
        </p:txBody>
      </p:sp>
      <p:sp>
        <p:nvSpPr>
          <p:cNvPr id="33" name="Text 25"/>
          <p:cNvSpPr/>
          <p:nvPr/>
        </p:nvSpPr>
        <p:spPr>
          <a:xfrm>
            <a:off x="8168184" y="4250531"/>
            <a:ext cx="309151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3BBC7"/>
                </a:solidFill>
                <a:latin typeface="Manrope" pitchFamily="34" charset="0"/>
                <a:ea typeface="Manrope" pitchFamily="34" charset="-122"/>
                <a:cs typeface="Manrope" pitchFamily="34" charset="-120"/>
              </a:rPr>
              <a:t>Faces only. With search switched on, the box carries 2.</a:t>
            </a:r>
            <a:endParaRPr lang="en-US" sz="1200" dirty="0"/>
          </a:p>
        </p:txBody>
      </p:sp>
      <p:sp>
        <p:nvSpPr>
          <p:cNvPr id="34"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PRISM</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7D8696"/>
                </a:solidFill>
                <a:latin typeface="Archivo" pitchFamily="34" charset="0"/>
                <a:ea typeface="Archivo" pitchFamily="34" charset="-122"/>
                <a:cs typeface="Archivo" pitchFamily="34" charset="-120"/>
              </a:rPr>
              <a:t>PART 5 · DECISIONS AND NEXT STEPS</a:t>
            </a:r>
            <a:endParaRPr lang="en-US" sz="1200" dirty="0"/>
          </a:p>
        </p:txBody>
      </p:sp>
      <p:sp>
        <p:nvSpPr>
          <p:cNvPr id="3" name="Text 1"/>
          <p:cNvSpPr/>
          <p:nvPr>
            <p:ph type="title"/>
          </p:nvPr>
        </p:nvSpPr>
        <p:spPr>
          <a:xfrm>
            <a:off x="812800" y="1229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spc="150" kern="0" dirty="0">
                <a:solidFill>
                  <a:srgbClr val="F2F4F7"/>
                </a:solidFill>
                <a:latin typeface="Archivo" pitchFamily="34" charset="0"/>
                <a:ea typeface="Archivo" pitchFamily="34" charset="-122"/>
                <a:cs typeface="Archivo" pitchFamily="34" charset="-120"/>
              </a:rPr>
              <a:t>WHERE TO </a:t>
            </a:r>
            <a:r>
              <a:rPr lang="en-US" sz="2400" b="1" i="0" spc="150" kern="0" dirty="0">
                <a:solidFill>
                  <a:srgbClr val="5FD3C4"/>
                </a:solidFill>
                <a:latin typeface="Archivo" pitchFamily="34" charset="0"/>
                <a:ea typeface="Archivo" pitchFamily="34" charset="-122"/>
                <a:cs typeface="Archivo" pitchFamily="34" charset="-120"/>
              </a:rPr>
              <a:t>GO DEEPER</a:t>
            </a:r>
            <a:endParaRPr lang="en-US" sz="2400" dirty="0"/>
          </a:p>
        </p:txBody>
      </p:sp>
      <p:sp>
        <p:nvSpPr>
          <p:cNvPr id="4" name="Shape 2"/>
          <p:cNvSpPr/>
          <p:nvPr/>
        </p:nvSpPr>
        <p:spPr>
          <a:xfrm>
            <a:off x="812800" y="1770955"/>
            <a:ext cx="10566400" cy="0"/>
          </a:xfrm>
          <a:prstGeom prst="line">
            <a:avLst/>
          </a:prstGeom>
          <a:noFill/>
          <a:ln w="6350">
            <a:solidFill>
              <a:srgbClr val="1C2532"/>
            </a:solidFill>
            <a:prstDash val="solid"/>
          </a:ln>
        </p:spPr>
      </p:sp>
      <p:pic>
        <p:nvPicPr>
          <p:cNvPr id="5" name="Image 0" descr="Link">    </p:cNvPr>
          <p:cNvPicPr>
            <a:picLocks noChangeAspect="1"/>
          </p:cNvPicPr>
          <p:nvPr/>
        </p:nvPicPr>
        <p:blipFill>
          <a:blip r:embed="rId1"/>
          <a:srcRect l="0" r="0" t="0" b="0"/>
          <a:stretch/>
        </p:blipFill>
        <p:spPr>
          <a:xfrm>
            <a:off x="812800" y="1888430"/>
            <a:ext cx="203200" cy="203200"/>
          </a:xfrm>
          <a:prstGeom prst="rect">
            <a:avLst/>
          </a:prstGeom>
        </p:spPr>
      </p:pic>
      <p:sp>
        <p:nvSpPr>
          <p:cNvPr id="6" name="Text 3"/>
          <p:cNvSpPr/>
          <p:nvPr/>
        </p:nvSpPr>
        <p:spPr>
          <a:xfrm>
            <a:off x="1219200" y="1888430"/>
            <a:ext cx="4970780" cy="274290"/>
          </a:xfrm>
          <a:prstGeom prst="rect">
            <a:avLst/>
          </a:prstGeom>
          <a:noFill/>
          <a:ln/>
        </p:spPr>
        <p:txBody>
          <a:bodyPr wrap="square" lIns="0" tIns="0" rIns="0" bIns="0" rtlCol="0" anchor="t">
            <a:normAutofit/>
          </a:bodyPr>
          <a:lstStyle/>
          <a:p>
            <a:pPr algn="l" indent="0" marL="0">
              <a:lnSpc>
                <a:spcPts val="1960"/>
              </a:lnSpc>
              <a:buNone/>
            </a:pPr>
            <a:r>
              <a:rPr lang="en-US" sz="1400" b="1" u="sng" dirty="0">
                <a:solidFill>
                  <a:srgbClr val="5FD3C4"/>
                </a:solidFill>
                <a:latin typeface="Manrope" pitchFamily="34" charset="0"/>
                <a:ea typeface="Manrope" pitchFamily="34" charset="-122"/>
                <a:cs typeface="Manrope" pitchFamily="34" charset="-120"/>
                <a:hlinkClick r:id="rId2" invalidUrl="" action="" tgtFrame="" tooltip="" history="1" highlightClick="0" endSnd="0">
                  <a:extLst>
                    <a:ext uri="{A12FA001-AC4F-418D-AE19-62706E023703}">
                      <ahyp:hlinkClr xmlns:ahyp="http://schemas.microsoft.com/office/drawing/2018/hyperlinkcolor" val="tx"/>
                    </a:ext>
                  </a:extLst>
                </a:hlinkClick>
              </a:rPr>
              <a:t>PRISM — High-Level Design</a:t>
            </a:r>
            <a:endParaRPr lang="en-US" sz="1400" dirty="0"/>
          </a:p>
        </p:txBody>
      </p:sp>
      <p:sp>
        <p:nvSpPr>
          <p:cNvPr id="7" name="Text 4"/>
          <p:cNvSpPr/>
          <p:nvPr/>
        </p:nvSpPr>
        <p:spPr>
          <a:xfrm>
            <a:off x="6248400" y="1888430"/>
            <a:ext cx="436530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3BBC7"/>
                </a:solidFill>
                <a:latin typeface="Manrope" pitchFamily="34" charset="0"/>
                <a:ea typeface="Manrope" pitchFamily="34" charset="-122"/>
                <a:cs typeface="Manrope" pitchFamily="34" charset="-120"/>
              </a:rPr>
              <a:t>The engineering deck: every service in depth</a:t>
            </a:r>
            <a:endParaRPr lang="en-US" sz="1400" dirty="0"/>
          </a:p>
        </p:txBody>
      </p:sp>
      <p:sp>
        <p:nvSpPr>
          <p:cNvPr id="8" name="Shape 5"/>
          <p:cNvSpPr/>
          <p:nvPr/>
        </p:nvSpPr>
        <p:spPr>
          <a:xfrm>
            <a:off x="812800" y="2254796"/>
            <a:ext cx="10566400" cy="0"/>
          </a:xfrm>
          <a:prstGeom prst="line">
            <a:avLst/>
          </a:prstGeom>
          <a:noFill/>
          <a:ln w="6350">
            <a:solidFill>
              <a:srgbClr val="1C2532"/>
            </a:solidFill>
            <a:prstDash val="solid"/>
          </a:ln>
        </p:spPr>
      </p:sp>
      <p:pic>
        <p:nvPicPr>
          <p:cNvPr id="9" name="Image 1" descr="Verified">    </p:cNvPr>
          <p:cNvPicPr>
            <a:picLocks noChangeAspect="1"/>
          </p:cNvPicPr>
          <p:nvPr/>
        </p:nvPicPr>
        <p:blipFill>
          <a:blip r:embed="rId3"/>
          <a:srcRect l="0" r="0" t="0" b="0"/>
          <a:stretch/>
        </p:blipFill>
        <p:spPr>
          <a:xfrm>
            <a:off x="812800" y="2372271"/>
            <a:ext cx="203200" cy="203200"/>
          </a:xfrm>
          <a:prstGeom prst="rect">
            <a:avLst/>
          </a:prstGeom>
        </p:spPr>
      </p:pic>
      <p:sp>
        <p:nvSpPr>
          <p:cNvPr id="10" name="Text 6"/>
          <p:cNvSpPr/>
          <p:nvPr/>
        </p:nvSpPr>
        <p:spPr>
          <a:xfrm>
            <a:off x="1219200" y="2372271"/>
            <a:ext cx="49707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FD3C4"/>
                </a:solidFill>
                <a:latin typeface="Manrope" pitchFamily="34" charset="0"/>
                <a:ea typeface="Manrope" pitchFamily="34" charset="-122"/>
                <a:cs typeface="Manrope" pitchFamily="34" charset="-120"/>
              </a:rPr>
              <a:t>product-principles.md</a:t>
            </a:r>
            <a:endParaRPr lang="en-US" sz="1400" dirty="0"/>
          </a:p>
        </p:txBody>
      </p:sp>
      <p:sp>
        <p:nvSpPr>
          <p:cNvPr id="11" name="Text 7"/>
          <p:cNvSpPr/>
          <p:nvPr/>
        </p:nvSpPr>
        <p:spPr>
          <a:xfrm>
            <a:off x="6248400" y="2372271"/>
            <a:ext cx="467070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3BBC7"/>
                </a:solidFill>
                <a:latin typeface="Manrope" pitchFamily="34" charset="0"/>
                <a:ea typeface="Manrope" pitchFamily="34" charset="-122"/>
                <a:cs typeface="Manrope" pitchFamily="34" charset="-120"/>
              </a:rPr>
              <a:t>The promises, with the code that enforces each</a:t>
            </a:r>
            <a:endParaRPr lang="en-US" sz="1400" dirty="0"/>
          </a:p>
        </p:txBody>
      </p:sp>
      <p:sp>
        <p:nvSpPr>
          <p:cNvPr id="12" name="Shape 8"/>
          <p:cNvSpPr/>
          <p:nvPr/>
        </p:nvSpPr>
        <p:spPr>
          <a:xfrm>
            <a:off x="812800" y="2738636"/>
            <a:ext cx="10566400" cy="0"/>
          </a:xfrm>
          <a:prstGeom prst="line">
            <a:avLst/>
          </a:prstGeom>
          <a:noFill/>
          <a:ln w="6350">
            <a:solidFill>
              <a:srgbClr val="1C2532"/>
            </a:solidFill>
            <a:prstDash val="solid"/>
          </a:ln>
        </p:spPr>
      </p:sp>
      <p:pic>
        <p:nvPicPr>
          <p:cNvPr id="13" name="Image 2" descr="Book">    </p:cNvPr>
          <p:cNvPicPr>
            <a:picLocks noChangeAspect="1"/>
          </p:cNvPicPr>
          <p:nvPr/>
        </p:nvPicPr>
        <p:blipFill>
          <a:blip r:embed="rId4"/>
          <a:srcRect l="0" r="0" t="0" b="0"/>
          <a:stretch/>
        </p:blipFill>
        <p:spPr>
          <a:xfrm>
            <a:off x="812800" y="2856111"/>
            <a:ext cx="203200" cy="203200"/>
          </a:xfrm>
          <a:prstGeom prst="rect">
            <a:avLst/>
          </a:prstGeom>
        </p:spPr>
      </p:pic>
      <p:sp>
        <p:nvSpPr>
          <p:cNvPr id="14" name="Text 9"/>
          <p:cNvSpPr/>
          <p:nvPr/>
        </p:nvSpPr>
        <p:spPr>
          <a:xfrm>
            <a:off x="1219200" y="2856111"/>
            <a:ext cx="49707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FD3C4"/>
                </a:solidFill>
                <a:latin typeface="Manrope" pitchFamily="34" charset="0"/>
                <a:ea typeface="Manrope" pitchFamily="34" charset="-122"/>
                <a:cs typeface="Manrope" pitchFamily="34" charset="-120"/>
              </a:rPr>
              <a:t>guidelines/GUIDELINES.md</a:t>
            </a:r>
            <a:endParaRPr lang="en-US" sz="1400" dirty="0"/>
          </a:p>
        </p:txBody>
      </p:sp>
      <p:sp>
        <p:nvSpPr>
          <p:cNvPr id="15" name="Text 10"/>
          <p:cNvSpPr/>
          <p:nvPr/>
        </p:nvSpPr>
        <p:spPr>
          <a:xfrm>
            <a:off x="6248400" y="2856111"/>
            <a:ext cx="305157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3BBC7"/>
                </a:solidFill>
                <a:latin typeface="Manrope" pitchFamily="34" charset="0"/>
                <a:ea typeface="Manrope" pitchFamily="34" charset="-122"/>
                <a:cs typeface="Manrope" pitchFamily="34" charset="-120"/>
              </a:rPr>
              <a:t>The design rules, in plain words</a:t>
            </a:r>
            <a:endParaRPr lang="en-US" sz="1400" dirty="0"/>
          </a:p>
        </p:txBody>
      </p:sp>
      <p:sp>
        <p:nvSpPr>
          <p:cNvPr id="16" name="Shape 11"/>
          <p:cNvSpPr/>
          <p:nvPr/>
        </p:nvSpPr>
        <p:spPr>
          <a:xfrm>
            <a:off x="812800" y="3222476"/>
            <a:ext cx="10566400" cy="0"/>
          </a:xfrm>
          <a:prstGeom prst="line">
            <a:avLst/>
          </a:prstGeom>
          <a:noFill/>
          <a:ln w="6350">
            <a:solidFill>
              <a:srgbClr val="1C2532"/>
            </a:solidFill>
            <a:prstDash val="solid"/>
          </a:ln>
        </p:spPr>
      </p:sp>
      <p:pic>
        <p:nvPicPr>
          <p:cNvPr id="17" name="Image 3" descr="Database">    </p:cNvPr>
          <p:cNvPicPr>
            <a:picLocks noChangeAspect="1"/>
          </p:cNvPicPr>
          <p:nvPr/>
        </p:nvPicPr>
        <p:blipFill>
          <a:blip r:embed="rId5"/>
          <a:srcRect l="0" r="0" t="0" b="0"/>
          <a:stretch/>
        </p:blipFill>
        <p:spPr>
          <a:xfrm>
            <a:off x="812800" y="3339951"/>
            <a:ext cx="203200" cy="203200"/>
          </a:xfrm>
          <a:prstGeom prst="rect">
            <a:avLst/>
          </a:prstGeom>
        </p:spPr>
      </p:pic>
      <p:sp>
        <p:nvSpPr>
          <p:cNvPr id="18" name="Text 12"/>
          <p:cNvSpPr/>
          <p:nvPr/>
        </p:nvSpPr>
        <p:spPr>
          <a:xfrm>
            <a:off x="1219200" y="3339951"/>
            <a:ext cx="49707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FD3C4"/>
                </a:solidFill>
                <a:latin typeface="Manrope" pitchFamily="34" charset="0"/>
                <a:ea typeface="Manrope" pitchFamily="34" charset="-122"/>
                <a:cs typeface="Manrope" pitchFamily="34" charset="-120"/>
              </a:rPr>
              <a:t>ontology.md</a:t>
            </a:r>
            <a:endParaRPr lang="en-US" sz="1400" dirty="0"/>
          </a:p>
        </p:txBody>
      </p:sp>
      <p:sp>
        <p:nvSpPr>
          <p:cNvPr id="19" name="Text 13"/>
          <p:cNvSpPr/>
          <p:nvPr/>
        </p:nvSpPr>
        <p:spPr>
          <a:xfrm>
            <a:off x="6248400" y="3339951"/>
            <a:ext cx="395114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3BBC7"/>
                </a:solidFill>
                <a:latin typeface="Manrope" pitchFamily="34" charset="0"/>
                <a:ea typeface="Manrope" pitchFamily="34" charset="-122"/>
                <a:cs typeface="Manrope" pitchFamily="34" charset="-120"/>
              </a:rPr>
              <a:t>What PRISM stores, and how it connects</a:t>
            </a:r>
            <a:endParaRPr lang="en-US" sz="1400" dirty="0"/>
          </a:p>
        </p:txBody>
      </p:sp>
      <p:sp>
        <p:nvSpPr>
          <p:cNvPr id="20" name="Shape 14"/>
          <p:cNvSpPr/>
          <p:nvPr/>
        </p:nvSpPr>
        <p:spPr>
          <a:xfrm>
            <a:off x="812800" y="3706316"/>
            <a:ext cx="10566400" cy="0"/>
          </a:xfrm>
          <a:prstGeom prst="line">
            <a:avLst/>
          </a:prstGeom>
          <a:noFill/>
          <a:ln w="6350">
            <a:solidFill>
              <a:srgbClr val="1C2532"/>
            </a:solidFill>
            <a:prstDash val="solid"/>
          </a:ln>
        </p:spPr>
      </p:sp>
      <p:pic>
        <p:nvPicPr>
          <p:cNvPr id="21" name="Image 4" descr="Wrench">    </p:cNvPr>
          <p:cNvPicPr>
            <a:picLocks noChangeAspect="1"/>
          </p:cNvPicPr>
          <p:nvPr/>
        </p:nvPicPr>
        <p:blipFill>
          <a:blip r:embed="rId6"/>
          <a:srcRect l="0" r="0" t="0" b="0"/>
          <a:stretch/>
        </p:blipFill>
        <p:spPr>
          <a:xfrm>
            <a:off x="812800" y="3823791"/>
            <a:ext cx="203200" cy="203200"/>
          </a:xfrm>
          <a:prstGeom prst="rect">
            <a:avLst/>
          </a:prstGeom>
        </p:spPr>
      </p:pic>
      <p:sp>
        <p:nvSpPr>
          <p:cNvPr id="22" name="Text 15"/>
          <p:cNvSpPr/>
          <p:nvPr/>
        </p:nvSpPr>
        <p:spPr>
          <a:xfrm>
            <a:off x="1219200" y="3823791"/>
            <a:ext cx="49707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FD3C4"/>
                </a:solidFill>
                <a:latin typeface="Manrope" pitchFamily="34" charset="0"/>
                <a:ea typeface="Manrope" pitchFamily="34" charset="-122"/>
                <a:cs typeface="Manrope" pitchFamily="34" charset="-120"/>
              </a:rPr>
              <a:t>CLAUDE.md, root and per service</a:t>
            </a:r>
            <a:endParaRPr lang="en-US" sz="1400" dirty="0"/>
          </a:p>
        </p:txBody>
      </p:sp>
      <p:sp>
        <p:nvSpPr>
          <p:cNvPr id="23" name="Text 16"/>
          <p:cNvSpPr/>
          <p:nvPr/>
        </p:nvSpPr>
        <p:spPr>
          <a:xfrm>
            <a:off x="6248400" y="3823791"/>
            <a:ext cx="340935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3BBC7"/>
                </a:solidFill>
                <a:latin typeface="Manrope" pitchFamily="34" charset="0"/>
                <a:ea typeface="Manrope" pitchFamily="34" charset="-122"/>
                <a:cs typeface="Manrope" pitchFamily="34" charset="-120"/>
              </a:rPr>
              <a:t>Services, settings and known traps</a:t>
            </a:r>
            <a:endParaRPr lang="en-US" sz="1400" dirty="0"/>
          </a:p>
        </p:txBody>
      </p:sp>
      <p:sp>
        <p:nvSpPr>
          <p:cNvPr id="24" name="Shape 17"/>
          <p:cNvSpPr/>
          <p:nvPr/>
        </p:nvSpPr>
        <p:spPr>
          <a:xfrm>
            <a:off x="812800" y="4190157"/>
            <a:ext cx="10566400" cy="0"/>
          </a:xfrm>
          <a:prstGeom prst="line">
            <a:avLst/>
          </a:prstGeom>
          <a:noFill/>
          <a:ln w="6350">
            <a:solidFill>
              <a:srgbClr val="1C2532"/>
            </a:solidFill>
            <a:prstDash val="solid"/>
          </a:ln>
        </p:spPr>
      </p:sp>
      <p:sp>
        <p:nvSpPr>
          <p:cNvPr id="25" name="Shape 18"/>
          <p:cNvSpPr/>
          <p:nvPr/>
        </p:nvSpPr>
        <p:spPr>
          <a:xfrm>
            <a:off x="812800" y="4673997"/>
            <a:ext cx="10566400" cy="0"/>
          </a:xfrm>
          <a:prstGeom prst="line">
            <a:avLst/>
          </a:prstGeom>
          <a:noFill/>
          <a:ln w="6350">
            <a:solidFill>
              <a:srgbClr val="1C2532"/>
            </a:solidFill>
            <a:prstDash val="solid"/>
          </a:ln>
        </p:spPr>
      </p:sp>
      <p:pic>
        <p:nvPicPr>
          <p:cNvPr id="26" name="Image 5" descr="Code">    </p:cNvPr>
          <p:cNvPicPr>
            <a:picLocks noChangeAspect="1"/>
          </p:cNvPicPr>
          <p:nvPr/>
        </p:nvPicPr>
        <p:blipFill>
          <a:blip r:embed="rId7"/>
          <a:srcRect l="0" r="0" t="0" b="0"/>
          <a:stretch/>
        </p:blipFill>
        <p:spPr>
          <a:xfrm>
            <a:off x="812800" y="4307632"/>
            <a:ext cx="203200" cy="203200"/>
          </a:xfrm>
          <a:prstGeom prst="rect">
            <a:avLst/>
          </a:prstGeom>
        </p:spPr>
      </p:pic>
      <p:sp>
        <p:nvSpPr>
          <p:cNvPr id="27" name="Text 19"/>
          <p:cNvSpPr/>
          <p:nvPr/>
        </p:nvSpPr>
        <p:spPr>
          <a:xfrm>
            <a:off x="1219200" y="4307632"/>
            <a:ext cx="49707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FD3C4"/>
                </a:solidFill>
                <a:latin typeface="Manrope" pitchFamily="34" charset="0"/>
                <a:ea typeface="Manrope" pitchFamily="34" charset="-122"/>
                <a:cs typeface="Manrope" pitchFamily="34" charset="-120"/>
              </a:rPr>
              <a:t>prism-core/MODELS_REFERENCE.md</a:t>
            </a:r>
            <a:endParaRPr lang="en-US" sz="1400" dirty="0"/>
          </a:p>
        </p:txBody>
      </p:sp>
      <p:sp>
        <p:nvSpPr>
          <p:cNvPr id="28" name="Text 20"/>
          <p:cNvSpPr/>
          <p:nvPr/>
        </p:nvSpPr>
        <p:spPr>
          <a:xfrm>
            <a:off x="6248400" y="4307632"/>
            <a:ext cx="318158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3BBC7"/>
                </a:solidFill>
                <a:latin typeface="Manrope" pitchFamily="34" charset="0"/>
                <a:ea typeface="Manrope" pitchFamily="34" charset="-122"/>
                <a:cs typeface="Manrope" pitchFamily="34" charset="-120"/>
              </a:rPr>
              <a:t>The data model and API contract</a:t>
            </a:r>
            <a:endParaRPr lang="en-US" sz="1400" dirty="0"/>
          </a:p>
        </p:txBody>
      </p:sp>
      <p:sp>
        <p:nvSpPr>
          <p:cNvPr id="29" name="Text 21"/>
          <p:cNvSpPr/>
          <p:nvPr/>
        </p:nvSpPr>
        <p:spPr>
          <a:xfrm>
            <a:off x="812800" y="5313759"/>
            <a:ext cx="10883392" cy="553641"/>
          </a:xfrm>
          <a:prstGeom prst="rect">
            <a:avLst/>
          </a:prstGeom>
          <a:noFill/>
          <a:ln/>
        </p:spPr>
        <p:txBody>
          <a:bodyPr wrap="square" lIns="0" tIns="0" rIns="0" bIns="0" rtlCol="0" anchor="t">
            <a:normAutofit/>
          </a:bodyPr>
          <a:lstStyle/>
          <a:p>
            <a:pPr algn="l" indent="0" marL="0">
              <a:lnSpc>
                <a:spcPts val="2080"/>
              </a:lnSpc>
              <a:buNone/>
            </a:pPr>
            <a:r>
              <a:rPr lang="en-US" sz="1600" b="1" spc="150" kern="0" dirty="0">
                <a:solidFill>
                  <a:srgbClr val="F2F4F7"/>
                </a:solidFill>
                <a:latin typeface="Archivo" pitchFamily="34" charset="0"/>
                <a:ea typeface="Archivo" pitchFamily="34" charset="-122"/>
                <a:cs typeface="Archivo" pitchFamily="34" charset="-120"/>
              </a:rPr>
              <a:t>PROMISES FIRST. AI BESIDE THE VIDEO, NEVER IN IT. </a:t>
            </a:r>
            <a:r>
              <a:rPr lang="en-US" sz="1600" b="1" spc="150" kern="0" dirty="0">
                <a:solidFill>
                  <a:srgbClr val="5FD3C4"/>
                </a:solidFill>
                <a:latin typeface="Archivo" pitchFamily="34" charset="0"/>
                <a:ea typeface="Archivo" pitchFamily="34" charset="-122"/>
                <a:cs typeface="Archivo" pitchFamily="34" charset="-120"/>
              </a:rPr>
              <a:t>PEOPLE DECIDE WHO IS WHO.</a:t>
            </a:r>
            <a:endParaRPr lang="en-US" sz="1600" dirty="0"/>
          </a:p>
        </p:txBody>
      </p:sp>
      <p:sp>
        <p:nvSpPr>
          <p:cNvPr id="30"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8696"/>
                </a:solidFill>
                <a:latin typeface="Manrope" pitchFamily="34" charset="0"/>
                <a:ea typeface="Manrope" pitchFamily="34" charset="-122"/>
                <a:cs typeface="Manrope" pitchFamily="34" charset="-120"/>
              </a:rPr>
              <a:t>PRISM · Next steps</a:t>
            </a:r>
            <a:endParaRPr lang="en-US" sz="1200" dirty="0"/>
          </a:p>
        </p:txBody>
      </p:sp>
    </p:spTree>
  </p:cSld>
  <p:clrMapOvr>
    <a:masterClrMapping/>
  </p:clrMapOvr>
</p:sld>
</file>

<file path=ppt/theme/theme1.xml><?xml version="1.0" encoding="utf-8"?>
<a:theme xmlns:a="http://schemas.openxmlformats.org/drawingml/2006/main" name="PRISM — Product and System Overview">
  <a:themeElements>
    <a:clrScheme name="PRISM — Product and System Overview">
      <a:dk1>
        <a:srgbClr val="10302E"/>
      </a:dk1>
      <a:lt1>
        <a:srgbClr val="7D8696"/>
      </a:lt1>
      <a:dk2>
        <a:srgbClr val="1B3938"/>
      </a:dk2>
      <a:lt2>
        <a:srgbClr val="62717C"/>
      </a:lt2>
      <a:accent1>
        <a:srgbClr val="5FD3C4"/>
      </a:accent1>
      <a:accent2>
        <a:srgbClr val="CFC6FA"/>
      </a:accent2>
      <a:accent3>
        <a:srgbClr val="B9AEF6"/>
      </a:accent3>
      <a:accent4>
        <a:srgbClr val="45A79D"/>
      </a:accent4>
      <a:accent5>
        <a:srgbClr val="1E4A46"/>
      </a:accent5>
      <a:accent6>
        <a:srgbClr val="B3BBC7"/>
      </a:accent6>
      <a:hlink>
        <a:srgbClr val="0563C1"/>
      </a:hlink>
      <a:folHlink>
        <a:srgbClr val="954F72"/>
      </a:folHlink>
    </a:clrScheme>
    <a:fontScheme name="PRISM — Product and System Overview">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nrop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PRISM — Product and System Overview</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Manrope
Copyright 2018 The Manrope Project Authors (https://github.com/sharanda/manrope)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Archivo
Copyright 2020 The Archivo Project Authors (https://github.com/Omnibus-Type/Archivo)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2026-10-29T11:18:57Z</dcterms:created>
  <dcterms:modified xsi:type="dcterms:W3CDTF">2026-10-29T11:18:57Z</dcterms:modified>
</cp:coreProperties>
</file>